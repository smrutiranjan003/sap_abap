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59" r:id="rId2"/>
    <p:sldId id="837" r:id="rId3"/>
    <p:sldId id="908" r:id="rId4"/>
    <p:sldId id="909" r:id="rId5"/>
    <p:sldId id="910" r:id="rId6"/>
    <p:sldId id="911" r:id="rId7"/>
    <p:sldId id="912" r:id="rId8"/>
    <p:sldId id="913" r:id="rId9"/>
    <p:sldId id="914" r:id="rId10"/>
    <p:sldId id="915" r:id="rId11"/>
    <p:sldId id="916" r:id="rId12"/>
    <p:sldId id="927" r:id="rId13"/>
    <p:sldId id="928" r:id="rId14"/>
    <p:sldId id="929" r:id="rId15"/>
    <p:sldId id="925" r:id="rId16"/>
    <p:sldId id="926" r:id="rId17"/>
    <p:sldId id="917" r:id="rId18"/>
    <p:sldId id="918" r:id="rId19"/>
    <p:sldId id="922" r:id="rId20"/>
    <p:sldId id="921" r:id="rId21"/>
    <p:sldId id="920" r:id="rId22"/>
    <p:sldId id="923" r:id="rId23"/>
    <p:sldId id="931" r:id="rId24"/>
    <p:sldId id="924" r:id="rId25"/>
    <p:sldId id="930" r:id="rId26"/>
    <p:sldId id="919" r:id="rId2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83308" autoAdjust="0"/>
  </p:normalViewPr>
  <p:slideViewPr>
    <p:cSldViewPr snapToGrid="0">
      <p:cViewPr varScale="1">
        <p:scale>
          <a:sx n="81" d="100"/>
          <a:sy n="81" d="100"/>
        </p:scale>
        <p:origin x="74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Shape 92"/>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93" name="Shape 9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663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31898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62503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33621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27251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09951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570730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457570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845298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02390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3755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1903669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461872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17657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a:t>
            </a:r>
            <a:endParaRPr lang="en-IN" dirty="0"/>
          </a:p>
        </p:txBody>
      </p:sp>
    </p:spTree>
    <p:extLst>
      <p:ext uri="{BB962C8B-B14F-4D97-AF65-F5344CB8AC3E}">
        <p14:creationId xmlns:p14="http://schemas.microsoft.com/office/powerpoint/2010/main" val="13995792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a:t>
            </a:r>
            <a:endParaRPr lang="en-IN" dirty="0"/>
          </a:p>
        </p:txBody>
      </p:sp>
    </p:spTree>
    <p:extLst>
      <p:ext uri="{BB962C8B-B14F-4D97-AF65-F5344CB8AC3E}">
        <p14:creationId xmlns:p14="http://schemas.microsoft.com/office/powerpoint/2010/main" val="26368351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88109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389745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910269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402399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974804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181782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C14FA-686F-AEC9-8953-1E5B370C11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AEF38-A65E-A853-EAB4-6D507F06241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4745640-BA90-2281-AE74-3031A1F265C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03368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226199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809403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758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31852" y="1709738"/>
            <a:ext cx="10515601" cy="2852737"/>
          </a:xfrm>
          <a:prstGeom prst="rect">
            <a:avLst/>
          </a:prstGeom>
        </p:spPr>
        <p:txBody>
          <a:bodyPr anchor="b"/>
          <a:lstStyle>
            <a:lvl1pPr>
              <a:defRPr sz="6000"/>
            </a:lvl1pPr>
          </a:lstStyle>
          <a:p>
            <a:r>
              <a:t>Title Text</a:t>
            </a:r>
          </a:p>
        </p:txBody>
      </p:sp>
      <p:sp>
        <p:nvSpPr>
          <p:cNvPr id="31" name="Body Level One…"/>
          <p:cNvSpPr txBox="1">
            <a:spLocks noGrp="1"/>
          </p:cNvSpPr>
          <p:nvPr>
            <p:ph type="body" sz="quarter" idx="1"/>
          </p:nvPr>
        </p:nvSpPr>
        <p:spPr>
          <a:xfrm>
            <a:off x="831852" y="4589464"/>
            <a:ext cx="10515601" cy="1500188"/>
          </a:xfrm>
          <a:prstGeom prst="rect">
            <a:avLst/>
          </a:prstGeom>
        </p:spPr>
        <p:txBody>
          <a:bodyPr/>
          <a:lstStyle>
            <a:lvl1pPr marL="0" indent="0">
              <a:buSzTx/>
              <a:buFontTx/>
              <a:buNone/>
              <a:defRPr sz="2400">
                <a:solidFill>
                  <a:srgbClr val="888888"/>
                </a:solidFill>
              </a:defRPr>
            </a:lvl1pPr>
            <a:lvl2pPr marL="0" indent="457206">
              <a:buSzTx/>
              <a:buFontTx/>
              <a:buNone/>
              <a:defRPr sz="2400">
                <a:solidFill>
                  <a:srgbClr val="888888"/>
                </a:solidFill>
              </a:defRPr>
            </a:lvl2pPr>
            <a:lvl3pPr marL="0" indent="914411">
              <a:buSzTx/>
              <a:buFontTx/>
              <a:buNone/>
              <a:defRPr sz="2400">
                <a:solidFill>
                  <a:srgbClr val="888888"/>
                </a:solidFill>
              </a:defRPr>
            </a:lvl3pPr>
            <a:lvl4pPr marL="0" indent="1371616">
              <a:buSzTx/>
              <a:buFontTx/>
              <a:buNone/>
              <a:defRPr sz="2400">
                <a:solidFill>
                  <a:srgbClr val="888888"/>
                </a:solidFill>
              </a:defRPr>
            </a:lvl4pPr>
            <a:lvl5pPr marL="0" indent="1828823">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39" name="Title Text"/>
          <p:cNvSpPr txBox="1">
            <a:spLocks noGrp="1"/>
          </p:cNvSpPr>
          <p:nvPr>
            <p:ph type="title"/>
          </p:nvPr>
        </p:nvSpPr>
        <p:spPr>
          <a:prstGeom prst="rect">
            <a:avLst/>
          </a:prstGeom>
        </p:spPr>
        <p:txBody>
          <a:bodyPr/>
          <a:lstStyle/>
          <a:p>
            <a:r>
              <a:t>Title Text</a:t>
            </a:r>
          </a:p>
        </p:txBody>
      </p:sp>
      <p:sp>
        <p:nvSpPr>
          <p:cNvPr id="40" name="Body Level One…"/>
          <p:cNvSpPr txBox="1">
            <a:spLocks noGrp="1"/>
          </p:cNvSpPr>
          <p:nvPr>
            <p:ph type="body" sz="half" idx="1"/>
          </p:nvPr>
        </p:nvSpPr>
        <p:spPr>
          <a:xfrm>
            <a:off x="838200" y="1825625"/>
            <a:ext cx="5181601"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8" y="365125"/>
            <a:ext cx="10515601" cy="1325563"/>
          </a:xfrm>
          <a:prstGeom prst="rect">
            <a:avLst/>
          </a:prstGeom>
        </p:spPr>
        <p:txBody>
          <a:bodyPr/>
          <a:lstStyle/>
          <a:p>
            <a:r>
              <a:t>Title Text</a:t>
            </a:r>
          </a:p>
        </p:txBody>
      </p:sp>
      <p:sp>
        <p:nvSpPr>
          <p:cNvPr id="49" name="Body Level One…"/>
          <p:cNvSpPr txBox="1">
            <a:spLocks noGrp="1"/>
          </p:cNvSpPr>
          <p:nvPr>
            <p:ph type="body" sz="quarter" idx="1"/>
          </p:nvPr>
        </p:nvSpPr>
        <p:spPr>
          <a:xfrm>
            <a:off x="839788" y="1681163"/>
            <a:ext cx="5157789" cy="823913"/>
          </a:xfrm>
          <a:prstGeom prst="rect">
            <a:avLst/>
          </a:prstGeom>
        </p:spPr>
        <p:txBody>
          <a:bodyPr anchor="b"/>
          <a:lstStyle>
            <a:lvl1pPr marL="0" indent="0">
              <a:buSzTx/>
              <a:buFontTx/>
              <a:buNone/>
              <a:defRPr sz="2400" b="1"/>
            </a:lvl1pPr>
            <a:lvl2pPr marL="0" indent="457206">
              <a:buSzTx/>
              <a:buFontTx/>
              <a:buNone/>
              <a:defRPr sz="2400" b="1"/>
            </a:lvl2pPr>
            <a:lvl3pPr marL="0" indent="914411">
              <a:buSzTx/>
              <a:buFontTx/>
              <a:buNone/>
              <a:defRPr sz="2400" b="1"/>
            </a:lvl3pPr>
            <a:lvl4pPr marL="0" indent="1371616">
              <a:buSzTx/>
              <a:buFontTx/>
              <a:buNone/>
              <a:defRPr sz="2400" b="1"/>
            </a:lvl4pPr>
            <a:lvl5pPr marL="0" indent="1828823">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0" name="Text Placeholder 4"/>
          <p:cNvSpPr>
            <a:spLocks noGrp="1"/>
          </p:cNvSpPr>
          <p:nvPr>
            <p:ph type="body" sz="quarter" idx="21"/>
          </p:nvPr>
        </p:nvSpPr>
        <p:spPr>
          <a:xfrm>
            <a:off x="6172201" y="1681163"/>
            <a:ext cx="5183189" cy="823913"/>
          </a:xfrm>
          <a:prstGeom prst="rect">
            <a:avLst/>
          </a:prstGeom>
        </p:spPr>
        <p:txBody>
          <a:bodyPr anchor="b"/>
          <a:lstStyle/>
          <a:p>
            <a:pPr marL="0" indent="0">
              <a:buSzTx/>
              <a:buFontTx/>
              <a:buNone/>
              <a:defRPr sz="2400" b="1"/>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74" name="Body Level One…"/>
          <p:cNvSpPr txBox="1">
            <a:spLocks noGrp="1"/>
          </p:cNvSpPr>
          <p:nvPr>
            <p:ph type="body" sz="half" idx="1"/>
          </p:nvPr>
        </p:nvSpPr>
        <p:spPr>
          <a:xfrm>
            <a:off x="5183187" y="987425"/>
            <a:ext cx="6172203" cy="4873625"/>
          </a:xfrm>
          <a:prstGeom prst="rect">
            <a:avLst/>
          </a:prstGeom>
        </p:spPr>
        <p:txBody>
          <a:bodyPr/>
          <a:lstStyle>
            <a:lvl1pPr>
              <a:defRPr sz="3200"/>
            </a:lvl1pPr>
            <a:lvl2pPr marL="718466" indent="-261261">
              <a:defRPr sz="3200"/>
            </a:lvl2pPr>
            <a:lvl3pPr marL="1219216" indent="-304805">
              <a:defRPr sz="3200"/>
            </a:lvl3pPr>
            <a:lvl4pPr marL="1737383" indent="-365766">
              <a:defRPr sz="3200"/>
            </a:lvl4pPr>
            <a:lvl5pPr marL="2194589" indent="-365766">
              <a:defRPr sz="3200"/>
            </a:lvl5pPr>
          </a:lstStyle>
          <a:p>
            <a:r>
              <a:t>Body Level One</a:t>
            </a:r>
          </a:p>
          <a:p>
            <a:pPr lvl="1"/>
            <a:r>
              <a:t>Body Level Two</a:t>
            </a:r>
          </a:p>
          <a:p>
            <a:pPr lvl="2"/>
            <a:r>
              <a:t>Body Level Three</a:t>
            </a:r>
          </a:p>
          <a:p>
            <a:pPr lvl="3"/>
            <a:r>
              <a:t>Body Level Four</a:t>
            </a:r>
          </a:p>
          <a:p>
            <a:pPr lvl="4"/>
            <a:r>
              <a:t>Body Level Five</a:t>
            </a:r>
          </a:p>
        </p:txBody>
      </p:sp>
      <p:sp>
        <p:nvSpPr>
          <p:cNvPr id="75" name="Text Placeholder 3"/>
          <p:cNvSpPr>
            <a:spLocks noGrp="1"/>
          </p:cNvSpPr>
          <p:nvPr>
            <p:ph type="body" sz="quarter" idx="21"/>
          </p:nvPr>
        </p:nvSpPr>
        <p:spPr>
          <a:xfrm>
            <a:off x="839790" y="2057400"/>
            <a:ext cx="3932236" cy="3811588"/>
          </a:xfrm>
          <a:prstGeom prst="rect">
            <a:avLst/>
          </a:prstGeom>
        </p:spPr>
        <p:txBody>
          <a:bodyPr/>
          <a:lstStyle/>
          <a:p>
            <a:pPr marL="0" indent="0">
              <a:buSzTx/>
              <a:buFontTx/>
              <a:buNone/>
              <a:defRPr sz="1600"/>
            </a:pP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84" name="Picture Placeholder 2"/>
          <p:cNvSpPr>
            <a:spLocks noGrp="1"/>
          </p:cNvSpPr>
          <p:nvPr>
            <p:ph type="pic" sz="half" idx="21"/>
          </p:nvPr>
        </p:nvSpPr>
        <p:spPr>
          <a:xfrm>
            <a:off x="5183187" y="987425"/>
            <a:ext cx="6172203" cy="4873625"/>
          </a:xfrm>
          <a:prstGeom prst="rect">
            <a:avLst/>
          </a:prstGeom>
        </p:spPr>
        <p:txBody>
          <a:bodyPr lIns="91439" rIns="91439">
            <a:noAutofit/>
          </a:bodyPr>
          <a:lstStyle/>
          <a:p>
            <a:endParaRPr dirty="0"/>
          </a:p>
        </p:txBody>
      </p:sp>
      <p:sp>
        <p:nvSpPr>
          <p:cNvPr id="85" name="Body Level One…"/>
          <p:cNvSpPr txBox="1">
            <a:spLocks noGrp="1"/>
          </p:cNvSpPr>
          <p:nvPr>
            <p:ph type="body" sz="quarter" idx="1"/>
          </p:nvPr>
        </p:nvSpPr>
        <p:spPr>
          <a:xfrm>
            <a:off x="839790" y="2057400"/>
            <a:ext cx="3932236" cy="3811588"/>
          </a:xfrm>
          <a:prstGeom prst="rect">
            <a:avLst/>
          </a:prstGeom>
        </p:spPr>
        <p:txBody>
          <a:bodyPr/>
          <a:lstStyle>
            <a:lvl1pPr marL="0" indent="0">
              <a:buSzTx/>
              <a:buFontTx/>
              <a:buNone/>
              <a:defRPr sz="1600"/>
            </a:lvl1pPr>
            <a:lvl2pPr marL="0" indent="457206">
              <a:buSzTx/>
              <a:buFontTx/>
              <a:buNone/>
              <a:defRPr sz="1600"/>
            </a:lvl2pPr>
            <a:lvl3pPr marL="0" indent="914411">
              <a:buSzTx/>
              <a:buFontTx/>
              <a:buNone/>
              <a:defRPr sz="1600"/>
            </a:lvl3pPr>
            <a:lvl4pPr marL="0" indent="1371616">
              <a:buSzTx/>
              <a:buFontTx/>
              <a:buNone/>
              <a:defRPr sz="1600"/>
            </a:lvl4pPr>
            <a:lvl5pPr marL="0" indent="1828823">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2" y="365125"/>
            <a:ext cx="10515601"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2" y="1825625"/>
            <a:ext cx="10515601" cy="435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traight Connector 6"/>
          <p:cNvSpPr/>
          <p:nvPr/>
        </p:nvSpPr>
        <p:spPr>
          <a:xfrm flipH="1" flipV="1">
            <a:off x="11366378" y="6459014"/>
            <a:ext cx="3" cy="159415"/>
          </a:xfrm>
          <a:prstGeom prst="line">
            <a:avLst/>
          </a:prstGeom>
          <a:ln w="19050" cap="rnd">
            <a:solidFill>
              <a:srgbClr val="8ED656"/>
            </a:solidFill>
            <a:miter/>
          </a:ln>
        </p:spPr>
        <p:txBody>
          <a:bodyPr lIns="45719" rIns="45719"/>
          <a:lstStyle/>
          <a:p>
            <a:endParaRPr dirty="0"/>
          </a:p>
        </p:txBody>
      </p:sp>
      <p:sp>
        <p:nvSpPr>
          <p:cNvPr id="5" name="Slide Number"/>
          <p:cNvSpPr txBox="1">
            <a:spLocks noGrp="1"/>
          </p:cNvSpPr>
          <p:nvPr>
            <p:ph type="sldNum" sz="quarter" idx="2"/>
          </p:nvPr>
        </p:nvSpPr>
        <p:spPr>
          <a:xfrm>
            <a:off x="11095177"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Lst>
  <p:transition spd="med"/>
  <p:txStyles>
    <p:titleStyle>
      <a:lvl1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3" marR="0" indent="-228603"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9" marR="0" indent="-266704"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56" marR="0" indent="-320045"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23"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29"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34"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40"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46"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51"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Debugging</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Debugging</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Debugging is a technique by which we can find the error, correct the error and detect the error.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SAP debugger is a part of ABAP workbench only.</a:t>
            </a:r>
          </a:p>
        </p:txBody>
      </p:sp>
    </p:spTree>
    <p:extLst>
      <p:ext uri="{BB962C8B-B14F-4D97-AF65-F5344CB8AC3E}">
        <p14:creationId xmlns:p14="http://schemas.microsoft.com/office/powerpoint/2010/main" val="242441063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Ways of Debugging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ways of debugging.</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Set the breakpoint on any executable statement and program stops automatically at that point.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debug the code with the help of transaction code /h.</a:t>
            </a:r>
          </a:p>
        </p:txBody>
      </p:sp>
    </p:spTree>
    <p:extLst>
      <p:ext uri="{BB962C8B-B14F-4D97-AF65-F5344CB8AC3E}">
        <p14:creationId xmlns:p14="http://schemas.microsoft.com/office/powerpoint/2010/main" val="315009547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Execution Keys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4 execution keys in debugging mode.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F5 - Step by step execution</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F6- Line by line execution</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F7 - Return</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F8 - Continuous execution or exit</a:t>
            </a:r>
          </a:p>
        </p:txBody>
      </p:sp>
    </p:spTree>
    <p:extLst>
      <p:ext uri="{BB962C8B-B14F-4D97-AF65-F5344CB8AC3E}">
        <p14:creationId xmlns:p14="http://schemas.microsoft.com/office/powerpoint/2010/main" val="145832834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System Variables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default system variables available in the debugging mode.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SY-SUBRC - System variable for return code(successful = 0, not successful = other than 0).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SY-TABIX - It returns the current line index inside a loop.</a:t>
            </a:r>
          </a:p>
        </p:txBody>
      </p:sp>
    </p:spTree>
    <p:extLst>
      <p:ext uri="{BB962C8B-B14F-4D97-AF65-F5344CB8AC3E}">
        <p14:creationId xmlns:p14="http://schemas.microsoft.com/office/powerpoint/2010/main" val="375638823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Static Breakpoints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Static breakpoints are also called as user independent breakpoints.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syntax to set a static breakpoint is BREAK-POINT.</a:t>
            </a:r>
          </a:p>
        </p:txBody>
      </p:sp>
    </p:spTree>
    <p:extLst>
      <p:ext uri="{BB962C8B-B14F-4D97-AF65-F5344CB8AC3E}">
        <p14:creationId xmlns:p14="http://schemas.microsoft.com/office/powerpoint/2010/main" val="34299530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Dynamic Breakpoints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Dynamic breakpoints are also called as user dependent breakpoints.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syntax to set a dynamic breakpoint is BREAK username.</a:t>
            </a:r>
          </a:p>
        </p:txBody>
      </p:sp>
    </p:spTree>
    <p:extLst>
      <p:ext uri="{BB962C8B-B14F-4D97-AF65-F5344CB8AC3E}">
        <p14:creationId xmlns:p14="http://schemas.microsoft.com/office/powerpoint/2010/main" val="232490037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Operations on Internal Table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operations on internal table in the debugging mode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Deleting a row from an internal table.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Editing a row of an internal table.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Adding a row to an internal table.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Saving internal table to a local file.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Delete complete table.</a:t>
            </a:r>
          </a:p>
        </p:txBody>
      </p:sp>
    </p:spTree>
    <p:extLst>
      <p:ext uri="{BB962C8B-B14F-4D97-AF65-F5344CB8AC3E}">
        <p14:creationId xmlns:p14="http://schemas.microsoft.com/office/powerpoint/2010/main" val="2325813164"/>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Features - Goto Statement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jump to a particular statement in debugging mode by using the path :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Debugger-Goto statement.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also jump to a particular statement by using the shortcut ‘Shift + F12’.</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0278721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10</a:t>
            </a:fld>
            <a:endParaRPr dirty="0"/>
          </a:p>
        </p:txBody>
      </p:sp>
      <p:sp>
        <p:nvSpPr>
          <p:cNvPr id="207" name="TextBox 17"/>
          <p:cNvSpPr txBox="1"/>
          <p:nvPr/>
        </p:nvSpPr>
        <p:spPr>
          <a:xfrm>
            <a:off x="369419" y="357542"/>
            <a:ext cx="11453161"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Features - Setting Breakpoint at Keywords , FM’s and Messages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set the breakpoints at keywords in debugging mode like - SELECT, CALL FUNCTION, MESSAGE etc.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also set breakpoints on specific function modules or subroutines or messages etc.</a:t>
            </a:r>
          </a:p>
        </p:txBody>
      </p:sp>
    </p:spTree>
    <p:extLst>
      <p:ext uri="{BB962C8B-B14F-4D97-AF65-F5344CB8AC3E}">
        <p14:creationId xmlns:p14="http://schemas.microsoft.com/office/powerpoint/2010/main" val="424583189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Features - Deleting and Deactivating the Breakpoints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Deleting breakpoints </a:t>
            </a:r>
            <a:r>
              <a:rPr lang="en-US" altLang="en-US" sz="2400" b="1" dirty="0">
                <a:solidFill>
                  <a:srgbClr val="3B3838"/>
                </a:solidFill>
                <a:latin typeface="Calibri" panose="020F0502020204030204" pitchFamily="34" charset="0"/>
                <a:cs typeface="Calibri" panose="020F0502020204030204" pitchFamily="34" charset="0"/>
              </a:rPr>
              <a:t>- </a:t>
            </a:r>
            <a:r>
              <a:rPr lang="en-US" altLang="en-US" sz="2400" dirty="0">
                <a:solidFill>
                  <a:srgbClr val="3B3838"/>
                </a:solidFill>
                <a:latin typeface="Calibri" panose="020F0502020204030204" pitchFamily="34" charset="0"/>
                <a:cs typeface="Calibri" panose="020F0502020204030204" pitchFamily="34" charset="0"/>
              </a:rPr>
              <a:t>Permanently deleting the breakpoints in that particular session.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Deactivating breakpoints - Temporary deleting the breakpoints in that particular session. When we run the program again, the breakpoint resumes.</a:t>
            </a:r>
          </a:p>
        </p:txBody>
      </p:sp>
    </p:spTree>
    <p:extLst>
      <p:ext uri="{BB962C8B-B14F-4D97-AF65-F5344CB8AC3E}">
        <p14:creationId xmlns:p14="http://schemas.microsoft.com/office/powerpoint/2010/main" val="432620095"/>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Features - List Preview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the debugging mode, we can check the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preview of the list output.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path to check the list preview is as follows: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New Tool - Special Tools - Console : XML and</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List Preview</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E8DF4B29-4D3E-1AB6-641E-1FEFBFF02E76}"/>
              </a:ext>
            </a:extLst>
          </p:cNvPr>
          <p:cNvPicPr>
            <a:picLocks noChangeAspect="1"/>
          </p:cNvPicPr>
          <p:nvPr/>
        </p:nvPicPr>
        <p:blipFill>
          <a:blip r:embed="rId3"/>
          <a:stretch>
            <a:fillRect/>
          </a:stretch>
        </p:blipFill>
        <p:spPr>
          <a:xfrm>
            <a:off x="6783355" y="1350979"/>
            <a:ext cx="5166454" cy="4949701"/>
          </a:xfrm>
          <a:prstGeom prst="rect">
            <a:avLst/>
          </a:prstGeom>
          <a:ln>
            <a:solidFill>
              <a:schemeClr val="accent1"/>
            </a:solidFill>
          </a:ln>
        </p:spPr>
      </p:pic>
    </p:spTree>
    <p:extLst>
      <p:ext uri="{BB962C8B-B14F-4D97-AF65-F5344CB8AC3E}">
        <p14:creationId xmlns:p14="http://schemas.microsoft.com/office/powerpoint/2010/main" val="34720352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Features - Find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the debugging mode, we can find the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specific records of internal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need to do CTRL + F for the internal table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data, one pop-up appears to pass the column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values, pass the input and it point to the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records having matching values.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AF500A7B-F40C-7082-D2C5-00233418E881}"/>
              </a:ext>
            </a:extLst>
          </p:cNvPr>
          <p:cNvPicPr>
            <a:picLocks noChangeAspect="1"/>
          </p:cNvPicPr>
          <p:nvPr/>
        </p:nvPicPr>
        <p:blipFill>
          <a:blip r:embed="rId3"/>
          <a:stretch>
            <a:fillRect/>
          </a:stretch>
        </p:blipFill>
        <p:spPr>
          <a:xfrm>
            <a:off x="6751492" y="1214481"/>
            <a:ext cx="5198317" cy="5474730"/>
          </a:xfrm>
          <a:prstGeom prst="rect">
            <a:avLst/>
          </a:prstGeom>
          <a:ln>
            <a:solidFill>
              <a:schemeClr val="accent1"/>
            </a:solidFill>
          </a:ln>
        </p:spPr>
      </p:pic>
    </p:spTree>
    <p:extLst>
      <p:ext uri="{BB962C8B-B14F-4D97-AF65-F5344CB8AC3E}">
        <p14:creationId xmlns:p14="http://schemas.microsoft.com/office/powerpoint/2010/main" val="113644393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Features - Source Code Display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the debugging mode, we can open the code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in a new session without closing the debugging</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session.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need to click on to program/include/line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icon as per the screenshot(highlighted).</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C77FF33A-448B-92FF-4F54-AAD9AA91AB56}"/>
              </a:ext>
            </a:extLst>
          </p:cNvPr>
          <p:cNvPicPr>
            <a:picLocks noChangeAspect="1"/>
          </p:cNvPicPr>
          <p:nvPr/>
        </p:nvPicPr>
        <p:blipFill>
          <a:blip r:embed="rId3"/>
          <a:stretch>
            <a:fillRect/>
          </a:stretch>
        </p:blipFill>
        <p:spPr>
          <a:xfrm>
            <a:off x="6889438" y="1404392"/>
            <a:ext cx="4652530" cy="4733925"/>
          </a:xfrm>
          <a:prstGeom prst="rect">
            <a:avLst/>
          </a:prstGeom>
        </p:spPr>
      </p:pic>
    </p:spTree>
    <p:extLst>
      <p:ext uri="{BB962C8B-B14F-4D97-AF65-F5344CB8AC3E}">
        <p14:creationId xmlns:p14="http://schemas.microsoft.com/office/powerpoint/2010/main" val="358383327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Features - Save Parameters as Test Data(SE37)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save the function module parameter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values in the debugging mode.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path to save function module parameters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values as test data is as follows: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Services of the Tool - Save Parameters as Test Data(SE37)</a:t>
            </a:r>
          </a:p>
        </p:txBody>
      </p:sp>
      <p:pic>
        <p:nvPicPr>
          <p:cNvPr id="7" name="Picture 6">
            <a:extLst>
              <a:ext uri="{FF2B5EF4-FFF2-40B4-BE49-F238E27FC236}">
                <a16:creationId xmlns:a16="http://schemas.microsoft.com/office/drawing/2014/main" id="{2596AC9F-2E2B-74C8-DACA-1ACAB916FF73}"/>
              </a:ext>
            </a:extLst>
          </p:cNvPr>
          <p:cNvPicPr>
            <a:picLocks noChangeAspect="1"/>
          </p:cNvPicPr>
          <p:nvPr/>
        </p:nvPicPr>
        <p:blipFill>
          <a:blip r:embed="rId3"/>
          <a:stretch>
            <a:fillRect/>
          </a:stretch>
        </p:blipFill>
        <p:spPr>
          <a:xfrm>
            <a:off x="7399176" y="1225353"/>
            <a:ext cx="4423404" cy="3169366"/>
          </a:xfrm>
          <a:prstGeom prst="rect">
            <a:avLst/>
          </a:prstGeom>
          <a:ln>
            <a:solidFill>
              <a:schemeClr val="accent1"/>
            </a:solidFill>
          </a:ln>
        </p:spPr>
      </p:pic>
    </p:spTree>
    <p:extLst>
      <p:ext uri="{BB962C8B-B14F-4D97-AF65-F5344CB8AC3E}">
        <p14:creationId xmlns:p14="http://schemas.microsoft.com/office/powerpoint/2010/main" val="422120426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Features - SAP Memory and ABAP Memory Values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check the values of SAP memory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and ABAP memory in the debugging mode.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path to check the memory id values in the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debugging mode is as follows: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New Tool - Special Tools - System Areas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(Internal Only)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FB2B2D27-3A0F-7C46-7192-5D6F5513EB71}"/>
              </a:ext>
            </a:extLst>
          </p:cNvPr>
          <p:cNvPicPr>
            <a:picLocks noChangeAspect="1"/>
          </p:cNvPicPr>
          <p:nvPr/>
        </p:nvPicPr>
        <p:blipFill>
          <a:blip r:embed="rId3"/>
          <a:stretch>
            <a:fillRect/>
          </a:stretch>
        </p:blipFill>
        <p:spPr>
          <a:xfrm>
            <a:off x="7004584" y="1392604"/>
            <a:ext cx="4945225" cy="4866452"/>
          </a:xfrm>
          <a:prstGeom prst="rect">
            <a:avLst/>
          </a:prstGeom>
          <a:ln>
            <a:solidFill>
              <a:schemeClr val="accent1"/>
            </a:solidFill>
          </a:ln>
        </p:spPr>
      </p:pic>
    </p:spTree>
    <p:extLst>
      <p:ext uri="{BB962C8B-B14F-4D97-AF65-F5344CB8AC3E}">
        <p14:creationId xmlns:p14="http://schemas.microsoft.com/office/powerpoint/2010/main" val="292426899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Watchpoints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Watchpoints are used to monitor the values of variables, workareas and internal tables.</a:t>
            </a:r>
          </a:p>
        </p:txBody>
      </p:sp>
    </p:spTree>
    <p:extLst>
      <p:ext uri="{BB962C8B-B14F-4D97-AF65-F5344CB8AC3E}">
        <p14:creationId xmlns:p14="http://schemas.microsoft.com/office/powerpoint/2010/main" val="293556104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Breakpoints and Watchpoints Comparison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Breakpoints are for executable statements whereas watchpoints are used to monitor the values of variables, work areas and internal tables.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 user can set a maximum of 30 breakpoints whereas a user can set a maximum of 10 watchpoints.</a:t>
            </a:r>
          </a:p>
        </p:txBody>
      </p:sp>
    </p:spTree>
    <p:extLst>
      <p:ext uri="{BB962C8B-B14F-4D97-AF65-F5344CB8AC3E}">
        <p14:creationId xmlns:p14="http://schemas.microsoft.com/office/powerpoint/2010/main" val="404831839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Comparison of Session Breakpoint and External Breakpoint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 session breakpoint is attached to user session and exists until the user closes the last session, whereas external breakpoint has a validity of 2 hours.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icon of session breakpoint looks like a computer monitor set in front of a stop sign whereas the icon of external breakpoint looks like a person set in front of a stop sign.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session breakpoint is used to debug the ABAP code internally whereas the external breakpoint is used to debug the ABAP code from an external process like Web Dynpro applications, BSP(Business Server Pages) etc.</a:t>
            </a:r>
          </a:p>
        </p:txBody>
      </p:sp>
    </p:spTree>
    <p:extLst>
      <p:ext uri="{BB962C8B-B14F-4D97-AF65-F5344CB8AC3E}">
        <p14:creationId xmlns:p14="http://schemas.microsoft.com/office/powerpoint/2010/main" val="56371229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User Specific Desktop</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Desktop 1, Desktop 2 and Desktop 3 are considered as user specific desktop in the debugging mode.</a:t>
            </a:r>
          </a:p>
        </p:txBody>
      </p:sp>
    </p:spTree>
    <p:extLst>
      <p:ext uri="{BB962C8B-B14F-4D97-AF65-F5344CB8AC3E}">
        <p14:creationId xmlns:p14="http://schemas.microsoft.com/office/powerpoint/2010/main" val="102584885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Way to Debug a Dialog Screen or Pop Up Screen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Firstly, we need to create a text document using the below mentioned code.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a:t>
            </a:r>
            <a:r>
              <a:rPr lang="en-IN" sz="2400" dirty="0">
                <a:solidFill>
                  <a:srgbClr val="3B3838"/>
                </a:solidFill>
                <a:latin typeface="Calibri" panose="020F0502020204030204" pitchFamily="34" charset="0"/>
                <a:cs typeface="Calibri" panose="020F0502020204030204" pitchFamily="34" charset="0"/>
              </a:rPr>
              <a:t>[Function]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IN" sz="2400" dirty="0">
                <a:solidFill>
                  <a:srgbClr val="3B3838"/>
                </a:solidFill>
                <a:latin typeface="Calibri" panose="020F0502020204030204" pitchFamily="34" charset="0"/>
                <a:cs typeface="Calibri" panose="020F0502020204030204" pitchFamily="34" charset="0"/>
              </a:rPr>
              <a:t>        Command=/H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IN" sz="2400" dirty="0">
                <a:solidFill>
                  <a:srgbClr val="3B3838"/>
                </a:solidFill>
                <a:latin typeface="Calibri" panose="020F0502020204030204" pitchFamily="34" charset="0"/>
                <a:cs typeface="Calibri" panose="020F0502020204030204" pitchFamily="34" charset="0"/>
              </a:rPr>
              <a:t>       Type=</a:t>
            </a:r>
            <a:r>
              <a:rPr lang="en-IN" sz="2400" dirty="0" err="1">
                <a:solidFill>
                  <a:srgbClr val="3B3838"/>
                </a:solidFill>
                <a:latin typeface="Calibri" panose="020F0502020204030204" pitchFamily="34" charset="0"/>
                <a:cs typeface="Calibri" panose="020F0502020204030204" pitchFamily="34" charset="0"/>
              </a:rPr>
              <a:t>SystemCommand</a:t>
            </a:r>
            <a:endParaRPr lang="en-IN" sz="2400" dirty="0">
              <a:solidFill>
                <a:srgbClr val="3B3838"/>
              </a:solidFill>
              <a:latin typeface="Calibri" panose="020F0502020204030204" pitchFamily="34" charset="0"/>
              <a:cs typeface="Calibri" panose="020F0502020204030204" pitchFamily="34" charset="0"/>
            </a:endParaRPr>
          </a:p>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sym typeface="Trebuchet MS"/>
              </a:rPr>
              <a:t>Then drag and drop this text document on the required dialog screen or pop up screen.</a:t>
            </a:r>
            <a:endParaRPr lang="en-IN"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285305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Update Debugging</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Update debugging is used to debug the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code which is written in the update task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as we can not debug the update task code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using normal debugging.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Example - Function module called in the update task.</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path to on the update debugging is as follows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Settings - Change Debugger Profile/Settings - Update Debugging </a:t>
            </a:r>
          </a:p>
        </p:txBody>
      </p:sp>
      <p:pic>
        <p:nvPicPr>
          <p:cNvPr id="7" name="Picture 6">
            <a:extLst>
              <a:ext uri="{FF2B5EF4-FFF2-40B4-BE49-F238E27FC236}">
                <a16:creationId xmlns:a16="http://schemas.microsoft.com/office/drawing/2014/main" id="{42EF8745-333B-E57B-2788-BA501FBD641D}"/>
              </a:ext>
            </a:extLst>
          </p:cNvPr>
          <p:cNvPicPr>
            <a:picLocks noChangeAspect="1"/>
          </p:cNvPicPr>
          <p:nvPr/>
        </p:nvPicPr>
        <p:blipFill>
          <a:blip r:embed="rId3"/>
          <a:stretch>
            <a:fillRect/>
          </a:stretch>
        </p:blipFill>
        <p:spPr>
          <a:xfrm>
            <a:off x="7012455" y="1517363"/>
            <a:ext cx="4810125" cy="2628900"/>
          </a:xfrm>
          <a:prstGeom prst="rect">
            <a:avLst/>
          </a:prstGeom>
          <a:ln>
            <a:solidFill>
              <a:schemeClr val="accent1"/>
            </a:solidFill>
          </a:ln>
        </p:spPr>
      </p:pic>
    </p:spTree>
    <p:extLst>
      <p:ext uri="{BB962C8B-B14F-4D97-AF65-F5344CB8AC3E}">
        <p14:creationId xmlns:p14="http://schemas.microsoft.com/office/powerpoint/2010/main" val="3807634976"/>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A93AC-F099-DCE3-91C3-579660B9051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F5F827D-6B46-1DE4-4D40-9B3BBCF5A36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23</a:t>
            </a:fld>
            <a:endParaRPr dirty="0"/>
          </a:p>
        </p:txBody>
      </p:sp>
      <p:sp>
        <p:nvSpPr>
          <p:cNvPr id="207" name="TextBox 17">
            <a:extLst>
              <a:ext uri="{FF2B5EF4-FFF2-40B4-BE49-F238E27FC236}">
                <a16:creationId xmlns:a16="http://schemas.microsoft.com/office/drawing/2014/main" id="{ECB00BF0-D8C8-C916-29C0-B0693518A44C}"/>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System Debugging</a:t>
            </a:r>
          </a:p>
        </p:txBody>
      </p:sp>
      <p:sp>
        <p:nvSpPr>
          <p:cNvPr id="208" name="Straight Connector 18">
            <a:extLst>
              <a:ext uri="{FF2B5EF4-FFF2-40B4-BE49-F238E27FC236}">
                <a16:creationId xmlns:a16="http://schemas.microsoft.com/office/drawing/2014/main" id="{7A069FB7-4B19-CF5B-57D3-8A8A03AA50A2}"/>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AA7D703A-8698-29CA-6E94-9554F871EFA4}"/>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System debugging is used to debug the code of system programs.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path to check a system program is as follows: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Goto - Attributes - Status( S = system program).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path to on the system debugging is as follows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Settings - Change Debugger Profile/Settings - System Debugging </a:t>
            </a:r>
          </a:p>
        </p:txBody>
      </p:sp>
      <p:pic>
        <p:nvPicPr>
          <p:cNvPr id="3" name="Picture 2">
            <a:extLst>
              <a:ext uri="{FF2B5EF4-FFF2-40B4-BE49-F238E27FC236}">
                <a16:creationId xmlns:a16="http://schemas.microsoft.com/office/drawing/2014/main" id="{9B1FA67B-E9CC-DA9B-F2CD-BD8A78EE42F7}"/>
              </a:ext>
            </a:extLst>
          </p:cNvPr>
          <p:cNvPicPr>
            <a:picLocks noChangeAspect="1"/>
          </p:cNvPicPr>
          <p:nvPr/>
        </p:nvPicPr>
        <p:blipFill>
          <a:blip r:embed="rId3"/>
          <a:stretch>
            <a:fillRect/>
          </a:stretch>
        </p:blipFill>
        <p:spPr>
          <a:xfrm>
            <a:off x="8208832" y="2067745"/>
            <a:ext cx="3391194" cy="2072820"/>
          </a:xfrm>
          <a:prstGeom prst="rect">
            <a:avLst/>
          </a:prstGeom>
          <a:solidFill>
            <a:schemeClr val="accent1">
              <a:alpha val="98000"/>
            </a:schemeClr>
          </a:solidFill>
          <a:ln>
            <a:solidFill>
              <a:schemeClr val="accent1"/>
            </a:solidFill>
          </a:ln>
        </p:spPr>
      </p:pic>
    </p:spTree>
    <p:extLst>
      <p:ext uri="{BB962C8B-B14F-4D97-AF65-F5344CB8AC3E}">
        <p14:creationId xmlns:p14="http://schemas.microsoft.com/office/powerpoint/2010/main" val="1485309338"/>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Script Tab</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use the script tab to stop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the debugger on the selection of specific</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tables and update of tables.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need to go to script tab, click on to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load script and pass the name of the script</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as per the requirement.</a:t>
            </a:r>
          </a:p>
        </p:txBody>
      </p:sp>
      <p:pic>
        <p:nvPicPr>
          <p:cNvPr id="11" name="Picture 10">
            <a:extLst>
              <a:ext uri="{FF2B5EF4-FFF2-40B4-BE49-F238E27FC236}">
                <a16:creationId xmlns:a16="http://schemas.microsoft.com/office/drawing/2014/main" id="{EE3B56DB-99C6-B148-3B4F-26E591EDB393}"/>
              </a:ext>
            </a:extLst>
          </p:cNvPr>
          <p:cNvPicPr>
            <a:picLocks noChangeAspect="1"/>
          </p:cNvPicPr>
          <p:nvPr/>
        </p:nvPicPr>
        <p:blipFill>
          <a:blip r:embed="rId3"/>
          <a:stretch>
            <a:fillRect/>
          </a:stretch>
        </p:blipFill>
        <p:spPr>
          <a:xfrm>
            <a:off x="6332974" y="1523781"/>
            <a:ext cx="5616835" cy="3810438"/>
          </a:xfrm>
          <a:prstGeom prst="rect">
            <a:avLst/>
          </a:prstGeom>
          <a:ln>
            <a:solidFill>
              <a:schemeClr val="accent1"/>
            </a:solidFill>
          </a:ln>
        </p:spPr>
      </p:pic>
    </p:spTree>
    <p:extLst>
      <p:ext uri="{BB962C8B-B14F-4D97-AF65-F5344CB8AC3E}">
        <p14:creationId xmlns:p14="http://schemas.microsoft.com/office/powerpoint/2010/main" val="75854890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Script Tab(Contd.)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scripts for selection and updating of tables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Script for selection of tables - RSTPDA_SCRIPT_BP_SELECT_TAB</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Script for updating of tables - RSTPDA_SCRIPT_BP_CHANGE_TAB</a:t>
            </a:r>
          </a:p>
        </p:txBody>
      </p:sp>
    </p:spTree>
    <p:extLst>
      <p:ext uri="{BB962C8B-B14F-4D97-AF65-F5344CB8AC3E}">
        <p14:creationId xmlns:p14="http://schemas.microsoft.com/office/powerpoint/2010/main" val="800627931"/>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26</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Thank You</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extLst>
      <p:ext uri="{BB962C8B-B14F-4D97-AF65-F5344CB8AC3E}">
        <p14:creationId xmlns:p14="http://schemas.microsoft.com/office/powerpoint/2010/main" val="88375257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
  <TotalTime>4128</TotalTime>
  <Words>1135</Words>
  <Application>Microsoft Office PowerPoint</Application>
  <PresentationFormat>Widescreen</PresentationFormat>
  <Paragraphs>144</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Mehta</dc:creator>
  <cp:lastModifiedBy>Rahul Mehta</cp:lastModifiedBy>
  <cp:revision>1871</cp:revision>
  <dcterms:modified xsi:type="dcterms:W3CDTF">2025-04-21T06:37:00Z</dcterms:modified>
</cp:coreProperties>
</file>