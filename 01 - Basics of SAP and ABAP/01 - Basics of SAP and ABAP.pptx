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1"/>
  </p:notesMasterIdLst>
  <p:sldIdLst>
    <p:sldId id="259" r:id="rId2"/>
    <p:sldId id="837" r:id="rId3"/>
    <p:sldId id="838" r:id="rId4"/>
    <p:sldId id="839" r:id="rId5"/>
    <p:sldId id="840" r:id="rId6"/>
    <p:sldId id="841" r:id="rId7"/>
    <p:sldId id="842" r:id="rId8"/>
    <p:sldId id="843" r:id="rId9"/>
    <p:sldId id="844" r:id="rId10"/>
    <p:sldId id="845" r:id="rId11"/>
    <p:sldId id="846" r:id="rId12"/>
    <p:sldId id="847" r:id="rId13"/>
    <p:sldId id="848" r:id="rId14"/>
    <p:sldId id="850" r:id="rId15"/>
    <p:sldId id="851" r:id="rId16"/>
    <p:sldId id="852" r:id="rId17"/>
    <p:sldId id="853" r:id="rId18"/>
    <p:sldId id="854" r:id="rId19"/>
    <p:sldId id="855" r:id="rId20"/>
    <p:sldId id="856" r:id="rId21"/>
    <p:sldId id="857" r:id="rId22"/>
    <p:sldId id="858" r:id="rId23"/>
    <p:sldId id="859" r:id="rId24"/>
    <p:sldId id="860" r:id="rId25"/>
    <p:sldId id="861" r:id="rId26"/>
    <p:sldId id="862" r:id="rId27"/>
    <p:sldId id="863" r:id="rId28"/>
    <p:sldId id="864" r:id="rId29"/>
    <p:sldId id="865" r:id="rId30"/>
    <p:sldId id="866" r:id="rId31"/>
    <p:sldId id="868" r:id="rId32"/>
    <p:sldId id="869" r:id="rId33"/>
    <p:sldId id="870" r:id="rId34"/>
    <p:sldId id="871" r:id="rId35"/>
    <p:sldId id="872" r:id="rId36"/>
    <p:sldId id="873" r:id="rId37"/>
    <p:sldId id="874" r:id="rId38"/>
    <p:sldId id="875" r:id="rId39"/>
    <p:sldId id="876" r:id="rId40"/>
    <p:sldId id="877" r:id="rId41"/>
    <p:sldId id="878" r:id="rId42"/>
    <p:sldId id="879" r:id="rId43"/>
    <p:sldId id="880" r:id="rId44"/>
    <p:sldId id="881" r:id="rId45"/>
    <p:sldId id="882" r:id="rId46"/>
    <p:sldId id="883" r:id="rId47"/>
    <p:sldId id="884" r:id="rId48"/>
    <p:sldId id="885" r:id="rId49"/>
    <p:sldId id="886" r:id="rId50"/>
    <p:sldId id="887" r:id="rId51"/>
    <p:sldId id="888" r:id="rId52"/>
    <p:sldId id="889" r:id="rId53"/>
    <p:sldId id="890" r:id="rId54"/>
    <p:sldId id="891" r:id="rId55"/>
    <p:sldId id="892" r:id="rId56"/>
    <p:sldId id="893" r:id="rId57"/>
    <p:sldId id="894" r:id="rId58"/>
    <p:sldId id="895" r:id="rId59"/>
    <p:sldId id="896" r:id="rId60"/>
    <p:sldId id="897" r:id="rId61"/>
    <p:sldId id="898" r:id="rId62"/>
    <p:sldId id="899" r:id="rId63"/>
    <p:sldId id="900" r:id="rId64"/>
    <p:sldId id="901" r:id="rId65"/>
    <p:sldId id="902" r:id="rId66"/>
    <p:sldId id="903" r:id="rId67"/>
    <p:sldId id="904" r:id="rId68"/>
    <p:sldId id="905" r:id="rId69"/>
    <p:sldId id="906" r:id="rId70"/>
    <p:sldId id="907" r:id="rId71"/>
    <p:sldId id="910" r:id="rId72"/>
    <p:sldId id="911" r:id="rId73"/>
    <p:sldId id="912" r:id="rId74"/>
    <p:sldId id="913" r:id="rId75"/>
    <p:sldId id="915" r:id="rId76"/>
    <p:sldId id="916" r:id="rId77"/>
    <p:sldId id="917" r:id="rId78"/>
    <p:sldId id="918" r:id="rId79"/>
    <p:sldId id="908" r:id="rId8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83308" autoAdjust="0"/>
  </p:normalViewPr>
  <p:slideViewPr>
    <p:cSldViewPr snapToGrid="0">
      <p:cViewPr varScale="1">
        <p:scale>
          <a:sx n="82" d="100"/>
          <a:sy n="82" d="100"/>
        </p:scale>
        <p:origin x="55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31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049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051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254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854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4706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183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507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691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240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3256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855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049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051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254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9854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5470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1838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1507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6912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2401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53256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0855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27835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42133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67061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3095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1545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0496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8867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5140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6909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8418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31114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427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0512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8922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45803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700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5088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1064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51408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07042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99853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7287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73236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1922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79574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96320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47079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48037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58836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247249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47398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96397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309006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529562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843391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18009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68895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58299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494102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26197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94736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82933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52820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074532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89812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62713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78794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050791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92200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49321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074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A188-7805-9B1E-E239-2837DEA6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85E29-3FCE-7D6B-B961-941839B52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565B4-1ABF-AC61-5483-B5B451D3B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44536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58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2" y="4589464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6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11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16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23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8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6">
              <a:buSzTx/>
              <a:buFontTx/>
              <a:buNone/>
              <a:defRPr sz="2400" b="1"/>
            </a:lvl2pPr>
            <a:lvl3pPr marL="0" indent="914411">
              <a:buSzTx/>
              <a:buFontTx/>
              <a:buNone/>
              <a:defRPr sz="2400" b="1"/>
            </a:lvl3pPr>
            <a:lvl4pPr marL="0" indent="1371616">
              <a:buSzTx/>
              <a:buFontTx/>
              <a:buNone/>
              <a:defRPr sz="2400" b="1"/>
            </a:lvl4pPr>
            <a:lvl5pPr marL="0" indent="1828823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1" y="1681163"/>
            <a:ext cx="5183189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66" indent="-261261">
              <a:defRPr sz="3200"/>
            </a:lvl2pPr>
            <a:lvl3pPr marL="1219216" indent="-304805">
              <a:defRPr sz="3200"/>
            </a:lvl3pPr>
            <a:lvl4pPr marL="1737383" indent="-365766">
              <a:defRPr sz="3200"/>
            </a:lvl4pPr>
            <a:lvl5pPr marL="2194589" indent="-365766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Text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4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 dirty="0"/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6">
              <a:buSzTx/>
              <a:buFontTx/>
              <a:buNone/>
              <a:defRPr sz="1600"/>
            </a:lvl2pPr>
            <a:lvl3pPr marL="0" indent="914411">
              <a:buSzTx/>
              <a:buFontTx/>
              <a:buNone/>
              <a:defRPr sz="1600"/>
            </a:lvl3pPr>
            <a:lvl4pPr marL="0" indent="1371616">
              <a:buSzTx/>
              <a:buFontTx/>
              <a:buNone/>
              <a:defRPr sz="1600"/>
            </a:lvl4pPr>
            <a:lvl5pPr marL="0" indent="1828823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traight Connector 6"/>
          <p:cNvSpPr/>
          <p:nvPr/>
        </p:nvSpPr>
        <p:spPr>
          <a:xfrm flipH="1" flipV="1">
            <a:off x="11366378" y="6459014"/>
            <a:ext cx="3" cy="159415"/>
          </a:xfrm>
          <a:prstGeom prst="line">
            <a:avLst/>
          </a:prstGeom>
          <a:ln w="190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7" y="6414761"/>
            <a:ext cx="258624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</p:sldLayoutIdLst>
  <p:transition spd="med"/>
  <p:txStyles>
    <p:titleStyle>
      <a:lvl1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1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3" marR="0" indent="-228603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9" marR="0" indent="-266704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56" marR="0" indent="-320045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23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29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34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40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46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51" marR="0" indent="-355606" algn="l" defTabSz="914411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e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Basics of SAP and ABAP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Introduction to ERP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 - Enterprise R - Resource P - Planning.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It's purpose is to manage any organization/company functions.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way to integrate the data and processes of an organization into one single system.</a:t>
            </a:r>
          </a:p>
        </p:txBody>
      </p:sp>
    </p:spTree>
    <p:extLst>
      <p:ext uri="{BB962C8B-B14F-4D97-AF65-F5344CB8AC3E}">
        <p14:creationId xmlns:p14="http://schemas.microsoft.com/office/powerpoint/2010/main" val="242441063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Introduction to SAP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 - Systems A - Applications P - Products in Data Processing.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is an ERP product.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introduced by SAP AG in 1972 at Walldorf(Germany).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German based product.</a:t>
            </a:r>
          </a:p>
        </p:txBody>
      </p:sp>
    </p:spTree>
    <p:extLst>
      <p:ext uri="{BB962C8B-B14F-4D97-AF65-F5344CB8AC3E}">
        <p14:creationId xmlns:p14="http://schemas.microsoft.com/office/powerpoint/2010/main" val="96539838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Features of SAP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 of all functions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Multi-lingual software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 multiple currencies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User-based license agreement</a:t>
            </a:r>
          </a:p>
        </p:txBody>
      </p:sp>
    </p:spTree>
    <p:extLst>
      <p:ext uri="{BB962C8B-B14F-4D97-AF65-F5344CB8AC3E}">
        <p14:creationId xmlns:p14="http://schemas.microsoft.com/office/powerpoint/2010/main" val="224545093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Modules of SAP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divided the modules broadly in to 2 categories.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Functional modules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Technical modules </a:t>
            </a:r>
          </a:p>
        </p:txBody>
      </p:sp>
    </p:spTree>
    <p:extLst>
      <p:ext uri="{BB962C8B-B14F-4D97-AF65-F5344CB8AC3E}">
        <p14:creationId xmlns:p14="http://schemas.microsoft.com/office/powerpoint/2010/main" val="362231025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Functional Modules of SAP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SD - Sales &amp; Distribution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MM - Material Management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HR/HCM - Human Resources/Human Capital Management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PP - Production Planning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FICO - Finance &amp; Controlling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WM - Warehouse Management</a:t>
            </a:r>
          </a:p>
        </p:txBody>
      </p:sp>
    </p:spTree>
    <p:extLst>
      <p:ext uri="{BB962C8B-B14F-4D97-AF65-F5344CB8AC3E}">
        <p14:creationId xmlns:p14="http://schemas.microsoft.com/office/powerpoint/2010/main" val="170350587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Technical Modules of SAP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ABAP - Advanced Business Application Programming. It is a programming language for SAP.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BASIS - Business Application Software Integrated Solution. It is for monitoring and administration of SAP systems.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 - Business Intelligence. It is used to analyze and presents the data in the form of reports, dashboards etc.</a:t>
            </a:r>
          </a:p>
        </p:txBody>
      </p:sp>
    </p:spTree>
    <p:extLst>
      <p:ext uri="{BB962C8B-B14F-4D97-AF65-F5344CB8AC3E}">
        <p14:creationId xmlns:p14="http://schemas.microsoft.com/office/powerpoint/2010/main" val="272124499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Technical Modules of SAP(Contd.)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CRM - Customer Relationship Management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 - Process Integration</a:t>
            </a:r>
          </a:p>
        </p:txBody>
      </p:sp>
    </p:spTree>
    <p:extLst>
      <p:ext uri="{BB962C8B-B14F-4D97-AF65-F5344CB8AC3E}">
        <p14:creationId xmlns:p14="http://schemas.microsoft.com/office/powerpoint/2010/main" val="403868390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Netweaver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NetWeaver(NW) is an integrated technology platform which can support various SAP applications.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- SAP ERP(Enterprise Resource Planning) , SAP CRM(Customer Relationship Management) , SAP SRM(Supply Relationship Management) , SAP PI(Process Integration) etc.</a:t>
            </a:r>
          </a:p>
        </p:txBody>
      </p:sp>
    </p:spTree>
    <p:extLst>
      <p:ext uri="{BB962C8B-B14F-4D97-AF65-F5344CB8AC3E}">
        <p14:creationId xmlns:p14="http://schemas.microsoft.com/office/powerpoint/2010/main" val="308041617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R/3 Architecture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SAP R/3 architecture - R stands for Real, 3 stands for 3 layers.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3 layers in the architecture are as follows: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layer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layer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Database layer</a:t>
            </a:r>
          </a:p>
        </p:txBody>
      </p:sp>
    </p:spTree>
    <p:extLst>
      <p:ext uri="{BB962C8B-B14F-4D97-AF65-F5344CB8AC3E}">
        <p14:creationId xmlns:p14="http://schemas.microsoft.com/office/powerpoint/2010/main" val="103205495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Presentation Layer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Presentation layer is also called as user interaction layer.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acts as an interface between end user and SAP system.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collects user input and creates process request.</a:t>
            </a:r>
          </a:p>
        </p:txBody>
      </p:sp>
    </p:spTree>
    <p:extLst>
      <p:ext uri="{BB962C8B-B14F-4D97-AF65-F5344CB8AC3E}">
        <p14:creationId xmlns:p14="http://schemas.microsoft.com/office/powerpoint/2010/main" val="65684791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Application Layer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acts as an interface between presentation layer and database layer.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layer is responsible for writing the programs and applications.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uses the application logic of program to collect and process request.</a:t>
            </a:r>
          </a:p>
        </p:txBody>
      </p:sp>
    </p:spTree>
    <p:extLst>
      <p:ext uri="{BB962C8B-B14F-4D97-AF65-F5344CB8AC3E}">
        <p14:creationId xmlns:p14="http://schemas.microsoft.com/office/powerpoint/2010/main" val="283722970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Database Layer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Databases(Oracle, DB2 etc.) reside on the database Layer.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stores and retrieves the data.</a:t>
            </a:r>
          </a:p>
        </p:txBody>
      </p:sp>
    </p:spTree>
    <p:extLst>
      <p:ext uri="{BB962C8B-B14F-4D97-AF65-F5344CB8AC3E}">
        <p14:creationId xmlns:p14="http://schemas.microsoft.com/office/powerpoint/2010/main" val="388837866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Introduction to ABAP/4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- Advanced B - Business A - Application P - Programming.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ABAP is a programming language for SAP.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4th generation Language.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ABAP lies on application layer of SAP.</a:t>
            </a:r>
          </a:p>
        </p:txBody>
      </p:sp>
    </p:spTree>
    <p:extLst>
      <p:ext uri="{BB962C8B-B14F-4D97-AF65-F5344CB8AC3E}">
        <p14:creationId xmlns:p14="http://schemas.microsoft.com/office/powerpoint/2010/main" val="357103423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Application Server Architecture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Dispatcher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 Process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 Context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 Area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6C65D2-1132-4745-7E30-B27838370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546" y="1556358"/>
            <a:ext cx="6568263" cy="403860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704818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Dispatcher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requests that come in from presentation servers are directed first to dispatcher.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dispatcher writes them first to the dispatcher queue.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dispatcher pulls the requests from the queue on a first-in, first-out basis.</a:t>
            </a:r>
          </a:p>
        </p:txBody>
      </p:sp>
    </p:spTree>
    <p:extLst>
      <p:ext uri="{BB962C8B-B14F-4D97-AF65-F5344CB8AC3E}">
        <p14:creationId xmlns:p14="http://schemas.microsoft.com/office/powerpoint/2010/main" val="54791474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Work Process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request from the dispatcher is then allocated to the first available work process.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work process handles one request at a time.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work process needs to address two special memory areas - the user context and the program roll area. </a:t>
            </a:r>
          </a:p>
        </p:txBody>
      </p:sp>
    </p:spTree>
    <p:extLst>
      <p:ext uri="{BB962C8B-B14F-4D97-AF65-F5344CB8AC3E}">
        <p14:creationId xmlns:p14="http://schemas.microsoft.com/office/powerpoint/2010/main" val="90918802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User Context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user context is a memory area that contains information about the user.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a user logs on, a user context is allocated for that logon.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a user log off, it is freed.</a:t>
            </a:r>
          </a:p>
        </p:txBody>
      </p:sp>
    </p:spTree>
    <p:extLst>
      <p:ext uri="{BB962C8B-B14F-4D97-AF65-F5344CB8AC3E}">
        <p14:creationId xmlns:p14="http://schemas.microsoft.com/office/powerpoint/2010/main" val="253980100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19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Roll Area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 area is a memory area that contains information about the program execution 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a program runs, a roll area is allocated for that program.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roll area is freed when the program ends.</a:t>
            </a:r>
          </a:p>
        </p:txBody>
      </p:sp>
    </p:spTree>
    <p:extLst>
      <p:ext uri="{BB962C8B-B14F-4D97-AF65-F5344CB8AC3E}">
        <p14:creationId xmlns:p14="http://schemas.microsoft.com/office/powerpoint/2010/main" val="756127358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System Landscape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system landscape consists of 3 systems.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Development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Quality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106925-E112-8665-48B2-7E09C83C6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255" y="2099926"/>
            <a:ext cx="6097554" cy="285750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5156472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Development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used for all developments and configurations.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developments and configurations move from development system to quality system through a mechanism called as transport request.</a:t>
            </a:r>
          </a:p>
        </p:txBody>
      </p:sp>
    </p:spTree>
    <p:extLst>
      <p:ext uri="{BB962C8B-B14F-4D97-AF65-F5344CB8AC3E}">
        <p14:creationId xmlns:p14="http://schemas.microsoft.com/office/powerpoint/2010/main" val="268882154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Quality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testing of all the developments and customizations needs be done in the quality system.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developments and configurations move from quality system to production system through transport request.</a:t>
            </a:r>
          </a:p>
        </p:txBody>
      </p:sp>
    </p:spTree>
    <p:extLst>
      <p:ext uri="{BB962C8B-B14F-4D97-AF65-F5344CB8AC3E}">
        <p14:creationId xmlns:p14="http://schemas.microsoft.com/office/powerpoint/2010/main" val="75010719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Production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also called as live system or customer based system.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Customer runs his business through production system.</a:t>
            </a:r>
          </a:p>
        </p:txBody>
      </p:sp>
    </p:spTree>
    <p:extLst>
      <p:ext uri="{BB962C8B-B14F-4D97-AF65-F5344CB8AC3E}">
        <p14:creationId xmlns:p14="http://schemas.microsoft.com/office/powerpoint/2010/main" val="142401997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GUI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 - Graphical U - User I - Interface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allows end users to use various SAP applications by providing easy to use graphical interface. </a:t>
            </a:r>
          </a:p>
        </p:txBody>
      </p:sp>
    </p:spTree>
    <p:extLst>
      <p:ext uri="{BB962C8B-B14F-4D97-AF65-F5344CB8AC3E}">
        <p14:creationId xmlns:p14="http://schemas.microsoft.com/office/powerpoint/2010/main" val="373612476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SAP GUI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GUI for Windows - SAP GUI for windows is a windows operating system that offers a windows like user experience.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GUI for JAVA - SAP GUI for JAVA environment is written in JAVA and is the platform-independent implementation of SAP GUI. 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GUI for HTML - Consist of Internet Transaction Server (ITS) on the server side and a web browser on the client side.</a:t>
            </a:r>
          </a:p>
        </p:txBody>
      </p:sp>
    </p:spTree>
    <p:extLst>
      <p:ext uri="{BB962C8B-B14F-4D97-AF65-F5344CB8AC3E}">
        <p14:creationId xmlns:p14="http://schemas.microsoft.com/office/powerpoint/2010/main" val="61513937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Logon Configuration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Server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Instance Number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ID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3E49B0-B506-39C9-165D-20DE141BE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910" y="1455075"/>
            <a:ext cx="4627012" cy="4734658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900763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Description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Meaningful description of the SAP system.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case description is not provided, it is a combination of system id and application server.</a:t>
            </a:r>
          </a:p>
        </p:txBody>
      </p:sp>
    </p:spTree>
    <p:extLst>
      <p:ext uri="{BB962C8B-B14F-4D97-AF65-F5344CB8AC3E}">
        <p14:creationId xmlns:p14="http://schemas.microsoft.com/office/powerpoint/2010/main" val="419257869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978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Application Server 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the host name or IP address of the server.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:  Hostname of the server is SAPServer or IP address of the server is XXX.XXX.XX.XX , where X is any number. </a:t>
            </a:r>
          </a:p>
        </p:txBody>
      </p:sp>
    </p:spTree>
    <p:extLst>
      <p:ext uri="{BB962C8B-B14F-4D97-AF65-F5344CB8AC3E}">
        <p14:creationId xmlns:p14="http://schemas.microsoft.com/office/powerpoint/2010/main" val="268224578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29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978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Instance Number 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the instance number of SAP system which is defined during SAP installation.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of 2 characters long.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varies from 00 to 99. </a:t>
            </a:r>
          </a:p>
        </p:txBody>
      </p:sp>
    </p:spTree>
    <p:extLst>
      <p:ext uri="{BB962C8B-B14F-4D97-AF65-F5344CB8AC3E}">
        <p14:creationId xmlns:p14="http://schemas.microsoft.com/office/powerpoint/2010/main" val="385924663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978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System ID 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ID is a unique identification code for every SAP system which is defined during SAP Installation.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of 3 characters long.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- A4H, S4H etc.</a:t>
            </a:r>
          </a:p>
        </p:txBody>
      </p:sp>
    </p:spTree>
    <p:extLst>
      <p:ext uri="{BB962C8B-B14F-4D97-AF65-F5344CB8AC3E}">
        <p14:creationId xmlns:p14="http://schemas.microsoft.com/office/powerpoint/2010/main" val="41854541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Logging on to SAP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fr-FR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Client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fr-FR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fr-FR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Password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fr-FR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Logon Language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C95142-D7E8-9F15-B0BC-53228EE0F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818" y="1673456"/>
            <a:ext cx="4550734" cy="280325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8533105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Client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the client number of SAP system which appears in the client field on the logon screen.</a:t>
            </a:r>
          </a:p>
        </p:txBody>
      </p:sp>
    </p:spTree>
    <p:extLst>
      <p:ext uri="{BB962C8B-B14F-4D97-AF65-F5344CB8AC3E}">
        <p14:creationId xmlns:p14="http://schemas.microsoft.com/office/powerpoint/2010/main" val="4286365642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SAP is a user-based license agreement, valid credentials are required to logging on to SAP.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Enter the user id provided by the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142800560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Password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Enter the default password provided by the administrator for the first time login.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entering the default password, system prompts for the new password and confirm password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time, login with the new password.</a:t>
            </a:r>
          </a:p>
        </p:txBody>
      </p:sp>
    </p:spTree>
    <p:extLst>
      <p:ext uri="{BB962C8B-B14F-4D97-AF65-F5344CB8AC3E}">
        <p14:creationId xmlns:p14="http://schemas.microsoft.com/office/powerpoint/2010/main" val="2701466325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Language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SAP is multi-lingual software, one needs to provide the logon language.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default, one language appears, one can change the logon language depends upon the requirement. </a:t>
            </a:r>
          </a:p>
        </p:txBody>
      </p:sp>
    </p:spTree>
    <p:extLst>
      <p:ext uri="{BB962C8B-B14F-4D97-AF65-F5344CB8AC3E}">
        <p14:creationId xmlns:p14="http://schemas.microsoft.com/office/powerpoint/2010/main" val="976308656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Features of SAP GUI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single face GUI for accessing all SAP applications such as ERP(Enterprise resource planning), CRM(Customer Relationship Management), SAP SRM(Supply Relationship Management), PI(Process Integration)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Users are allowed to login with their preferred language, as the same GUI can be used in different languages.</a:t>
            </a:r>
          </a:p>
        </p:txBody>
      </p:sp>
    </p:spTree>
    <p:extLst>
      <p:ext uri="{BB962C8B-B14F-4D97-AF65-F5344CB8AC3E}">
        <p14:creationId xmlns:p14="http://schemas.microsoft.com/office/powerpoint/2010/main" val="4091718391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Features of SAP GUI(Contd.)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contains user parameters that are defined for more frequently keyed inputs. This enables the automatic population of text , based on specific user logins. This in result, reduces the percentage of user inputs in real time.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SAP GUI allows to configure GUI font size, colors, logos, custom layouts etc.</a:t>
            </a:r>
          </a:p>
        </p:txBody>
      </p:sp>
    </p:spTree>
    <p:extLst>
      <p:ext uri="{BB962C8B-B14F-4D97-AF65-F5344CB8AC3E}">
        <p14:creationId xmlns:p14="http://schemas.microsoft.com/office/powerpoint/2010/main" val="98125969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Elements of SAP GUI(Parts of SAP GUI)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Menu Bar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Toolbar(Function Keys)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 Bar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 Bar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 Toolbar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Screen Area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Status Bar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6894BF-A651-6414-1B7D-4DDE1CCF1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366" y="1530305"/>
            <a:ext cx="6514214" cy="459105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74879454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39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Menu Bar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menu bar appears on the top of every SAP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menu bar changes from screen to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and help menus are always available on every screen.</a:t>
            </a:r>
          </a:p>
        </p:txBody>
      </p:sp>
    </p:spTree>
    <p:extLst>
      <p:ext uri="{BB962C8B-B14F-4D97-AF65-F5344CB8AC3E}">
        <p14:creationId xmlns:p14="http://schemas.microsoft.com/office/powerpoint/2010/main" val="379290419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Standard Toolbar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standard toolbar is located below the menu bar.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standard toolbar buttons are also called as function keys.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548747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Command Bar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 bar is used to enter the transaction codes.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Command bar can be opened and closed by using the icon on the right of the command bar.</a:t>
            </a:r>
          </a:p>
        </p:txBody>
      </p:sp>
    </p:spTree>
    <p:extLst>
      <p:ext uri="{BB962C8B-B14F-4D97-AF65-F5344CB8AC3E}">
        <p14:creationId xmlns:p14="http://schemas.microsoft.com/office/powerpoint/2010/main" val="358759505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Title Bar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between the standard toolbar and the application toolbar lies the title bar.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used to display the name of the screen or application you are accessing.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 bar is dynamic and changes from application to application.</a:t>
            </a:r>
          </a:p>
        </p:txBody>
      </p:sp>
    </p:spTree>
    <p:extLst>
      <p:ext uri="{BB962C8B-B14F-4D97-AF65-F5344CB8AC3E}">
        <p14:creationId xmlns:p14="http://schemas.microsoft.com/office/powerpoint/2010/main" val="366327743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Application Toolbar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application toolbar is located directly below the title bar.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contains buttons that duplicate functions available from the menu bar, but provides quicker access to some of the most commonly used functions for the current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buttons available in the application toolbar changes from application to application</a:t>
            </a:r>
          </a:p>
        </p:txBody>
      </p:sp>
    </p:spTree>
    <p:extLst>
      <p:ext uri="{BB962C8B-B14F-4D97-AF65-F5344CB8AC3E}">
        <p14:creationId xmlns:p14="http://schemas.microsoft.com/office/powerpoint/2010/main" val="1200211182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Screen Area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screen area of  SAP GUI is the area where the actual application is displayed.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consists of layout elements like - buttons, input fields, radio buttons, checkboxes etc.</a:t>
            </a:r>
          </a:p>
        </p:txBody>
      </p:sp>
    </p:spTree>
    <p:extLst>
      <p:ext uri="{BB962C8B-B14F-4D97-AF65-F5344CB8AC3E}">
        <p14:creationId xmlns:p14="http://schemas.microsoft.com/office/powerpoint/2010/main" val="2769808988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Status Bar 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status bar is located at the bottom of the SAP screen.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displays important messages such as errors and completion of transactions.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also displays the session information also such as system, client, user, program, transaction etc. </a:t>
            </a:r>
          </a:p>
        </p:txBody>
      </p:sp>
    </p:spTree>
    <p:extLst>
      <p:ext uri="{BB962C8B-B14F-4D97-AF65-F5344CB8AC3E}">
        <p14:creationId xmlns:p14="http://schemas.microsoft.com/office/powerpoint/2010/main" val="3336883247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Easy Access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logging in to SAP system through GUI, the first screen that appears on system is SAP Easy Access.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user specific point of entry.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also called as SAP User Menu.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user menu contains only those items that are required to perform daily tasks such as transactions, reports etc.</a:t>
            </a:r>
          </a:p>
        </p:txBody>
      </p:sp>
    </p:spTree>
    <p:extLst>
      <p:ext uri="{BB962C8B-B14F-4D97-AF65-F5344CB8AC3E}">
        <p14:creationId xmlns:p14="http://schemas.microsoft.com/office/powerpoint/2010/main" val="775740179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Easy Access - Adding Existing Item as Favorite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Choose the existing item from the User Menu.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Click on Favorites - Add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103159-A9C0-9177-8C33-F0C21F9FE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154" y="2085959"/>
            <a:ext cx="4976426" cy="317182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49146529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Easy Access - Adding New Item as Favorite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Click on Favorites - Insert transaction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611792-D93F-C5C5-3BE4-1266AB3F2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487" y="1509715"/>
            <a:ext cx="4213314" cy="3357673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87931240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49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ABAP Workbench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ABAP workbench is a collection of ABAP tools.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: ABAP Dictionary , ABAP Editor , Function Builder , Class Builder etc.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can access the ABAP workbench tools through transaction code.</a:t>
            </a:r>
          </a:p>
        </p:txBody>
      </p:sp>
    </p:spTree>
    <p:extLst>
      <p:ext uri="{BB962C8B-B14F-4D97-AF65-F5344CB8AC3E}">
        <p14:creationId xmlns:p14="http://schemas.microsoft.com/office/powerpoint/2010/main" val="2097159305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Transaction Code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is a shortcut to access the ABAP workbench tools(different applications) in SAP.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:  SE11 - ABAP Dictionary , SE38 - ABAP Editor , SE37 - Function Builder , SE24 -  Class Builder etc.</a:t>
            </a:r>
          </a:p>
        </p:txBody>
      </p:sp>
    </p:spTree>
    <p:extLst>
      <p:ext uri="{BB962C8B-B14F-4D97-AF65-F5344CB8AC3E}">
        <p14:creationId xmlns:p14="http://schemas.microsoft.com/office/powerpoint/2010/main" val="94138031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Transaction Code(Contd.)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/nxxxx - To call transaction xxxx( override the existing session)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/oxxxx - To call transaction xxxx in a new session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/n -        To cancel a session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/o -        Display on overview of sessions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 point :  A user can open a maximum of 6 sessions.</a:t>
            </a:r>
          </a:p>
        </p:txBody>
      </p:sp>
    </p:spTree>
    <p:extLst>
      <p:ext uri="{BB962C8B-B14F-4D97-AF65-F5344CB8AC3E}">
        <p14:creationId xmlns:p14="http://schemas.microsoft.com/office/powerpoint/2010/main" val="4143926741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Log Off From SAP System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fr-FR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- Logoff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fr-FR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- /nend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fr-FR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- /nex </a:t>
            </a:r>
            <a:endParaRPr 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D6C062-13CB-8242-7E9D-921D4E1EB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83" y="1567764"/>
            <a:ext cx="5130318" cy="3199888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32394737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Difference Between /nend &amp; /nex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/nend - Before log off , one confirmation pop-up appears.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/nex -  Log off from SAP without confirmation pop-up. </a:t>
            </a:r>
          </a:p>
        </p:txBody>
      </p:sp>
    </p:spTree>
    <p:extLst>
      <p:ext uri="{BB962C8B-B14F-4D97-AF65-F5344CB8AC3E}">
        <p14:creationId xmlns:p14="http://schemas.microsoft.com/office/powerpoint/2010/main" val="225334825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F1 Help in SAP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F1 help is also called as technical information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help.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provides the technical Information of any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field/column.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get the technical help of any field, press F1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on that particular field.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6C4F7B-9621-11A0-8CA3-59CC467A1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909" y="1535430"/>
            <a:ext cx="4861900" cy="37871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43535784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F4 Help in SAP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F4 help is also called as value help.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provides the various possible values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any field/column.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get the possible inputs for any field,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press F4 on that particular field.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C88E0-A485-5A41-E790-8DD768DE2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860" y="1624831"/>
            <a:ext cx="5522949" cy="2767183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80408985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Identifying SAP Objects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Specific objects name starts with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other  than Z or Y.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example shown - the table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name is VBAK , which is not starting 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with Z or 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EFA01-D333-A98C-0800-3E160F504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11242"/>
            <a:ext cx="5991874" cy="3797033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7544807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Identifying Customizing Objects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Customizing objects name start with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Z or Y.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example shown - the table name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is ZEMPLOYEES , which is starting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with Z.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B7521A-90B7-97D7-1A3F-776B90D51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553" y="1658380"/>
            <a:ext cx="5842256" cy="2891549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90417390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Concept of Header and Item Information in SAP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every business process, header and item information plays an important role.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 information is the information applicable to whole document.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Item information is applicable to specific line of a document.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Header information stores in to header tables.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Item information stores in to item tables. </a:t>
            </a:r>
          </a:p>
        </p:txBody>
      </p:sp>
    </p:spTree>
    <p:extLst>
      <p:ext uri="{BB962C8B-B14F-4D97-AF65-F5344CB8AC3E}">
        <p14:creationId xmlns:p14="http://schemas.microsoft.com/office/powerpoint/2010/main" val="2001587071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59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Concept of Header and Item Information in SAP 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the example - header information is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customer name, time, date, mode of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payment, bill number.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item information is item number,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description and amount.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F4D919-1C1D-A738-ECF7-0E017CCF9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939" y="1519237"/>
            <a:ext cx="4891641" cy="381952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86328707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Standard Tables and Transaction Codes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provided the standard transaction codes to perform the various business process.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data for that particular business process is getting stored in to SAP standard tables.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- To create a sales order, the standard transaction code is VA01 and the data stores in to VBAK(Sales document header) &amp; VBAP(Sales document item) tables.</a:t>
            </a:r>
          </a:p>
        </p:txBody>
      </p:sp>
    </p:spTree>
    <p:extLst>
      <p:ext uri="{BB962C8B-B14F-4D97-AF65-F5344CB8AC3E}">
        <p14:creationId xmlns:p14="http://schemas.microsoft.com/office/powerpoint/2010/main" val="3542661120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Standard Tables and Transaction Codes - MM Module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create material - MM01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change material - MM02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display material - MM03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Tables - MARA(Material data), MAKT(Material description), MARC(Plant data for material).</a:t>
            </a:r>
          </a:p>
        </p:txBody>
      </p:sp>
    </p:spTree>
    <p:extLst>
      <p:ext uri="{BB962C8B-B14F-4D97-AF65-F5344CB8AC3E}">
        <p14:creationId xmlns:p14="http://schemas.microsoft.com/office/powerpoint/2010/main" val="2706961431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Standard Tables and Transaction Codes - SD Module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create sales order - VA01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change sales order - VA02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display sales order - VA03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Tables -  VBAK(Sales document header), VBAP(Sales document item)</a:t>
            </a:r>
          </a:p>
        </p:txBody>
      </p:sp>
    </p:spTree>
    <p:extLst>
      <p:ext uri="{BB962C8B-B14F-4D97-AF65-F5344CB8AC3E}">
        <p14:creationId xmlns:p14="http://schemas.microsoft.com/office/powerpoint/2010/main" val="4258454058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Standard Tables and Transaction Codes - SD Module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for billing document creation - VF01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for billing document change - VF02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for billing document display - VF03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Tables - VBRK(Billing document header), VBRP(Billing document item)</a:t>
            </a:r>
          </a:p>
        </p:txBody>
      </p:sp>
    </p:spTree>
    <p:extLst>
      <p:ext uri="{BB962C8B-B14F-4D97-AF65-F5344CB8AC3E}">
        <p14:creationId xmlns:p14="http://schemas.microsoft.com/office/powerpoint/2010/main" val="1281759791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Standard Tables and Transaction Codes - FICO Module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create accounting document - FB01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change accounting document - FB02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Transaction code to display accounting document - FB03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Tables - BKPF(Accounting document header), BSEG(Accounting document item)</a:t>
            </a:r>
          </a:p>
        </p:txBody>
      </p:sp>
    </p:spTree>
    <p:extLst>
      <p:ext uri="{BB962C8B-B14F-4D97-AF65-F5344CB8AC3E}">
        <p14:creationId xmlns:p14="http://schemas.microsoft.com/office/powerpoint/2010/main" val="4162618469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Concept of Object Navigator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IN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object navigator is a central point of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IN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entry to the ABAP workbench.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IN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 can navigate to any workbench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IN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object through object navigator.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IN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transaction code for object navigator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IN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is SE80.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2142F-8E86-37E9-C3EE-DA96ED4D9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06" y="1597758"/>
            <a:ext cx="5560003" cy="338137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3145721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Concept of Package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 SAP, every object stored in to a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package.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package is a container for  the objects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like tables, structures, programs etc.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package for local objects is $TMP.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transaction code to create a package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is SE21.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8850A3-9715-BE1D-A284-64C399C4F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749" y="1547812"/>
            <a:ext cx="5183831" cy="376237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39848910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Concept of Transport Request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Transport request is a mechanism to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transport the objects from one system to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another system.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 objects can never be transported.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transport the workbench objects, 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one needs to create a workbench request.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transaction code to create a transport request is SE09.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4CA44-6E96-B6EE-9B56-A067E1BA7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460" y="1415749"/>
            <a:ext cx="5121349" cy="4026502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18096661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68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Projects in SAP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 are 4 types of projects in SAP.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Upgrade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 out</a:t>
            </a:r>
          </a:p>
        </p:txBody>
      </p:sp>
    </p:spTree>
    <p:extLst>
      <p:ext uri="{BB962C8B-B14F-4D97-AF65-F5344CB8AC3E}">
        <p14:creationId xmlns:p14="http://schemas.microsoft.com/office/powerpoint/2010/main" val="2843528149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69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Projects in SAP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Implementation - In these types of projects, Customer is implementing SAP for the first time.  All Legacy system data needs to be migrated to the SAP system.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 - It is also called as Maintenance project. Customer is running his business through SAP. Customer requires support for the daily issues, tickets, and new change requests (CR).</a:t>
            </a:r>
          </a:p>
        </p:txBody>
      </p:sp>
    </p:spTree>
    <p:extLst>
      <p:ext uri="{BB962C8B-B14F-4D97-AF65-F5344CB8AC3E}">
        <p14:creationId xmlns:p14="http://schemas.microsoft.com/office/powerpoint/2010/main" val="1066813579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70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Types of Projects in SAP(Contd.)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3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Upgrade: In this type of project, customer is moving from older version of SAP to higher version of SAP.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 typeface="+mj-lt"/>
              <a:buAutoNum type="arabicPeriod" startAt="3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Roll out: In this type of project, the existing SAP system is going to implement for different countries/region.</a:t>
            </a:r>
          </a:p>
        </p:txBody>
      </p:sp>
    </p:spTree>
    <p:extLst>
      <p:ext uri="{BB962C8B-B14F-4D97-AF65-F5344CB8AC3E}">
        <p14:creationId xmlns:p14="http://schemas.microsoft.com/office/powerpoint/2010/main" val="1447601560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71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RICEFW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another name for RICEFW is WRICEF.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technical objects are divided in to 6 </a:t>
            </a:r>
            <a:r>
              <a:rPr lang="en-US" altLang="en-US" sz="240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 categories.</a:t>
            </a: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 - Reports , I - Interfaces ,  C - Conversion , E - Enhancements , F - Forms , W - Workflow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the business requirement cannot be fulfilled by standard SAP functionalities, then we require a RICEFW.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requirements which cannot be satisfied by standard SAP application are called gaps.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Based on the category of the gap, objects are created in the form of a RICEFW item.</a:t>
            </a:r>
          </a:p>
        </p:txBody>
      </p:sp>
    </p:spTree>
    <p:extLst>
      <p:ext uri="{BB962C8B-B14F-4D97-AF65-F5344CB8AC3E}">
        <p14:creationId xmlns:p14="http://schemas.microsoft.com/office/powerpoint/2010/main" val="1430418432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72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R - Reports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94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Reports are used to display of information in the required format.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 business requirement cannot be fulfilled by standard SAP reports, then we develop custom reports based upon the customer requirement.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various report formats are classical reports, ALV reports etc.</a:t>
            </a:r>
          </a:p>
        </p:txBody>
      </p:sp>
    </p:spTree>
    <p:extLst>
      <p:ext uri="{BB962C8B-B14F-4D97-AF65-F5344CB8AC3E}">
        <p14:creationId xmlns:p14="http://schemas.microsoft.com/office/powerpoint/2010/main" val="3177017240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73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I - Interfaces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220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Interfaces are used to transfer the data from Non-SAP to SAP , SAP to Non-SAP, SAP to SAP.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various cross applications like BAPI, RFC, IDOC’s are the example of interfaces.</a:t>
            </a:r>
          </a:p>
        </p:txBody>
      </p:sp>
    </p:spTree>
    <p:extLst>
      <p:ext uri="{BB962C8B-B14F-4D97-AF65-F5344CB8AC3E}">
        <p14:creationId xmlns:p14="http://schemas.microsoft.com/office/powerpoint/2010/main" val="1817919265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74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 </a:t>
            </a:r>
            <a:r>
              <a:rPr lang="en-US" sz="3200">
                <a:latin typeface="Calibri" panose="020F0502020204030204" pitchFamily="34" charset="0"/>
                <a:cs typeface="Calibri" panose="020F0502020204030204" pitchFamily="34" charset="0"/>
              </a:rPr>
              <a:t>- Conversion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5159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process of converting data from one form to another is called as conversion.</a:t>
            </a:r>
            <a:endParaRPr 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the customer is implementing SAP for the first time, all Legacy system(Non-SAP) system data needs to be migrated to the SAP system.</a:t>
            </a:r>
            <a:endParaRPr lang="en-US" altLang="en-US" sz="2400" dirty="0">
              <a:solidFill>
                <a:srgbClr val="3B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upload the data in the SAP system the data needs to be converted from one form to another as per the system requirement. 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conversion, the data is uploaded into the SAP system by making use of the various data migration tools or techniques like BDC, LSMW, BAPI etc.</a:t>
            </a:r>
          </a:p>
        </p:txBody>
      </p:sp>
    </p:spTree>
    <p:extLst>
      <p:ext uri="{BB962C8B-B14F-4D97-AF65-F5344CB8AC3E}">
        <p14:creationId xmlns:p14="http://schemas.microsoft.com/office/powerpoint/2010/main" val="1038114876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75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 - Enhancements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process of adding our own functionality to SAP standard functionality is called as enhancements.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 business requirement cannot be satisfied by standard SAP functionality, then we add our own functionality to the SAP standard functionality.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various enhancements techniques are - Implicit and explicit enhancements, customer exit, BADI etc.</a:t>
            </a:r>
          </a:p>
        </p:txBody>
      </p:sp>
    </p:spTree>
    <p:extLst>
      <p:ext uri="{BB962C8B-B14F-4D97-AF65-F5344CB8AC3E}">
        <p14:creationId xmlns:p14="http://schemas.microsoft.com/office/powerpoint/2010/main" val="2025388341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76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 - Forms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3682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Forms are layouts in SAP.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 business requirement cannot be satisfied by standard layouts, then we create our own custom layouts.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design layouts in SAP by using the various tools like smartforms, adobe forms(PDF forms), SAP Scripts.</a:t>
            </a:r>
          </a:p>
        </p:txBody>
      </p:sp>
    </p:spTree>
    <p:extLst>
      <p:ext uri="{BB962C8B-B14F-4D97-AF65-F5344CB8AC3E}">
        <p14:creationId xmlns:p14="http://schemas.microsoft.com/office/powerpoint/2010/main" val="2739636831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77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 - Workflow</a:t>
            </a:r>
          </a:p>
        </p:txBody>
      </p:sp>
      <p:sp>
        <p:nvSpPr>
          <p:cNvPr id="208" name="Straight Connector 18"/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4420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Workflow is the flowing of data from one level to another level.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every level, one or more actions are required.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- When we apply leave in the system, it goes in to workflow of our supervisor to approve or reject that leave.</a:t>
            </a:r>
          </a:p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the business requirement cannot be satisfied by SAP standard workflow, then it results into creation of custom workflow.</a:t>
            </a:r>
          </a:p>
        </p:txBody>
      </p:sp>
    </p:spTree>
    <p:extLst>
      <p:ext uri="{BB962C8B-B14F-4D97-AF65-F5344CB8AC3E}">
        <p14:creationId xmlns:p14="http://schemas.microsoft.com/office/powerpoint/2010/main" val="3204979424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44DA1-BA3B-F168-8DB5-B018CD46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>
            <a:extLst>
              <a:ext uri="{FF2B5EF4-FFF2-40B4-BE49-F238E27FC236}">
                <a16:creationId xmlns:a16="http://schemas.microsoft.com/office/drawing/2014/main" id="{0C3C47F2-946E-E8D0-60BF-993A774237D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78</a:t>
            </a:fld>
            <a:endParaRPr dirty="0"/>
          </a:p>
        </p:txBody>
      </p:sp>
      <p:sp>
        <p:nvSpPr>
          <p:cNvPr id="207" name="TextBox 17">
            <a:extLst>
              <a:ext uri="{FF2B5EF4-FFF2-40B4-BE49-F238E27FC236}">
                <a16:creationId xmlns:a16="http://schemas.microsoft.com/office/drawing/2014/main" id="{1738BA2D-AA78-EC0F-AF0C-546A295C4BCA}"/>
              </a:ext>
            </a:extLst>
          </p:cNvPr>
          <p:cNvSpPr txBox="1"/>
          <p:nvPr/>
        </p:nvSpPr>
        <p:spPr>
          <a:xfrm>
            <a:off x="443160" y="357542"/>
            <a:ext cx="10851392" cy="535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Comparison of ECC , SOH and S4H Systems</a:t>
            </a:r>
          </a:p>
        </p:txBody>
      </p:sp>
      <p:sp>
        <p:nvSpPr>
          <p:cNvPr id="208" name="Straight Connector 18">
            <a:extLst>
              <a:ext uri="{FF2B5EF4-FFF2-40B4-BE49-F238E27FC236}">
                <a16:creationId xmlns:a16="http://schemas.microsoft.com/office/drawing/2014/main" id="{4BCA7886-64E9-E5BA-7695-486920FF286F}"/>
              </a:ext>
            </a:extLst>
          </p:cNvPr>
          <p:cNvSpPr/>
          <p:nvPr/>
        </p:nvSpPr>
        <p:spPr>
          <a:xfrm flipH="1" flipV="1">
            <a:off x="369419" y="1059212"/>
            <a:ext cx="11453161" cy="1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  <p:sp>
        <p:nvSpPr>
          <p:cNvPr id="209" name="TextBox 7">
            <a:extLst>
              <a:ext uri="{FF2B5EF4-FFF2-40B4-BE49-F238E27FC236}">
                <a16:creationId xmlns:a16="http://schemas.microsoft.com/office/drawing/2014/main" id="{C0FB603E-C370-E482-01BB-50BE271B0416}"/>
              </a:ext>
            </a:extLst>
          </p:cNvPr>
          <p:cNvSpPr txBox="1"/>
          <p:nvPr/>
        </p:nvSpPr>
        <p:spPr>
          <a:xfrm>
            <a:off x="14244" y="1263042"/>
            <a:ext cx="11935565" cy="1466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marL="914400" lvl="1" indent="-457200">
              <a:lnSpc>
                <a:spcPct val="200000"/>
              </a:lnSpc>
              <a:buClr>
                <a:srgbClr val="73C96C"/>
              </a:buClr>
              <a:buSzPct val="100000"/>
              <a:buFontTx/>
              <a:buChar char="▪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the attached sheet for the detailed comparison of ECC , SOH and S4H systems.</a:t>
            </a:r>
          </a:p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3B3838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rPr lang="en-US" altLang="en-US" sz="2400" dirty="0">
                <a:solidFill>
                  <a:srgbClr val="3B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                                   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4779D78-7041-56FE-5EAC-91B51D094F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064918"/>
              </p:ext>
            </p:extLst>
          </p:nvPr>
        </p:nvGraphicFramePr>
        <p:xfrm>
          <a:off x="4425820" y="249280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92685" progId="Excel.Sheet.12">
                  <p:embed/>
                </p:oleObj>
              </mc:Choice>
              <mc:Fallback>
                <p:oleObj name="Worksheet" showAsIcon="1" r:id="rId3" imgW="914400" imgH="7926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5820" y="2492801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9734213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11146671" y="6388617"/>
            <a:ext cx="207130" cy="300594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sz="1600"/>
            </a:lvl1pPr>
          </a:lstStyle>
          <a:p>
            <a:fld id="{86CB4B4D-7CA3-9044-876B-883B54F8677D}" type="slidenum">
              <a:rPr/>
              <a:t>79</a:t>
            </a:fld>
            <a:endParaRPr dirty="0"/>
          </a:p>
        </p:txBody>
      </p:sp>
      <p:sp>
        <p:nvSpPr>
          <p:cNvPr id="207" name="TextBox 17"/>
          <p:cNvSpPr txBox="1"/>
          <p:nvPr/>
        </p:nvSpPr>
        <p:spPr>
          <a:xfrm>
            <a:off x="2020186" y="2460208"/>
            <a:ext cx="68473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2800" b="1">
                <a:solidFill>
                  <a:srgbClr val="0E5AE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r>
              <a:rPr lang="en-IN" sz="36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</a:t>
            </a:r>
            <a:r>
              <a:rPr lang="en-IN" sz="40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9" name="TextBox 7"/>
          <p:cNvSpPr txBox="1"/>
          <p:nvPr/>
        </p:nvSpPr>
        <p:spPr>
          <a:xfrm>
            <a:off x="14244" y="1263042"/>
            <a:ext cx="11935565" cy="716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457200" lvl="1" indent="0">
              <a:lnSpc>
                <a:spcPct val="200000"/>
              </a:lnSpc>
              <a:buClr>
                <a:srgbClr val="73C96C"/>
              </a:buClr>
              <a:buSzPct val="100000"/>
              <a:defRPr sz="2400">
                <a:solidFill>
                  <a:srgbClr val="1F4E79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endParaRPr lang="en-IN" dirty="0"/>
          </a:p>
        </p:txBody>
      </p:sp>
      <p:sp>
        <p:nvSpPr>
          <p:cNvPr id="3" name="Straight Connector 18">
            <a:extLst>
              <a:ext uri="{FF2B5EF4-FFF2-40B4-BE49-F238E27FC236}">
                <a16:creationId xmlns:a16="http://schemas.microsoft.com/office/drawing/2014/main" id="{4DBA8D6F-AFF4-8D71-2B02-737781787B1E}"/>
              </a:ext>
            </a:extLst>
          </p:cNvPr>
          <p:cNvSpPr/>
          <p:nvPr/>
        </p:nvSpPr>
        <p:spPr>
          <a:xfrm flipH="1" flipV="1">
            <a:off x="191386" y="3168502"/>
            <a:ext cx="11758422" cy="53162"/>
          </a:xfrm>
          <a:prstGeom prst="line">
            <a:avLst/>
          </a:prstGeom>
          <a:ln w="69850" cap="rnd">
            <a:solidFill>
              <a:srgbClr val="8ED656"/>
            </a:solidFill>
            <a:miter/>
          </a:ln>
        </p:spPr>
        <p:txBody>
          <a:bodyPr lIns="45719" rIns="45719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752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4163</TotalTime>
  <Words>3207</Words>
  <Application>Microsoft Office PowerPoint</Application>
  <PresentationFormat>Widescreen</PresentationFormat>
  <Paragraphs>419</Paragraphs>
  <Slides>79</Slides>
  <Notes>79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Arial</vt:lpstr>
      <vt:lpstr>Calibri</vt:lpstr>
      <vt:lpstr>Calibri Light</vt:lpstr>
      <vt:lpstr>Office Theme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Rahul Mehta</dc:creator>
  <cp:lastModifiedBy>Rahul Mehta</cp:lastModifiedBy>
  <cp:revision>1813</cp:revision>
  <dcterms:modified xsi:type="dcterms:W3CDTF">2024-12-12T11:32:04Z</dcterms:modified>
</cp:coreProperties>
</file>