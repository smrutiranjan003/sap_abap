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1.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259" r:id="rId2"/>
    <p:sldId id="988" r:id="rId3"/>
    <p:sldId id="1047" r:id="rId4"/>
    <p:sldId id="1001" r:id="rId5"/>
    <p:sldId id="1003" r:id="rId6"/>
    <p:sldId id="989" r:id="rId7"/>
    <p:sldId id="990" r:id="rId8"/>
    <p:sldId id="991" r:id="rId9"/>
    <p:sldId id="992" r:id="rId10"/>
    <p:sldId id="993" r:id="rId11"/>
    <p:sldId id="994" r:id="rId12"/>
    <p:sldId id="1028" r:id="rId13"/>
    <p:sldId id="1029" r:id="rId14"/>
    <p:sldId id="1032" r:id="rId15"/>
    <p:sldId id="1030" r:id="rId16"/>
    <p:sldId id="1031" r:id="rId17"/>
    <p:sldId id="1033" r:id="rId18"/>
    <p:sldId id="1035" r:id="rId19"/>
    <p:sldId id="996" r:id="rId20"/>
    <p:sldId id="1036" r:id="rId21"/>
    <p:sldId id="1040" r:id="rId22"/>
    <p:sldId id="1038" r:id="rId23"/>
    <p:sldId id="1043" r:id="rId24"/>
    <p:sldId id="1044" r:id="rId25"/>
    <p:sldId id="1041" r:id="rId26"/>
    <p:sldId id="1037" r:id="rId27"/>
    <p:sldId id="1046" r:id="rId28"/>
    <p:sldId id="1045" r:id="rId29"/>
    <p:sldId id="908" r:id="rId30"/>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hul Mehta" initials="RM" lastIdx="2" clrIdx="0">
    <p:extLst>
      <p:ext uri="{19B8F6BF-5375-455C-9EA6-DF929625EA0E}">
        <p15:presenceInfo xmlns:p15="http://schemas.microsoft.com/office/powerpoint/2012/main" userId="933d9a34e87d859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18" autoAdjust="0"/>
    <p:restoredTop sz="86409" autoAdjust="0"/>
  </p:normalViewPr>
  <p:slideViewPr>
    <p:cSldViewPr snapToGrid="0">
      <p:cViewPr varScale="1">
        <p:scale>
          <a:sx n="73" d="100"/>
          <a:sy n="73" d="100"/>
        </p:scale>
        <p:origin x="1152" y="72"/>
      </p:cViewPr>
      <p:guideLst/>
    </p:cSldViewPr>
  </p:slideViewPr>
  <p:outlineViewPr>
    <p:cViewPr>
      <p:scale>
        <a:sx n="33" d="100"/>
        <a:sy n="33" d="100"/>
      </p:scale>
      <p:origin x="0" y="-6749"/>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 name="Shape 92"/>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93" name="Shape 93"/>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96631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72827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ECC36-AFC9-91D0-3337-6E9435C55E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BB25EE-1037-1252-6A18-0B02E7D77A2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B2B84A6-2214-9D47-DAAE-FC064FFE17E9}"/>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1974271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667917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204086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9971651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3702945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116802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1432134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2220157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2589830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041884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4228870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7276433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209880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8524688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7918844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354578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9508337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916900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420A8-C6C6-7A59-49D9-E96101B3A9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C9E817-EA59-BD7D-5BBE-54F9E9EEDCA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8D85A8C-D172-5A3A-DAAF-274411F3C33C}"/>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1386497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D889F-ACB2-6904-D931-A6F26FB420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1E26BD-A853-5538-CA39-DA829F04EE7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E005AC1-DA27-0D26-F920-354BDDA73B49}"/>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9468522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85259-3771-01D0-04CC-E377FC1E55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F281F6-CA17-6917-3582-F48A8E602BE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8A52FB0-3D5F-D13A-7532-811A86BE709A}"/>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0183148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C482F-4600-FA2B-BCDA-1BD1FFE04E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58B978-EF6B-FE87-931C-ECF6D784AB3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3AF3EEB-60F4-C692-0D0A-FBF56931F88A}"/>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9111625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5C543-7CFA-7154-789C-044AFA8636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8D6DA1-9144-20EE-6A12-74C6402A2F2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9820D60-B6E1-EF36-5CE6-AC455D16B49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1056342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108C8-4E6A-2AA3-C29C-8B454E5CC6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B1AE70-6C49-680B-BD94-51BB7BD041B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432FCA0-4630-A758-2DA6-18A41104F7D8}"/>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946415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1DA79-8E31-FF5E-AA9E-66F37B5370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324E9F-C584-552E-9E78-6CD513408CA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C5EB75E-78E0-7C61-978A-83FD73C2F83F}"/>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7707666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AE390-0D08-C693-D88E-1C0ADE4CB8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4943D7-2C33-2AF7-C9D9-3D27E7AE7A5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37CF3AE-96A4-53F4-706D-F2F1ED5D0E5B}"/>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2567515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97586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1" name="Title Text"/>
          <p:cNvSpPr txBox="1">
            <a:spLocks noGrp="1"/>
          </p:cNvSpPr>
          <p:nvPr>
            <p:ph type="title"/>
          </p:nvPr>
        </p:nvSpPr>
        <p:spPr>
          <a:prstGeom prst="rect">
            <a:avLst/>
          </a:prstGeom>
        </p:spPr>
        <p:txBody>
          <a:bodyPr/>
          <a:lstStyle/>
          <a:p>
            <a:r>
              <a:t>Title Text</a:t>
            </a:r>
          </a:p>
        </p:txBody>
      </p:sp>
      <p:sp>
        <p:nvSpPr>
          <p:cNvPr id="22"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831852" y="1709738"/>
            <a:ext cx="10515601" cy="2852737"/>
          </a:xfrm>
          <a:prstGeom prst="rect">
            <a:avLst/>
          </a:prstGeom>
        </p:spPr>
        <p:txBody>
          <a:bodyPr anchor="b"/>
          <a:lstStyle>
            <a:lvl1pPr>
              <a:defRPr sz="6000"/>
            </a:lvl1pPr>
          </a:lstStyle>
          <a:p>
            <a:r>
              <a:t>Title Text</a:t>
            </a:r>
          </a:p>
        </p:txBody>
      </p:sp>
      <p:sp>
        <p:nvSpPr>
          <p:cNvPr id="31" name="Body Level One…"/>
          <p:cNvSpPr txBox="1">
            <a:spLocks noGrp="1"/>
          </p:cNvSpPr>
          <p:nvPr>
            <p:ph type="body" sz="quarter" idx="1"/>
          </p:nvPr>
        </p:nvSpPr>
        <p:spPr>
          <a:xfrm>
            <a:off x="831852" y="4589464"/>
            <a:ext cx="10515601" cy="1500188"/>
          </a:xfrm>
          <a:prstGeom prst="rect">
            <a:avLst/>
          </a:prstGeom>
        </p:spPr>
        <p:txBody>
          <a:bodyPr/>
          <a:lstStyle>
            <a:lvl1pPr marL="0" indent="0">
              <a:buSzTx/>
              <a:buFontTx/>
              <a:buNone/>
              <a:defRPr sz="2400">
                <a:solidFill>
                  <a:srgbClr val="888888"/>
                </a:solidFill>
              </a:defRPr>
            </a:lvl1pPr>
            <a:lvl2pPr marL="0" indent="457206">
              <a:buSzTx/>
              <a:buFontTx/>
              <a:buNone/>
              <a:defRPr sz="2400">
                <a:solidFill>
                  <a:srgbClr val="888888"/>
                </a:solidFill>
              </a:defRPr>
            </a:lvl2pPr>
            <a:lvl3pPr marL="0" indent="914411">
              <a:buSzTx/>
              <a:buFontTx/>
              <a:buNone/>
              <a:defRPr sz="2400">
                <a:solidFill>
                  <a:srgbClr val="888888"/>
                </a:solidFill>
              </a:defRPr>
            </a:lvl3pPr>
            <a:lvl4pPr marL="0" indent="1371616">
              <a:buSzTx/>
              <a:buFontTx/>
              <a:buNone/>
              <a:defRPr sz="2400">
                <a:solidFill>
                  <a:srgbClr val="888888"/>
                </a:solidFill>
              </a:defRPr>
            </a:lvl4pPr>
            <a:lvl5pPr marL="0" indent="1828823">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2"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39" name="Title Text"/>
          <p:cNvSpPr txBox="1">
            <a:spLocks noGrp="1"/>
          </p:cNvSpPr>
          <p:nvPr>
            <p:ph type="title"/>
          </p:nvPr>
        </p:nvSpPr>
        <p:spPr>
          <a:prstGeom prst="rect">
            <a:avLst/>
          </a:prstGeom>
        </p:spPr>
        <p:txBody>
          <a:bodyPr/>
          <a:lstStyle/>
          <a:p>
            <a:r>
              <a:t>Title Text</a:t>
            </a:r>
          </a:p>
        </p:txBody>
      </p:sp>
      <p:sp>
        <p:nvSpPr>
          <p:cNvPr id="40" name="Body Level One…"/>
          <p:cNvSpPr txBox="1">
            <a:spLocks noGrp="1"/>
          </p:cNvSpPr>
          <p:nvPr>
            <p:ph type="body" sz="half" idx="1"/>
          </p:nvPr>
        </p:nvSpPr>
        <p:spPr>
          <a:xfrm>
            <a:off x="838200" y="1825625"/>
            <a:ext cx="5181601"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48" name="Title Text"/>
          <p:cNvSpPr txBox="1">
            <a:spLocks noGrp="1"/>
          </p:cNvSpPr>
          <p:nvPr>
            <p:ph type="title"/>
          </p:nvPr>
        </p:nvSpPr>
        <p:spPr>
          <a:xfrm>
            <a:off x="839788" y="365125"/>
            <a:ext cx="10515601" cy="1325563"/>
          </a:xfrm>
          <a:prstGeom prst="rect">
            <a:avLst/>
          </a:prstGeom>
        </p:spPr>
        <p:txBody>
          <a:bodyPr/>
          <a:lstStyle/>
          <a:p>
            <a:r>
              <a:t>Title Text</a:t>
            </a:r>
          </a:p>
        </p:txBody>
      </p:sp>
      <p:sp>
        <p:nvSpPr>
          <p:cNvPr id="49" name="Body Level One…"/>
          <p:cNvSpPr txBox="1">
            <a:spLocks noGrp="1"/>
          </p:cNvSpPr>
          <p:nvPr>
            <p:ph type="body" sz="quarter" idx="1"/>
          </p:nvPr>
        </p:nvSpPr>
        <p:spPr>
          <a:xfrm>
            <a:off x="839788" y="1681163"/>
            <a:ext cx="5157789" cy="823913"/>
          </a:xfrm>
          <a:prstGeom prst="rect">
            <a:avLst/>
          </a:prstGeom>
        </p:spPr>
        <p:txBody>
          <a:bodyPr anchor="b"/>
          <a:lstStyle>
            <a:lvl1pPr marL="0" indent="0">
              <a:buSzTx/>
              <a:buFontTx/>
              <a:buNone/>
              <a:defRPr sz="2400" b="1"/>
            </a:lvl1pPr>
            <a:lvl2pPr marL="0" indent="457206">
              <a:buSzTx/>
              <a:buFontTx/>
              <a:buNone/>
              <a:defRPr sz="2400" b="1"/>
            </a:lvl2pPr>
            <a:lvl3pPr marL="0" indent="914411">
              <a:buSzTx/>
              <a:buFontTx/>
              <a:buNone/>
              <a:defRPr sz="2400" b="1"/>
            </a:lvl3pPr>
            <a:lvl4pPr marL="0" indent="1371616">
              <a:buSzTx/>
              <a:buFontTx/>
              <a:buNone/>
              <a:defRPr sz="2400" b="1"/>
            </a:lvl4pPr>
            <a:lvl5pPr marL="0" indent="1828823">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50" name="Text Placeholder 4"/>
          <p:cNvSpPr>
            <a:spLocks noGrp="1"/>
          </p:cNvSpPr>
          <p:nvPr>
            <p:ph type="body" sz="quarter" idx="21"/>
          </p:nvPr>
        </p:nvSpPr>
        <p:spPr>
          <a:xfrm>
            <a:off x="6172201" y="1681163"/>
            <a:ext cx="5183189" cy="823913"/>
          </a:xfrm>
          <a:prstGeom prst="rect">
            <a:avLst/>
          </a:prstGeom>
        </p:spPr>
        <p:txBody>
          <a:bodyPr anchor="b"/>
          <a:lstStyle/>
          <a:p>
            <a:pPr marL="0" indent="0">
              <a:buSzTx/>
              <a:buFontTx/>
              <a:buNone/>
              <a:defRPr sz="2400" b="1"/>
            </a:pPr>
            <a:endParaRPr/>
          </a:p>
        </p:txBody>
      </p:sp>
      <p:sp>
        <p:nvSpPr>
          <p:cNvPr id="51"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58" name="Title Text"/>
          <p:cNvSpPr txBox="1">
            <a:spLocks noGrp="1"/>
          </p:cNvSpPr>
          <p:nvPr>
            <p:ph type="title"/>
          </p:nvPr>
        </p:nvSpPr>
        <p:spPr>
          <a:prstGeom prst="rect">
            <a:avLst/>
          </a:prstGeom>
        </p:spPr>
        <p:txBody>
          <a:bodyPr/>
          <a:lstStyle/>
          <a:p>
            <a:r>
              <a:t>Title Text</a:t>
            </a:r>
          </a:p>
        </p:txBody>
      </p:sp>
      <p:sp>
        <p:nvSpPr>
          <p:cNvPr id="59"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73" name="Title Text"/>
          <p:cNvSpPr txBox="1">
            <a:spLocks noGrp="1"/>
          </p:cNvSpPr>
          <p:nvPr>
            <p:ph type="title"/>
          </p:nvPr>
        </p:nvSpPr>
        <p:spPr>
          <a:xfrm>
            <a:off x="839790" y="457200"/>
            <a:ext cx="3932236" cy="1600200"/>
          </a:xfrm>
          <a:prstGeom prst="rect">
            <a:avLst/>
          </a:prstGeom>
        </p:spPr>
        <p:txBody>
          <a:bodyPr anchor="b"/>
          <a:lstStyle>
            <a:lvl1pPr>
              <a:defRPr sz="3200"/>
            </a:lvl1pPr>
          </a:lstStyle>
          <a:p>
            <a:r>
              <a:t>Title Text</a:t>
            </a:r>
          </a:p>
        </p:txBody>
      </p:sp>
      <p:sp>
        <p:nvSpPr>
          <p:cNvPr id="74" name="Body Level One…"/>
          <p:cNvSpPr txBox="1">
            <a:spLocks noGrp="1"/>
          </p:cNvSpPr>
          <p:nvPr>
            <p:ph type="body" sz="half" idx="1"/>
          </p:nvPr>
        </p:nvSpPr>
        <p:spPr>
          <a:xfrm>
            <a:off x="5183187" y="987425"/>
            <a:ext cx="6172203" cy="4873625"/>
          </a:xfrm>
          <a:prstGeom prst="rect">
            <a:avLst/>
          </a:prstGeom>
        </p:spPr>
        <p:txBody>
          <a:bodyPr/>
          <a:lstStyle>
            <a:lvl1pPr>
              <a:defRPr sz="3200"/>
            </a:lvl1pPr>
            <a:lvl2pPr marL="718466" indent="-261261">
              <a:defRPr sz="3200"/>
            </a:lvl2pPr>
            <a:lvl3pPr marL="1219216" indent="-304805">
              <a:defRPr sz="3200"/>
            </a:lvl3pPr>
            <a:lvl4pPr marL="1737383" indent="-365766">
              <a:defRPr sz="3200"/>
            </a:lvl4pPr>
            <a:lvl5pPr marL="2194589" indent="-365766">
              <a:defRPr sz="3200"/>
            </a:lvl5pPr>
          </a:lstStyle>
          <a:p>
            <a:r>
              <a:t>Body Level One</a:t>
            </a:r>
          </a:p>
          <a:p>
            <a:pPr lvl="1"/>
            <a:r>
              <a:t>Body Level Two</a:t>
            </a:r>
          </a:p>
          <a:p>
            <a:pPr lvl="2"/>
            <a:r>
              <a:t>Body Level Three</a:t>
            </a:r>
          </a:p>
          <a:p>
            <a:pPr lvl="3"/>
            <a:r>
              <a:t>Body Level Four</a:t>
            </a:r>
          </a:p>
          <a:p>
            <a:pPr lvl="4"/>
            <a:r>
              <a:t>Body Level Five</a:t>
            </a:r>
          </a:p>
        </p:txBody>
      </p:sp>
      <p:sp>
        <p:nvSpPr>
          <p:cNvPr id="75" name="Text Placeholder 3"/>
          <p:cNvSpPr>
            <a:spLocks noGrp="1"/>
          </p:cNvSpPr>
          <p:nvPr>
            <p:ph type="body" sz="quarter" idx="21"/>
          </p:nvPr>
        </p:nvSpPr>
        <p:spPr>
          <a:xfrm>
            <a:off x="839790" y="2057400"/>
            <a:ext cx="3932236" cy="3811588"/>
          </a:xfrm>
          <a:prstGeom prst="rect">
            <a:avLst/>
          </a:prstGeom>
        </p:spPr>
        <p:txBody>
          <a:bodyPr/>
          <a:lstStyle/>
          <a:p>
            <a:pPr marL="0" indent="0">
              <a:buSzTx/>
              <a:buFontTx/>
              <a:buNone/>
              <a:defRPr sz="1600"/>
            </a:pPr>
            <a:endParaRP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83" name="Title Text"/>
          <p:cNvSpPr txBox="1">
            <a:spLocks noGrp="1"/>
          </p:cNvSpPr>
          <p:nvPr>
            <p:ph type="title"/>
          </p:nvPr>
        </p:nvSpPr>
        <p:spPr>
          <a:xfrm>
            <a:off x="839790" y="457200"/>
            <a:ext cx="3932236" cy="1600200"/>
          </a:xfrm>
          <a:prstGeom prst="rect">
            <a:avLst/>
          </a:prstGeom>
        </p:spPr>
        <p:txBody>
          <a:bodyPr anchor="b"/>
          <a:lstStyle>
            <a:lvl1pPr>
              <a:defRPr sz="3200"/>
            </a:lvl1pPr>
          </a:lstStyle>
          <a:p>
            <a:r>
              <a:t>Title Text</a:t>
            </a:r>
          </a:p>
        </p:txBody>
      </p:sp>
      <p:sp>
        <p:nvSpPr>
          <p:cNvPr id="84" name="Picture Placeholder 2"/>
          <p:cNvSpPr>
            <a:spLocks noGrp="1"/>
          </p:cNvSpPr>
          <p:nvPr>
            <p:ph type="pic" sz="half" idx="21"/>
          </p:nvPr>
        </p:nvSpPr>
        <p:spPr>
          <a:xfrm>
            <a:off x="5183187" y="987425"/>
            <a:ext cx="6172203" cy="4873625"/>
          </a:xfrm>
          <a:prstGeom prst="rect">
            <a:avLst/>
          </a:prstGeom>
        </p:spPr>
        <p:txBody>
          <a:bodyPr lIns="91439" rIns="91439">
            <a:noAutofit/>
          </a:bodyPr>
          <a:lstStyle/>
          <a:p>
            <a:endParaRPr dirty="0"/>
          </a:p>
        </p:txBody>
      </p:sp>
      <p:sp>
        <p:nvSpPr>
          <p:cNvPr id="85" name="Body Level One…"/>
          <p:cNvSpPr txBox="1">
            <a:spLocks noGrp="1"/>
          </p:cNvSpPr>
          <p:nvPr>
            <p:ph type="body" sz="quarter" idx="1"/>
          </p:nvPr>
        </p:nvSpPr>
        <p:spPr>
          <a:xfrm>
            <a:off x="839790" y="2057400"/>
            <a:ext cx="3932236" cy="3811588"/>
          </a:xfrm>
          <a:prstGeom prst="rect">
            <a:avLst/>
          </a:prstGeom>
        </p:spPr>
        <p:txBody>
          <a:bodyPr/>
          <a:lstStyle>
            <a:lvl1pPr marL="0" indent="0">
              <a:buSzTx/>
              <a:buFontTx/>
              <a:buNone/>
              <a:defRPr sz="1600"/>
            </a:lvl1pPr>
            <a:lvl2pPr marL="0" indent="457206">
              <a:buSzTx/>
              <a:buFontTx/>
              <a:buNone/>
              <a:defRPr sz="1600"/>
            </a:lvl2pPr>
            <a:lvl3pPr marL="0" indent="914411">
              <a:buSzTx/>
              <a:buFontTx/>
              <a:buNone/>
              <a:defRPr sz="1600"/>
            </a:lvl3pPr>
            <a:lvl4pPr marL="0" indent="1371616">
              <a:buSzTx/>
              <a:buFontTx/>
              <a:buNone/>
              <a:defRPr sz="1600"/>
            </a:lvl4pPr>
            <a:lvl5pPr marL="0" indent="1828823">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2" y="365125"/>
            <a:ext cx="10515601" cy="1325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838202" y="1825625"/>
            <a:ext cx="10515601" cy="43513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traight Connector 6"/>
          <p:cNvSpPr/>
          <p:nvPr/>
        </p:nvSpPr>
        <p:spPr>
          <a:xfrm flipH="1" flipV="1">
            <a:off x="11366378" y="6459014"/>
            <a:ext cx="3" cy="159415"/>
          </a:xfrm>
          <a:prstGeom prst="line">
            <a:avLst/>
          </a:prstGeom>
          <a:ln w="19050" cap="rnd">
            <a:solidFill>
              <a:srgbClr val="8ED656"/>
            </a:solidFill>
            <a:miter/>
          </a:ln>
        </p:spPr>
        <p:txBody>
          <a:bodyPr lIns="45719" rIns="45719"/>
          <a:lstStyle/>
          <a:p>
            <a:endParaRPr dirty="0"/>
          </a:p>
        </p:txBody>
      </p:sp>
      <p:sp>
        <p:nvSpPr>
          <p:cNvPr id="5" name="Slide Number"/>
          <p:cNvSpPr txBox="1">
            <a:spLocks noGrp="1"/>
          </p:cNvSpPr>
          <p:nvPr>
            <p:ph type="sldNum" sz="quarter" idx="2"/>
          </p:nvPr>
        </p:nvSpPr>
        <p:spPr>
          <a:xfrm>
            <a:off x="11095177" y="6414761"/>
            <a:ext cx="258624" cy="248306"/>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dirty="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6" r:id="rId6"/>
    <p:sldLayoutId id="2147483657" r:id="rId7"/>
  </p:sldLayoutIdLst>
  <p:transition spd="med"/>
  <p:txStyles>
    <p:titleStyle>
      <a:lvl1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603" marR="0" indent="-228603"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1pPr>
      <a:lvl2pPr marL="723909" marR="0" indent="-266704"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2pPr>
      <a:lvl3pPr marL="1234456" marR="0" indent="-320045"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3pPr>
      <a:lvl4pPr marL="1727223"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4pPr>
      <a:lvl5pPr marL="2184429"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5pPr>
      <a:lvl6pPr marL="2641634"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6pPr>
      <a:lvl7pPr marL="3098840"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7pPr>
      <a:lvl8pPr marL="3556046"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8pPr>
      <a:lvl9pPr marL="4013251"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a:t>
            </a:fld>
            <a:endParaRPr dirty="0"/>
          </a:p>
        </p:txBody>
      </p:sp>
      <p:sp>
        <p:nvSpPr>
          <p:cNvPr id="207" name="TextBox 17"/>
          <p:cNvSpPr txBox="1"/>
          <p:nvPr/>
        </p:nvSpPr>
        <p:spPr>
          <a:xfrm>
            <a:off x="1425388" y="2460208"/>
            <a:ext cx="7442165" cy="646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IN" sz="3600" dirty="0">
                <a:latin typeface="Calibri" panose="020F0502020204030204" pitchFamily="34" charset="0"/>
                <a:cs typeface="Calibri" panose="020F0502020204030204" pitchFamily="34" charset="0"/>
              </a:rPr>
              <a:t>             </a:t>
            </a:r>
            <a:r>
              <a:rPr lang="en-IN" sz="4000" dirty="0">
                <a:latin typeface="Calibri" panose="020F0502020204030204" pitchFamily="34" charset="0"/>
                <a:cs typeface="Calibri" panose="020F0502020204030204" pitchFamily="34" charset="0"/>
              </a:rPr>
              <a:t>Modularization Techniques</a:t>
            </a:r>
            <a:endParaRPr sz="4000" dirty="0">
              <a:latin typeface="Calibri" panose="020F0502020204030204" pitchFamily="34" charset="0"/>
              <a:cs typeface="Calibri" panose="020F0502020204030204" pitchFamily="34" charset="0"/>
            </a:endParaRPr>
          </a:p>
        </p:txBody>
      </p:sp>
      <p:sp>
        <p:nvSpPr>
          <p:cNvPr id="209" name="TextBox 7"/>
          <p:cNvSpPr txBox="1"/>
          <p:nvPr/>
        </p:nvSpPr>
        <p:spPr>
          <a:xfrm>
            <a:off x="14244" y="1263042"/>
            <a:ext cx="11935565" cy="7169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457200" lvl="1" indent="0">
              <a:lnSpc>
                <a:spcPct val="200000"/>
              </a:lnSpc>
              <a:buClr>
                <a:srgbClr val="73C96C"/>
              </a:buClr>
              <a:buSzPct val="100000"/>
              <a:defRPr sz="2400">
                <a:solidFill>
                  <a:srgbClr val="1F4E79"/>
                </a:solidFill>
                <a:latin typeface="Trebuchet MS"/>
                <a:ea typeface="Trebuchet MS"/>
                <a:cs typeface="Trebuchet MS"/>
                <a:sym typeface="Trebuchet MS"/>
              </a:defRPr>
            </a:pPr>
            <a:endParaRPr lang="en-IN" dirty="0"/>
          </a:p>
        </p:txBody>
      </p:sp>
      <p:sp>
        <p:nvSpPr>
          <p:cNvPr id="3" name="Straight Connector 18">
            <a:extLst>
              <a:ext uri="{FF2B5EF4-FFF2-40B4-BE49-F238E27FC236}">
                <a16:creationId xmlns:a16="http://schemas.microsoft.com/office/drawing/2014/main" id="{4DBA8D6F-AFF4-8D71-2B02-737781787B1E}"/>
              </a:ext>
            </a:extLst>
          </p:cNvPr>
          <p:cNvSpPr/>
          <p:nvPr/>
        </p:nvSpPr>
        <p:spPr>
          <a:xfrm flipH="1" flipV="1">
            <a:off x="191386" y="3168502"/>
            <a:ext cx="11758422" cy="53162"/>
          </a:xfrm>
          <a:prstGeom prst="line">
            <a:avLst/>
          </a:prstGeom>
          <a:ln w="69850" cap="rnd">
            <a:solidFill>
              <a:srgbClr val="8ED656"/>
            </a:solidFill>
            <a:miter/>
          </a:ln>
        </p:spPr>
        <p:txBody>
          <a:bodyPr lIns="45719" rIns="45719"/>
          <a:lstStyle/>
          <a:p>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Modularization Techniques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66368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Modularization is a technique used to divide the application program into smaller units.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This helps to maintain the code in an easy manner and reduce the code redundancy.</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various modularization techniques are as follows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Include Programs/Includes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Function Modules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Subroutines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Class-Methods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05192354"/>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34D71-565A-A381-5478-E94E44780772}"/>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7887444C-848B-F415-0606-7819F8180282}"/>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a:t>
            </a:fld>
            <a:endParaRPr dirty="0"/>
          </a:p>
        </p:txBody>
      </p:sp>
      <p:sp>
        <p:nvSpPr>
          <p:cNvPr id="207" name="TextBox 17">
            <a:extLst>
              <a:ext uri="{FF2B5EF4-FFF2-40B4-BE49-F238E27FC236}">
                <a16:creationId xmlns:a16="http://schemas.microsoft.com/office/drawing/2014/main" id="{D6611FE9-2699-97DE-9490-C0B84D17E0A0}"/>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Modularization Techniques(Contd.)</a:t>
            </a:r>
          </a:p>
        </p:txBody>
      </p:sp>
      <p:sp>
        <p:nvSpPr>
          <p:cNvPr id="208" name="Straight Connector 18">
            <a:extLst>
              <a:ext uri="{FF2B5EF4-FFF2-40B4-BE49-F238E27FC236}">
                <a16:creationId xmlns:a16="http://schemas.microsoft.com/office/drawing/2014/main" id="{38D6B7D0-F94A-7E0D-6A74-B8C940E8128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8FE47E7E-1E1B-E68A-AC2A-37C7DC623CF8}"/>
              </a:ext>
            </a:extLst>
          </p:cNvPr>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Macros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15109658"/>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Include Programs/Includes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66368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Include program is a modularization technique. We use include programs to organize a program code in to smaller units.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We can create include programs with the help of SE38( ABAP Editor).</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type of include programs is ‘I’.</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We can not execute a include program.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most important use of include programs is for lengthy data declarations used in different programs.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8457767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Include Programs/Includes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syntax to use a Include program in to another type of programs is - INCLUDE &lt;include program name&gt;.  Example - include program name is ZDATA.  The syntax to reuse include program ZDATA in to another types of programs is INCLUDE ZDATA.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5890092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Function Modules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It is a modularization technique.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transaction code to create a function module is SE37.</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To create a function module, we need to create a function group.</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8774330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Function Group</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Function group is a container for the function modules.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transaction code to create a function group is SE80.</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 function group can store up to 99 function modules.</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47556859"/>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6" name="Slide Number Placeholder 1"/>
          <p:cNvSpPr txBox="1">
            <a:spLocks noGrp="1"/>
          </p:cNvSpPr>
          <p:nvPr>
            <p:ph type="sldNum" sz="quarter" idx="2"/>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Tabs of Function Modules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8982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various tabs of function module are as follows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Attributes - It provides the generic information about the function module like - date, username, function group name, package name etc.</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Import - Input parameters of the function module.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Export - Output parameters of the function module.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Changing - Changing can acts as both input or output parameters.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Tables - is for internal tables.</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97395559"/>
      </p:ext>
    </p:extLst>
  </p:cSld>
  <p:clrMapOvr>
    <a:overrideClrMapping bg1="lt1" tx1="dk1" bg2="lt2" tx2="dk2" accent1="accent1" accent2="accent2" accent3="accent3" accent4="accent4" accent5="accent5" accent6="accent6" hlink="hlink" folHlink="folHlink"/>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9</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Tabs of Function Modules(Contd.)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Exceptions - This tab is used to raise the exception/error.</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Source code - The purpose of this tab is to write the logic.</a:t>
            </a:r>
          </a:p>
        </p:txBody>
      </p:sp>
    </p:spTree>
    <p:extLst>
      <p:ext uri="{BB962C8B-B14F-4D97-AF65-F5344CB8AC3E}">
        <p14:creationId xmlns:p14="http://schemas.microsoft.com/office/powerpoint/2010/main" val="187101059"/>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10</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Calling of Function Modules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Times New Roman" panose="02020603050405020304" pitchFamily="18" charset="0"/>
              </a:rPr>
              <a:t>We can call the function module in a program through the pattern button.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Times New Roman" panose="02020603050405020304" pitchFamily="18" charset="0"/>
              </a:rPr>
              <a:t>Click on the pattern button and pass the function  module name by choosing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Times New Roman" panose="02020603050405020304" pitchFamily="18" charset="0"/>
              </a:rPr>
              <a:t>      call function radio button.</a:t>
            </a:r>
          </a:p>
        </p:txBody>
      </p:sp>
      <p:pic>
        <p:nvPicPr>
          <p:cNvPr id="2" name="Picture 1">
            <a:extLst>
              <a:ext uri="{FF2B5EF4-FFF2-40B4-BE49-F238E27FC236}">
                <a16:creationId xmlns:a16="http://schemas.microsoft.com/office/drawing/2014/main" id="{DC7DA533-1CA2-FC8F-9F98-D765D912AD8F}"/>
              </a:ext>
            </a:extLst>
          </p:cNvPr>
          <p:cNvPicPr>
            <a:picLocks noChangeAspect="1"/>
          </p:cNvPicPr>
          <p:nvPr/>
        </p:nvPicPr>
        <p:blipFill>
          <a:blip r:embed="rId3"/>
          <a:stretch>
            <a:fillRect/>
          </a:stretch>
        </p:blipFill>
        <p:spPr>
          <a:xfrm>
            <a:off x="3157868" y="3972592"/>
            <a:ext cx="5103629" cy="2716619"/>
          </a:xfrm>
          <a:prstGeom prst="rect">
            <a:avLst/>
          </a:prstGeom>
          <a:ln>
            <a:solidFill>
              <a:schemeClr val="accent1"/>
            </a:solidFill>
          </a:ln>
        </p:spPr>
      </p:pic>
      <p:sp>
        <p:nvSpPr>
          <p:cNvPr id="3" name="TextBox 2">
            <a:extLst>
              <a:ext uri="{FF2B5EF4-FFF2-40B4-BE49-F238E27FC236}">
                <a16:creationId xmlns:a16="http://schemas.microsoft.com/office/drawing/2014/main" id="{72125758-8E53-4D4E-953B-1F6308D962B6}"/>
              </a:ext>
            </a:extLst>
          </p:cNvPr>
          <p:cNvSpPr txBox="1"/>
          <p:nvPr/>
        </p:nvSpPr>
        <p:spPr>
          <a:xfrm flipH="1">
            <a:off x="3859619" y="3467941"/>
            <a:ext cx="3249893"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IN" dirty="0">
                <a:latin typeface="Calibri" panose="020F0502020204030204" pitchFamily="34" charset="0"/>
                <a:cs typeface="Calibri" panose="020F0502020204030204" pitchFamily="34" charset="0"/>
              </a:rPr>
              <a:t>Pattern button in ABAP Editor</a:t>
            </a:r>
            <a:endParaRPr kumimoji="0" lang="en-IN" b="0" i="0" u="none" strike="noStrike" cap="none" spc="0" normalizeH="0" baseline="0" dirty="0">
              <a:ln>
                <a:noFill/>
              </a:ln>
              <a:solidFill>
                <a:srgbClr val="000000"/>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4271847996"/>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11</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Subroutines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Subroutine is also a modularization technique.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 subroutine is a modularization unit with in the program itself.</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There is no separate transaction code to create a subroutine.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 subroutine is a block of code introduced by FORM and ends with ENDFORM.</a:t>
            </a:r>
          </a:p>
        </p:txBody>
      </p:sp>
    </p:spTree>
    <p:extLst>
      <p:ext uri="{BB962C8B-B14F-4D97-AF65-F5344CB8AC3E}">
        <p14:creationId xmlns:p14="http://schemas.microsoft.com/office/powerpoint/2010/main" val="955201716"/>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Types of Subroutines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Subroutines are of 2 types.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Internal Subroutines -  </a:t>
            </a:r>
            <a:r>
              <a:rPr lang="en-US" sz="2400" dirty="0">
                <a:solidFill>
                  <a:srgbClr val="040C28"/>
                </a:solidFill>
                <a:latin typeface="Google Sans"/>
                <a:cs typeface="Calibri" panose="020F0502020204030204" pitchFamily="34" charset="0"/>
              </a:rPr>
              <a:t>S</a:t>
            </a:r>
            <a:r>
              <a:rPr lang="en-US" b="0" i="0" dirty="0">
                <a:solidFill>
                  <a:srgbClr val="040C28"/>
                </a:solidFill>
                <a:effectLst/>
                <a:latin typeface="Google Sans"/>
              </a:rPr>
              <a:t>ubroutines which are defined and used in a same program are called as internal subroutines.</a:t>
            </a:r>
            <a:endParaRPr 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External Subroutines - Subroutines which are created in one program and used in another program are called as external subroutines.</a:t>
            </a:r>
          </a:p>
        </p:txBody>
      </p:sp>
    </p:spTree>
    <p:extLst>
      <p:ext uri="{BB962C8B-B14F-4D97-AF65-F5344CB8AC3E}">
        <p14:creationId xmlns:p14="http://schemas.microsoft.com/office/powerpoint/2010/main" val="149631039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Syntax for Calling of Subroutine - Without Parameters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73755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Syntax - PERFORM &lt; perform name&gt;.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the example PERFORM = keyword ,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add =  name of the subroutine,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the logic for the subroutine add is written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between FORM add and ENDFORM.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8489295E-A2D6-C194-0C4B-02DC3E1B2EFB}"/>
              </a:ext>
            </a:extLst>
          </p:cNvPr>
          <p:cNvPicPr>
            <a:picLocks noChangeAspect="1"/>
          </p:cNvPicPr>
          <p:nvPr/>
        </p:nvPicPr>
        <p:blipFill>
          <a:blip r:embed="rId3"/>
          <a:stretch>
            <a:fillRect/>
          </a:stretch>
        </p:blipFill>
        <p:spPr>
          <a:xfrm>
            <a:off x="6624732" y="1691388"/>
            <a:ext cx="5000625" cy="3544000"/>
          </a:xfrm>
          <a:prstGeom prst="rect">
            <a:avLst/>
          </a:prstGeom>
          <a:ln>
            <a:solidFill>
              <a:schemeClr val="accent1"/>
            </a:solidFill>
          </a:ln>
        </p:spPr>
      </p:pic>
    </p:spTree>
    <p:extLst>
      <p:ext uri="{BB962C8B-B14F-4D97-AF65-F5344CB8AC3E}">
        <p14:creationId xmlns:p14="http://schemas.microsoft.com/office/powerpoint/2010/main" val="161947616"/>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Syntax for Calling of Subroutine - With Parameters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Syntax - PERFORM &lt;perform name&gt; TABLES  &lt;tables parameters&gt; USING &lt;using parameters&gt; CHANGING &lt;changing parameters&gt;.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We cannot change the sequence of tables using changing , but if any of them (tables/using/changing) is not required, we can skip it. </a:t>
            </a:r>
          </a:p>
        </p:txBody>
      </p:sp>
    </p:spTree>
    <p:extLst>
      <p:ext uri="{BB962C8B-B14F-4D97-AF65-F5344CB8AC3E}">
        <p14:creationId xmlns:p14="http://schemas.microsoft.com/office/powerpoint/2010/main" val="4058734311"/>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Syntax for Calling of Subroutine - With Parameters(Contd.)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the example PERFORM, USING and</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CHANGING = keywords,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sum =  name of the subroutine,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p_input1 and p_input2 = using parameters,</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lv_output = changing parameter.  </a:t>
            </a:r>
          </a:p>
        </p:txBody>
      </p:sp>
      <p:pic>
        <p:nvPicPr>
          <p:cNvPr id="8" name="Picture 7">
            <a:extLst>
              <a:ext uri="{FF2B5EF4-FFF2-40B4-BE49-F238E27FC236}">
                <a16:creationId xmlns:a16="http://schemas.microsoft.com/office/drawing/2014/main" id="{1B4997FF-49DF-F378-E1C3-0B395263FFDF}"/>
              </a:ext>
            </a:extLst>
          </p:cNvPr>
          <p:cNvPicPr>
            <a:picLocks noChangeAspect="1"/>
          </p:cNvPicPr>
          <p:nvPr/>
        </p:nvPicPr>
        <p:blipFill>
          <a:blip r:embed="rId3"/>
          <a:stretch>
            <a:fillRect/>
          </a:stretch>
        </p:blipFill>
        <p:spPr>
          <a:xfrm>
            <a:off x="6630335" y="1395412"/>
            <a:ext cx="5048810" cy="4067175"/>
          </a:xfrm>
          <a:prstGeom prst="rect">
            <a:avLst/>
          </a:prstGeom>
          <a:ln>
            <a:solidFill>
              <a:schemeClr val="accent1"/>
            </a:solidFill>
          </a:ln>
        </p:spPr>
      </p:pic>
    </p:spTree>
    <p:extLst>
      <p:ext uri="{BB962C8B-B14F-4D97-AF65-F5344CB8AC3E}">
        <p14:creationId xmlns:p14="http://schemas.microsoft.com/office/powerpoint/2010/main" val="184027671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Subroutine - Actual Parameters and Formal Parameters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Parameter names that appear on the PERFORM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statement are called actual parameters.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Parameter names that appear on the FORM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statement  are called formal parameters.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p_input1 , p_input2 , lv_output  = actual parameters,</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pv_input1 , pv_input2 ,  pv_output = formal parameters.</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a:t>
            </a:r>
          </a:p>
        </p:txBody>
      </p:sp>
      <p:pic>
        <p:nvPicPr>
          <p:cNvPr id="8" name="Picture 7">
            <a:extLst>
              <a:ext uri="{FF2B5EF4-FFF2-40B4-BE49-F238E27FC236}">
                <a16:creationId xmlns:a16="http://schemas.microsoft.com/office/drawing/2014/main" id="{1B4997FF-49DF-F378-E1C3-0B395263FFDF}"/>
              </a:ext>
            </a:extLst>
          </p:cNvPr>
          <p:cNvPicPr>
            <a:picLocks noChangeAspect="1"/>
          </p:cNvPicPr>
          <p:nvPr/>
        </p:nvPicPr>
        <p:blipFill>
          <a:blip r:embed="rId3"/>
          <a:stretch>
            <a:fillRect/>
          </a:stretch>
        </p:blipFill>
        <p:spPr>
          <a:xfrm>
            <a:off x="7924800" y="1527783"/>
            <a:ext cx="4157757" cy="4067175"/>
          </a:xfrm>
          <a:prstGeom prst="rect">
            <a:avLst/>
          </a:prstGeom>
          <a:ln>
            <a:solidFill>
              <a:schemeClr val="accent1"/>
            </a:solidFill>
          </a:ln>
        </p:spPr>
      </p:pic>
    </p:spTree>
    <p:extLst>
      <p:ext uri="{BB962C8B-B14F-4D97-AF65-F5344CB8AC3E}">
        <p14:creationId xmlns:p14="http://schemas.microsoft.com/office/powerpoint/2010/main" val="925285990"/>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Subroutine With Parameters - Important Points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Perform and form statement must contain the same number of parameters. It means the number of actual parameters must be same as that of formal parameters.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addition tables , using and changing can only occur once in a statement. </a:t>
            </a:r>
          </a:p>
        </p:txBody>
      </p:sp>
    </p:spTree>
    <p:extLst>
      <p:ext uri="{BB962C8B-B14F-4D97-AF65-F5344CB8AC3E}">
        <p14:creationId xmlns:p14="http://schemas.microsoft.com/office/powerpoint/2010/main" val="3849207745"/>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Subroutine - Pass by Value and Pass by Reference</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pass  by value , the value is copied from actual parameter to formal parameter, If we change the value of formal parameter the value of actual parameter will not change whereas in pass by reference, we pass the address of actual parameter to formal parameter, any changes done to the formal parameter value  will change the value of actual parameter also.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pass by value, the formal parameters have the memory of their own whereas in pass by reference, the formal parameters does not have the memory of their own.</a:t>
            </a:r>
          </a:p>
        </p:txBody>
      </p:sp>
    </p:spTree>
    <p:extLst>
      <p:ext uri="{BB962C8B-B14F-4D97-AF65-F5344CB8AC3E}">
        <p14:creationId xmlns:p14="http://schemas.microsoft.com/office/powerpoint/2010/main" val="4044127476"/>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19</a:t>
            </a:fld>
            <a:endParaRPr dirty="0"/>
          </a:p>
        </p:txBody>
      </p:sp>
      <p:sp>
        <p:nvSpPr>
          <p:cNvPr id="207" name="TextBox 17"/>
          <p:cNvSpPr txBox="1"/>
          <p:nvPr/>
        </p:nvSpPr>
        <p:spPr>
          <a:xfrm>
            <a:off x="-1" y="357542"/>
            <a:ext cx="12192001"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Comparison of Include Programs With Function Module &amp; Subroutine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Include programs does not have an interface( there is no provision to pass input and output parameters) whereas function module and subroutines has interface(there is a provision to pass input and output parameters).</a:t>
            </a:r>
          </a:p>
        </p:txBody>
      </p:sp>
    </p:spTree>
    <p:extLst>
      <p:ext uri="{BB962C8B-B14F-4D97-AF65-F5344CB8AC3E}">
        <p14:creationId xmlns:p14="http://schemas.microsoft.com/office/powerpoint/2010/main" val="2626444364"/>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20</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Function Modules and Subroutines Comparison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There is a separate transaction code SE37 (workbench tool) to create a function module whereas there is no separate workbench tool to create a subroutine.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We can check the output of function module using F8(we can independently run a function module to check the output) whereas we cannot run a subroutine independently.</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We can raise an exception in function module using exception tab whereas in subroutines there is no exception tab.</a:t>
            </a:r>
          </a:p>
        </p:txBody>
      </p:sp>
    </p:spTree>
    <p:extLst>
      <p:ext uri="{BB962C8B-B14F-4D97-AF65-F5344CB8AC3E}">
        <p14:creationId xmlns:p14="http://schemas.microsoft.com/office/powerpoint/2010/main" val="928216213"/>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D10BE-4B5F-099D-57D5-654F286A4C62}"/>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8353ABDE-78A6-1DE3-F1B4-17B2B0ED71B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21</a:t>
            </a:fld>
            <a:endParaRPr dirty="0"/>
          </a:p>
        </p:txBody>
      </p:sp>
      <p:sp>
        <p:nvSpPr>
          <p:cNvPr id="207" name="TextBox 17">
            <a:extLst>
              <a:ext uri="{FF2B5EF4-FFF2-40B4-BE49-F238E27FC236}">
                <a16:creationId xmlns:a16="http://schemas.microsoft.com/office/drawing/2014/main" id="{9DCF9912-4CDE-400F-C9AC-6DD8B144E396}"/>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Macros - Introduction </a:t>
            </a:r>
          </a:p>
        </p:txBody>
      </p:sp>
      <p:sp>
        <p:nvSpPr>
          <p:cNvPr id="208" name="Straight Connector 18">
            <a:extLst>
              <a:ext uri="{FF2B5EF4-FFF2-40B4-BE49-F238E27FC236}">
                <a16:creationId xmlns:a16="http://schemas.microsoft.com/office/drawing/2014/main" id="{D467ED25-39E6-ECF3-F270-FB9349BFD504}"/>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D9B0D4-3CDC-0979-5BDC-0A80D0D063C7}"/>
              </a:ext>
            </a:extLst>
          </p:cNvPr>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It is also a modularization technique.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Whenever we want to reuse a set of statements ,we can include them in macro.</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Then we can use that macro in our source code instead of writing the statements again and again.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We define a macro with in DEFINE and END-OF-DEFINITION statement.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99171158"/>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2CE40-DFB7-F63B-2CFF-F7C4F1BCC3A9}"/>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0E331AC2-E1CB-097C-00F6-D51597E15AD3}"/>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22</a:t>
            </a:fld>
            <a:endParaRPr dirty="0"/>
          </a:p>
        </p:txBody>
      </p:sp>
      <p:sp>
        <p:nvSpPr>
          <p:cNvPr id="207" name="TextBox 17">
            <a:extLst>
              <a:ext uri="{FF2B5EF4-FFF2-40B4-BE49-F238E27FC236}">
                <a16:creationId xmlns:a16="http://schemas.microsoft.com/office/drawing/2014/main" id="{B5312085-C86A-C268-2081-BE36BF74338B}"/>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Macros - Creation Steps </a:t>
            </a:r>
          </a:p>
        </p:txBody>
      </p:sp>
      <p:sp>
        <p:nvSpPr>
          <p:cNvPr id="208" name="Straight Connector 18">
            <a:extLst>
              <a:ext uri="{FF2B5EF4-FFF2-40B4-BE49-F238E27FC236}">
                <a16:creationId xmlns:a16="http://schemas.microsoft.com/office/drawing/2014/main" id="{4CFB33A0-1774-5BD8-E57E-72E1B3C674D8}"/>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52888EF5-0979-6136-57D7-A9C4EDB2126F}"/>
              </a:ext>
            </a:extLst>
          </p:cNvPr>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Macros creation is 2 step process.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Macro Definition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Macro Calling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24576943"/>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F0A31-F5D7-3200-1C54-CB847310EA3B}"/>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B5FE4AE4-D81B-D044-1735-A44A10A38980}"/>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23</a:t>
            </a:fld>
            <a:endParaRPr dirty="0"/>
          </a:p>
        </p:txBody>
      </p:sp>
      <p:sp>
        <p:nvSpPr>
          <p:cNvPr id="207" name="TextBox 17">
            <a:extLst>
              <a:ext uri="{FF2B5EF4-FFF2-40B4-BE49-F238E27FC236}">
                <a16:creationId xmlns:a16="http://schemas.microsoft.com/office/drawing/2014/main" id="{67958DAC-D1F6-9E1B-350B-BD83803A4A14}"/>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Macro Definition </a:t>
            </a:r>
          </a:p>
        </p:txBody>
      </p:sp>
      <p:sp>
        <p:nvSpPr>
          <p:cNvPr id="208" name="Straight Connector 18">
            <a:extLst>
              <a:ext uri="{FF2B5EF4-FFF2-40B4-BE49-F238E27FC236}">
                <a16:creationId xmlns:a16="http://schemas.microsoft.com/office/drawing/2014/main" id="{6788905B-5DE0-B373-5AD3-7146CBEC68E1}"/>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B488ACDE-27D8-28D1-A095-4268D51DBC68}"/>
              </a:ext>
            </a:extLst>
          </p:cNvPr>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We need to firstly define the macro.</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definition of the macro include the reuseable set of statements.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Syntax to define a Macro :  DEFINE &lt;macro name&gt;. &lt;statements&gt; . END-OF-DEFINITION.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3938929"/>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2BEDC-1CCB-10B6-92A0-674420C7A750}"/>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319320BC-D3AB-4F83-4729-BB7F8D024A66}"/>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24</a:t>
            </a:fld>
            <a:endParaRPr dirty="0"/>
          </a:p>
        </p:txBody>
      </p:sp>
      <p:sp>
        <p:nvSpPr>
          <p:cNvPr id="207" name="TextBox 17">
            <a:extLst>
              <a:ext uri="{FF2B5EF4-FFF2-40B4-BE49-F238E27FC236}">
                <a16:creationId xmlns:a16="http://schemas.microsoft.com/office/drawing/2014/main" id="{BA1DBDCA-0042-2497-E936-C1E7B3DADC87}"/>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Macro Calling </a:t>
            </a:r>
          </a:p>
        </p:txBody>
      </p:sp>
      <p:sp>
        <p:nvSpPr>
          <p:cNvPr id="208" name="Straight Connector 18">
            <a:extLst>
              <a:ext uri="{FF2B5EF4-FFF2-40B4-BE49-F238E27FC236}">
                <a16:creationId xmlns:a16="http://schemas.microsoft.com/office/drawing/2014/main" id="{A5A1D0BF-A136-2888-C23C-6B78A55F08CA}"/>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6AE684F7-EAEC-8D2C-0F90-E6F66360F6B8}"/>
              </a:ext>
            </a:extLst>
          </p:cNvPr>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the second step, we need to call the defined macro at various places inside the code.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Syntax to call a macro : &lt;macro name&gt;.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Imp point : Before calling, macro must be defined first.</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71875849"/>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45ECF-03F7-FF07-C213-39084115C2ED}"/>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E4233960-043C-A1A9-37E3-0D442236CEFB}"/>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25</a:t>
            </a:fld>
            <a:endParaRPr dirty="0"/>
          </a:p>
        </p:txBody>
      </p:sp>
      <p:sp>
        <p:nvSpPr>
          <p:cNvPr id="207" name="TextBox 17">
            <a:extLst>
              <a:ext uri="{FF2B5EF4-FFF2-40B4-BE49-F238E27FC236}">
                <a16:creationId xmlns:a16="http://schemas.microsoft.com/office/drawing/2014/main" id="{21BB1C7A-FA3B-2E1D-372D-6D3F0B6CA8CC}"/>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Macros With Placeholders </a:t>
            </a:r>
          </a:p>
        </p:txBody>
      </p:sp>
      <p:sp>
        <p:nvSpPr>
          <p:cNvPr id="208" name="Straight Connector 18">
            <a:extLst>
              <a:ext uri="{FF2B5EF4-FFF2-40B4-BE49-F238E27FC236}">
                <a16:creationId xmlns:a16="http://schemas.microsoft.com/office/drawing/2014/main" id="{3A8D43AF-F7C1-2905-FBDA-7D6E872EFAF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588CC371-D053-52D0-01A1-71D4EDAB33C3}"/>
              </a:ext>
            </a:extLst>
          </p:cNvPr>
          <p:cNvSpPr txBox="1"/>
          <p:nvPr/>
        </p:nvSpPr>
        <p:spPr>
          <a:xfrm>
            <a:off x="14244" y="1263042"/>
            <a:ext cx="11935565" cy="58982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Whenever we want to pass values to a macro, we create macro with placeholders.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These placeholders are replaced by values.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We can pass maximum up to 9 placeholders.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Syntax to define a macro with placeholders : DEFINE &lt;macro name&gt;. &lt;statements&gt; &lt;&amp;1, &amp;2------&amp;9&gt;. END-OF-DEFINITION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Syntax to call a macro with placeholders : &lt;macro name&gt; &lt;param1&gt; &lt;param 2&gt; . In this syntax, param1 and param2 are the </a:t>
            </a:r>
            <a:r>
              <a:rPr lang="en-US" sz="2400">
                <a:solidFill>
                  <a:srgbClr val="3B3838"/>
                </a:solidFill>
                <a:latin typeface="Calibri" panose="020F0502020204030204" pitchFamily="34" charset="0"/>
                <a:cs typeface="Calibri" panose="020F0502020204030204" pitchFamily="34" charset="0"/>
              </a:rPr>
              <a:t>placeholder values.</a:t>
            </a:r>
            <a:endParaRPr 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60290021"/>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759BD-1A0B-5A0A-5B4E-08170FB104E9}"/>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C95488F5-8DB7-129E-6E01-AEF02F8E53F9}"/>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26</a:t>
            </a:fld>
            <a:endParaRPr dirty="0"/>
          </a:p>
        </p:txBody>
      </p:sp>
      <p:sp>
        <p:nvSpPr>
          <p:cNvPr id="207" name="TextBox 17">
            <a:extLst>
              <a:ext uri="{FF2B5EF4-FFF2-40B4-BE49-F238E27FC236}">
                <a16:creationId xmlns:a16="http://schemas.microsoft.com/office/drawing/2014/main" id="{6D7D648D-0FEA-88E6-E4E6-84F0A1AA0EC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Macros - Limitations  </a:t>
            </a:r>
          </a:p>
        </p:txBody>
      </p:sp>
      <p:sp>
        <p:nvSpPr>
          <p:cNvPr id="208" name="Straight Connector 18">
            <a:extLst>
              <a:ext uri="{FF2B5EF4-FFF2-40B4-BE49-F238E27FC236}">
                <a16:creationId xmlns:a16="http://schemas.microsoft.com/office/drawing/2014/main" id="{E653C903-3779-0081-E2F7-AFCB7D444FF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E6BB1FDE-0448-E140-E208-59CDCAFE7830}"/>
              </a:ext>
            </a:extLst>
          </p:cNvPr>
          <p:cNvSpPr txBox="1"/>
          <p:nvPr/>
        </p:nvSpPr>
        <p:spPr>
          <a:xfrm>
            <a:off x="14244" y="1263042"/>
            <a:ext cx="11935565" cy="58982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various limitations of macros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b="1" dirty="0">
                <a:solidFill>
                  <a:srgbClr val="3B3838"/>
                </a:solidFill>
                <a:latin typeface="Calibri" panose="020F0502020204030204" pitchFamily="34" charset="0"/>
                <a:cs typeface="Calibri" panose="020F0502020204030204" pitchFamily="34" charset="0"/>
              </a:rPr>
              <a:t>No reusability : </a:t>
            </a:r>
            <a:r>
              <a:rPr lang="en-US" sz="2400" dirty="0">
                <a:solidFill>
                  <a:srgbClr val="3B3838"/>
                </a:solidFill>
                <a:latin typeface="Calibri" panose="020F0502020204030204" pitchFamily="34" charset="0"/>
                <a:cs typeface="Calibri" panose="020F0502020204030204" pitchFamily="34" charset="0"/>
              </a:rPr>
              <a:t>Macros can only be used in the same program where it is defined. They can not be reused.</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b="1" dirty="0">
                <a:solidFill>
                  <a:srgbClr val="3B3838"/>
                </a:solidFill>
                <a:latin typeface="Calibri" panose="020F0502020204030204" pitchFamily="34" charset="0"/>
                <a:cs typeface="Calibri" panose="020F0502020204030204" pitchFamily="34" charset="0"/>
              </a:rPr>
              <a:t>No debugging : </a:t>
            </a:r>
            <a:r>
              <a:rPr lang="en-US" sz="2400" dirty="0">
                <a:solidFill>
                  <a:srgbClr val="3B3838"/>
                </a:solidFill>
                <a:latin typeface="Calibri" panose="020F0502020204030204" pitchFamily="34" charset="0"/>
                <a:cs typeface="Calibri" panose="020F0502020204030204" pitchFamily="34" charset="0"/>
              </a:rPr>
              <a:t>We can not debug a macro code.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b="1" dirty="0">
                <a:solidFill>
                  <a:srgbClr val="3B3838"/>
                </a:solidFill>
                <a:latin typeface="Calibri" panose="020F0502020204030204" pitchFamily="34" charset="0"/>
                <a:cs typeface="Calibri" panose="020F0502020204030204" pitchFamily="34" charset="0"/>
              </a:rPr>
              <a:t>Increases program size : </a:t>
            </a:r>
            <a:r>
              <a:rPr lang="en-US" sz="2400" dirty="0">
                <a:solidFill>
                  <a:srgbClr val="3B3838"/>
                </a:solidFill>
                <a:latin typeface="Calibri" panose="020F0502020204030204" pitchFamily="34" charset="0"/>
                <a:cs typeface="Calibri" panose="020F0502020204030204" pitchFamily="34" charset="0"/>
              </a:rPr>
              <a:t>Macros are expanded at compile time. It is just like copy paste the code everywhere as many times we call it. When we have so many calls, it drastically increases the size of the program in the memory.</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59280891"/>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0DEEA-77AA-38D7-1FE1-3184673069E9}"/>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2BAF80AD-B97C-023A-BAF7-C41290A3474C}"/>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27</a:t>
            </a:fld>
            <a:endParaRPr dirty="0"/>
          </a:p>
        </p:txBody>
      </p:sp>
      <p:sp>
        <p:nvSpPr>
          <p:cNvPr id="207" name="TextBox 17">
            <a:extLst>
              <a:ext uri="{FF2B5EF4-FFF2-40B4-BE49-F238E27FC236}">
                <a16:creationId xmlns:a16="http://schemas.microsoft.com/office/drawing/2014/main" id="{8AC5DE1B-AC09-DB47-65B3-1F889BEDDCC3}"/>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Macros Vs. Function Modules  </a:t>
            </a:r>
          </a:p>
        </p:txBody>
      </p:sp>
      <p:sp>
        <p:nvSpPr>
          <p:cNvPr id="208" name="Straight Connector 18">
            <a:extLst>
              <a:ext uri="{FF2B5EF4-FFF2-40B4-BE49-F238E27FC236}">
                <a16:creationId xmlns:a16="http://schemas.microsoft.com/office/drawing/2014/main" id="{47E94879-85DA-40ED-9731-11851CDAD33C}"/>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2B5B1888-A747-3906-4180-211E2EFB377B}"/>
              </a:ext>
            </a:extLst>
          </p:cNvPr>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Macros are not reusable whereas function modules are reusable.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We can not debug a macro code whereas we can debug a function module code.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We can pass maximum 9 parameters in macro whereas we can pass any number of parameters using function modules.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During compilation the macro call is replaced with the code whereas when we call a function module the control passes to that section of code at runtime.</a:t>
            </a:r>
          </a:p>
        </p:txBody>
      </p:sp>
    </p:spTree>
    <p:extLst>
      <p:ext uri="{BB962C8B-B14F-4D97-AF65-F5344CB8AC3E}">
        <p14:creationId xmlns:p14="http://schemas.microsoft.com/office/powerpoint/2010/main" val="619429890"/>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03BC3-9DB4-7135-038B-99DD1F776523}"/>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7D1DE54F-6E72-EE93-4B2E-C45A32661C5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28</a:t>
            </a:fld>
            <a:endParaRPr dirty="0"/>
          </a:p>
        </p:txBody>
      </p:sp>
      <p:sp>
        <p:nvSpPr>
          <p:cNvPr id="207" name="TextBox 17">
            <a:extLst>
              <a:ext uri="{FF2B5EF4-FFF2-40B4-BE49-F238E27FC236}">
                <a16:creationId xmlns:a16="http://schemas.microsoft.com/office/drawing/2014/main" id="{C896ABE8-7EC0-0337-DD17-7CF872AA171E}"/>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Macros Vs. Subroutines  </a:t>
            </a:r>
          </a:p>
        </p:txBody>
      </p:sp>
      <p:sp>
        <p:nvSpPr>
          <p:cNvPr id="208" name="Straight Connector 18">
            <a:extLst>
              <a:ext uri="{FF2B5EF4-FFF2-40B4-BE49-F238E27FC236}">
                <a16:creationId xmlns:a16="http://schemas.microsoft.com/office/drawing/2014/main" id="{541D5F62-1E73-6D2A-A948-F3C81BE2629A}"/>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5288BFD-63EF-CA8B-85C2-3361AB29578C}"/>
              </a:ext>
            </a:extLst>
          </p:cNvPr>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Macros are not reusable whereas subroutines are reusable.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We can not debug a macro code whereas we can debug a subroutine code.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We can pass maximum 9 parameters in macro whereas we can pass any number of parameters using subroutines.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Macros are expanded at compile time whereas subroutines are expanded at runtime.</a:t>
            </a:r>
          </a:p>
        </p:txBody>
      </p:sp>
    </p:spTree>
    <p:extLst>
      <p:ext uri="{BB962C8B-B14F-4D97-AF65-F5344CB8AC3E}">
        <p14:creationId xmlns:p14="http://schemas.microsoft.com/office/powerpoint/2010/main" val="2502137280"/>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29</a:t>
            </a:fld>
            <a:endParaRPr dirty="0"/>
          </a:p>
        </p:txBody>
      </p:sp>
      <p:sp>
        <p:nvSpPr>
          <p:cNvPr id="207" name="TextBox 17"/>
          <p:cNvSpPr txBox="1"/>
          <p:nvPr/>
        </p:nvSpPr>
        <p:spPr>
          <a:xfrm>
            <a:off x="2020186" y="2460208"/>
            <a:ext cx="6847367" cy="646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IN" sz="3600" dirty="0">
                <a:latin typeface="Calibri" panose="020F0502020204030204" pitchFamily="34" charset="0"/>
                <a:cs typeface="Calibri" panose="020F0502020204030204" pitchFamily="34" charset="0"/>
              </a:rPr>
              <a:t>                       </a:t>
            </a:r>
            <a:r>
              <a:rPr lang="en-IN" sz="4000" dirty="0">
                <a:latin typeface="Calibri" panose="020F0502020204030204" pitchFamily="34" charset="0"/>
                <a:cs typeface="Calibri" panose="020F0502020204030204" pitchFamily="34" charset="0"/>
              </a:rPr>
              <a:t>Thank You</a:t>
            </a:r>
            <a:endParaRPr sz="4000" dirty="0">
              <a:latin typeface="Calibri" panose="020F0502020204030204" pitchFamily="34" charset="0"/>
              <a:cs typeface="Calibri" panose="020F0502020204030204" pitchFamily="34" charset="0"/>
            </a:endParaRPr>
          </a:p>
        </p:txBody>
      </p:sp>
      <p:sp>
        <p:nvSpPr>
          <p:cNvPr id="209" name="TextBox 7"/>
          <p:cNvSpPr txBox="1"/>
          <p:nvPr/>
        </p:nvSpPr>
        <p:spPr>
          <a:xfrm>
            <a:off x="14244" y="1263042"/>
            <a:ext cx="11935565" cy="7169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457200" lvl="1" indent="0">
              <a:lnSpc>
                <a:spcPct val="200000"/>
              </a:lnSpc>
              <a:buClr>
                <a:srgbClr val="73C96C"/>
              </a:buClr>
              <a:buSzPct val="100000"/>
              <a:defRPr sz="2400">
                <a:solidFill>
                  <a:srgbClr val="1F4E79"/>
                </a:solidFill>
                <a:latin typeface="Trebuchet MS"/>
                <a:ea typeface="Trebuchet MS"/>
                <a:cs typeface="Trebuchet MS"/>
                <a:sym typeface="Trebuchet MS"/>
              </a:defRPr>
            </a:pPr>
            <a:endParaRPr lang="en-IN" dirty="0"/>
          </a:p>
        </p:txBody>
      </p:sp>
      <p:sp>
        <p:nvSpPr>
          <p:cNvPr id="3" name="Straight Connector 18">
            <a:extLst>
              <a:ext uri="{FF2B5EF4-FFF2-40B4-BE49-F238E27FC236}">
                <a16:creationId xmlns:a16="http://schemas.microsoft.com/office/drawing/2014/main" id="{4DBA8D6F-AFF4-8D71-2B02-737781787B1E}"/>
              </a:ext>
            </a:extLst>
          </p:cNvPr>
          <p:cNvSpPr/>
          <p:nvPr/>
        </p:nvSpPr>
        <p:spPr>
          <a:xfrm flipH="1" flipV="1">
            <a:off x="191386" y="3168502"/>
            <a:ext cx="11758422" cy="53162"/>
          </a:xfrm>
          <a:prstGeom prst="line">
            <a:avLst/>
          </a:prstGeom>
          <a:ln w="69850" cap="rnd">
            <a:solidFill>
              <a:srgbClr val="8ED656"/>
            </a:solidFill>
            <a:miter/>
          </a:ln>
        </p:spPr>
        <p:txBody>
          <a:bodyPr lIns="45719" rIns="45719"/>
          <a:lstStyle/>
          <a:p>
            <a:endParaRPr dirty="0"/>
          </a:p>
        </p:txBody>
      </p:sp>
    </p:spTree>
    <p:extLst>
      <p:ext uri="{BB962C8B-B14F-4D97-AF65-F5344CB8AC3E}">
        <p14:creationId xmlns:p14="http://schemas.microsoft.com/office/powerpoint/2010/main" val="883752571"/>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Override1.xml><?xml version="1.0" encoding="utf-8"?>
<a:themeOverride xmlns:a="http://schemas.openxmlformats.org/drawingml/2006/main">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themeOverride>
</file>

<file path=docProps/app.xml><?xml version="1.0" encoding="utf-8"?>
<Properties xmlns="http://schemas.openxmlformats.org/officeDocument/2006/extended-properties" xmlns:vt="http://schemas.openxmlformats.org/officeDocument/2006/docPropsVTypes">
  <Template/>
  <TotalTime>5994</TotalTime>
  <Words>1521</Words>
  <Application>Microsoft Office PowerPoint</Application>
  <PresentationFormat>Widescreen</PresentationFormat>
  <Paragraphs>158</Paragraphs>
  <Slides>29</Slides>
  <Notes>29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Calibri Light</vt:lpstr>
      <vt:lpstr>Google Sans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Rahul Mehta</dc:creator>
  <cp:lastModifiedBy>Rahul Mehta</cp:lastModifiedBy>
  <cp:revision>2486</cp:revision>
  <dcterms:modified xsi:type="dcterms:W3CDTF">2025-06-26T12:24:14Z</dcterms:modified>
</cp:coreProperties>
</file>