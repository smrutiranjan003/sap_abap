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9" r:id="rId2"/>
    <p:sldId id="837" r:id="rId3"/>
    <p:sldId id="956" r:id="rId4"/>
    <p:sldId id="957" r:id="rId5"/>
    <p:sldId id="958" r:id="rId6"/>
    <p:sldId id="959" r:id="rId7"/>
    <p:sldId id="960" r:id="rId8"/>
    <p:sldId id="961" r:id="rId9"/>
    <p:sldId id="964" r:id="rId10"/>
    <p:sldId id="981" r:id="rId11"/>
    <p:sldId id="965" r:id="rId12"/>
    <p:sldId id="966" r:id="rId13"/>
    <p:sldId id="967" r:id="rId14"/>
    <p:sldId id="968" r:id="rId15"/>
    <p:sldId id="969" r:id="rId16"/>
    <p:sldId id="970" r:id="rId17"/>
    <p:sldId id="971" r:id="rId18"/>
    <p:sldId id="972" r:id="rId19"/>
    <p:sldId id="973" r:id="rId20"/>
    <p:sldId id="974" r:id="rId21"/>
    <p:sldId id="975" r:id="rId22"/>
    <p:sldId id="976" r:id="rId23"/>
    <p:sldId id="977" r:id="rId24"/>
    <p:sldId id="978" r:id="rId25"/>
    <p:sldId id="979" r:id="rId26"/>
    <p:sldId id="983" r:id="rId27"/>
    <p:sldId id="985" r:id="rId28"/>
    <p:sldId id="986" r:id="rId29"/>
    <p:sldId id="990" r:id="rId30"/>
    <p:sldId id="989" r:id="rId31"/>
    <p:sldId id="991" r:id="rId32"/>
    <p:sldId id="952" r:id="rId33"/>
    <p:sldId id="980" r:id="rId34"/>
    <p:sldId id="919" r:id="rId3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7" autoAdjust="0"/>
    <p:restoredTop sz="83308" autoAdjust="0"/>
  </p:normalViewPr>
  <p:slideViewPr>
    <p:cSldViewPr snapToGrid="0">
      <p:cViewPr varScale="1">
        <p:scale>
          <a:sx n="82" d="100"/>
          <a:sy n="82" d="100"/>
        </p:scale>
        <p:origin x="55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93" name="Shape 9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6631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1898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084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499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7211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04042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00158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11211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55551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34416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12393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71902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98818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60588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65570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68308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65711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34407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60866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80832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47618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57535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48579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72506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14865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16068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96765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65893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70974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86559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53674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60482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28593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7586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831852" y="1709738"/>
            <a:ext cx="10515601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2" y="4589464"/>
            <a:ext cx="10515601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6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11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16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23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1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8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6">
              <a:buSzTx/>
              <a:buFontTx/>
              <a:buNone/>
              <a:defRPr sz="2400" b="1"/>
            </a:lvl2pPr>
            <a:lvl3pPr marL="0" indent="914411">
              <a:buSzTx/>
              <a:buFontTx/>
              <a:buNone/>
              <a:defRPr sz="2400" b="1"/>
            </a:lvl3pPr>
            <a:lvl4pPr marL="0" indent="1371616">
              <a:buSzTx/>
              <a:buFontTx/>
              <a:buNone/>
              <a:defRPr sz="2400" b="1"/>
            </a:lvl4pPr>
            <a:lvl5pPr marL="0" indent="1828823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1" y="1681163"/>
            <a:ext cx="5183189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Text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66" indent="-261261">
              <a:defRPr sz="3200"/>
            </a:lvl2pPr>
            <a:lvl3pPr marL="1219216" indent="-304805">
              <a:defRPr sz="3200"/>
            </a:lvl3pPr>
            <a:lvl4pPr marL="1737383" indent="-365766">
              <a:defRPr sz="3200"/>
            </a:lvl4pPr>
            <a:lvl5pPr marL="2194589" indent="-365766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le Text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4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 dirty="0"/>
          </a:p>
        </p:txBody>
      </p:sp>
      <p:sp>
        <p:nvSpPr>
          <p:cNvPr id="8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6">
              <a:buSzTx/>
              <a:buFontTx/>
              <a:buNone/>
              <a:defRPr sz="1600"/>
            </a:lvl2pPr>
            <a:lvl3pPr marL="0" indent="914411">
              <a:buSzTx/>
              <a:buFontTx/>
              <a:buNone/>
              <a:defRPr sz="1600"/>
            </a:lvl3pPr>
            <a:lvl4pPr marL="0" indent="1371616">
              <a:buSzTx/>
              <a:buFontTx/>
              <a:buNone/>
              <a:defRPr sz="1600"/>
            </a:lvl4pPr>
            <a:lvl5pPr marL="0" indent="1828823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1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2" y="1825625"/>
            <a:ext cx="10515601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traight Connector 6"/>
          <p:cNvSpPr/>
          <p:nvPr/>
        </p:nvSpPr>
        <p:spPr>
          <a:xfrm flipH="1" flipV="1">
            <a:off x="11366378" y="6459014"/>
            <a:ext cx="3" cy="159415"/>
          </a:xfrm>
          <a:prstGeom prst="line">
            <a:avLst/>
          </a:prstGeom>
          <a:ln w="190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7" y="6414761"/>
            <a:ext cx="258624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6" r:id="rId6"/>
    <p:sldLayoutId id="2147483657" r:id="rId7"/>
  </p:sldLayoutIdLst>
  <p:transition spd="med"/>
  <p:txStyles>
    <p:titleStyle>
      <a:lvl1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3" marR="0" indent="-228603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9" marR="0" indent="-266704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56" marR="0" indent="-320045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23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29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34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40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46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51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2020186" y="2460208"/>
            <a:ext cx="6847367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IN" sz="3600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   </a:t>
            </a:r>
            <a:r>
              <a:rPr lang="en-IN" sz="4000" dirty="0">
                <a:latin typeface="Calibri" panose="020F0502020204030204" pitchFamily="34" charset="0"/>
                <a:cs typeface="Calibri" panose="020F0502020204030204" pitchFamily="34" charset="0"/>
              </a:rPr>
              <a:t>Smartforms</a:t>
            </a:r>
            <a:endParaRPr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716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1F4E79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IN" dirty="0"/>
          </a:p>
        </p:txBody>
      </p:sp>
      <p:sp>
        <p:nvSpPr>
          <p:cNvPr id="3" name="Straight Connector 18">
            <a:extLst>
              <a:ext uri="{FF2B5EF4-FFF2-40B4-BE49-F238E27FC236}">
                <a16:creationId xmlns:a16="http://schemas.microsoft.com/office/drawing/2014/main" id="{4DBA8D6F-AFF4-8D71-2B02-737781787B1E}"/>
              </a:ext>
            </a:extLst>
          </p:cNvPr>
          <p:cNvSpPr/>
          <p:nvPr/>
        </p:nvSpPr>
        <p:spPr>
          <a:xfrm flipH="1" flipV="1">
            <a:off x="191386" y="3168502"/>
            <a:ext cx="11758422" cy="53162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Smartforms are layouts in SAP.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design the layouts using smartforms.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transaction code to create a smartform is Smartforms.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Every smartform on execution generates a function module.</a:t>
            </a:r>
          </a:p>
        </p:txBody>
      </p:sp>
    </p:spTree>
    <p:extLst>
      <p:ext uri="{BB962C8B-B14F-4D97-AF65-F5344CB8AC3E}">
        <p14:creationId xmlns:p14="http://schemas.microsoft.com/office/powerpoint/2010/main" val="242441063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3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Various Parts of Smartforms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Form attributes - It provides the generic information of smartform like date, time, package etc.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Form interface - The purpose of form interface is to pass input and output parameters.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Global definition - It is a global part of smartform which is accessible by all the elements of the smartform.</a:t>
            </a:r>
          </a:p>
        </p:txBody>
      </p:sp>
    </p:spTree>
    <p:extLst>
      <p:ext uri="{BB962C8B-B14F-4D97-AF65-F5344CB8AC3E}">
        <p14:creationId xmlns:p14="http://schemas.microsoft.com/office/powerpoint/2010/main" val="301372088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4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Various Parts of Global Definition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5159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various parts of global definition are as follows: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Global data - This tab is used for global declarations.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Types - This tab is used for user defined types.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Field-symbols - This tab is used to declare the field-symbols.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Initialization - This tab is used to write the logic.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Form routines</a:t>
            </a:r>
            <a:r>
              <a:rPr lang="en-US" altLang="en-US" sz="2400" b="1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tab is used to declare the subroutines.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US" alt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06092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5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Various Parts of Global Definition(Contd.)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Currency/Quant. Fields - The purpose of this tab is to declare the currency/quantity fields.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US" alt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00320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6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Concept of Windows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every individual section of the layout, we need to create a window in smartform.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can create windows by right clicking on the page or through form painter.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Every window has 4 dimensions: left, upper, width and height.</a:t>
            </a:r>
          </a:p>
        </p:txBody>
      </p:sp>
    </p:spTree>
    <p:extLst>
      <p:ext uri="{BB962C8B-B14F-4D97-AF65-F5344CB8AC3E}">
        <p14:creationId xmlns:p14="http://schemas.microsoft.com/office/powerpoint/2010/main" val="406266171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7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Template in Smartforms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1466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Template is used for fixed number of rows and columns.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we need to display the static data, template is preferable.</a:t>
            </a:r>
          </a:p>
        </p:txBody>
      </p:sp>
    </p:spTree>
    <p:extLst>
      <p:ext uri="{BB962C8B-B14F-4D97-AF65-F5344CB8AC3E}">
        <p14:creationId xmlns:p14="http://schemas.microsoft.com/office/powerpoint/2010/main" val="263394754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8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Table in Smartforms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1466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number of rows are not fixed, we need to create table in smartforms.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we need to display the dynamic data, table is preferable.</a:t>
            </a:r>
          </a:p>
        </p:txBody>
      </p:sp>
    </p:spTree>
    <p:extLst>
      <p:ext uri="{BB962C8B-B14F-4D97-AF65-F5344CB8AC3E}">
        <p14:creationId xmlns:p14="http://schemas.microsoft.com/office/powerpoint/2010/main" val="226464845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9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Parts of Table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table has 3 parts.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Header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 area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Footer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US" alt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14002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10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Parts of Table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Header - It is used to display the column/field labels.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 area - It is used to display the data.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Footer - It is used to display the information in the footer. Example - total of amount.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US" alt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50898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11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Integration of Smartform into Programs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Every smartform on execution generates function module.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can call the smartform in the program through the function module of the smartform.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need to use the SAP function module SSF_FUNCTION_MODULE_NAME to return the function module of the smartform. </a:t>
            </a:r>
          </a:p>
        </p:txBody>
      </p:sp>
    </p:spTree>
    <p:extLst>
      <p:ext uri="{BB962C8B-B14F-4D97-AF65-F5344CB8AC3E}">
        <p14:creationId xmlns:p14="http://schemas.microsoft.com/office/powerpoint/2010/main" val="169674470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12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Types of Windows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There are 4 types of windows in smartforms.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 window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Secondary window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Copies window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Final window</a:t>
            </a:r>
          </a:p>
        </p:txBody>
      </p:sp>
    </p:spTree>
    <p:extLst>
      <p:ext uri="{BB962C8B-B14F-4D97-AF65-F5344CB8AC3E}">
        <p14:creationId xmlns:p14="http://schemas.microsoft.com/office/powerpoint/2010/main" val="128240234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13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Types of Windows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4420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 window - It is used for the continues output such as table output.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Secondary window - It is used for output with a fixed length.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Copies window - It is also a kind of special secondary window which is used for making pages as copy or original.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Final window - It is a special kind of secondary window used for details which are needed to be processed only at the end of processing form.</a:t>
            </a:r>
          </a:p>
        </p:txBody>
      </p:sp>
    </p:spTree>
    <p:extLst>
      <p:ext uri="{BB962C8B-B14F-4D97-AF65-F5344CB8AC3E}">
        <p14:creationId xmlns:p14="http://schemas.microsoft.com/office/powerpoint/2010/main" val="129800282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14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Types of Text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There are 4 types of text in smartforms.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element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module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Include text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Dynamic text</a:t>
            </a:r>
          </a:p>
        </p:txBody>
      </p:sp>
    </p:spTree>
    <p:extLst>
      <p:ext uri="{BB962C8B-B14F-4D97-AF65-F5344CB8AC3E}">
        <p14:creationId xmlns:p14="http://schemas.microsoft.com/office/powerpoint/2010/main" val="143254166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15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Types of Text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element - It is not a reusable text. This text is dedicated to one smartform only.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module - It is a reusable text. It is a reusable text for smartforms.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Include text - It is also a reusable text. It is a reusable text for smartforms, programs etc.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Dynamic text - This text is used to display the text at run time in smartform.</a:t>
            </a:r>
          </a:p>
        </p:txBody>
      </p:sp>
    </p:spTree>
    <p:extLst>
      <p:ext uri="{BB962C8B-B14F-4D97-AF65-F5344CB8AC3E}">
        <p14:creationId xmlns:p14="http://schemas.microsoft.com/office/powerpoint/2010/main" val="154123537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16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Ways to Debug a Smartform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Put the session or external break point in the generated function module of the Smartform.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Put the BREAK-POINT (user independent break point) or Break username (user dependent break point) in the smartform.</a:t>
            </a:r>
          </a:p>
        </p:txBody>
      </p:sp>
    </p:spTree>
    <p:extLst>
      <p:ext uri="{BB962C8B-B14F-4D97-AF65-F5344CB8AC3E}">
        <p14:creationId xmlns:p14="http://schemas.microsoft.com/office/powerpoint/2010/main" val="346507386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17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Downloading &amp; Uploading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possible to download a smartform to presentation server(local computer).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Similarly, it is also possible to upload a smartform from presentation server(local computer).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format of smartforms download and upload is XML (extensible mark-up language).</a:t>
            </a:r>
          </a:p>
        </p:txBody>
      </p:sp>
    </p:spTree>
    <p:extLst>
      <p:ext uri="{BB962C8B-B14F-4D97-AF65-F5344CB8AC3E}">
        <p14:creationId xmlns:p14="http://schemas.microsoft.com/office/powerpoint/2010/main" val="365385808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18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Creation of Graphics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Transaction code to upload graphics in SAP is SE78.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SAP supports BMP(bitmap) images.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need to create a graphics in smartforms to display the bitmap image.</a:t>
            </a:r>
          </a:p>
        </p:txBody>
      </p:sp>
    </p:spTree>
    <p:extLst>
      <p:ext uri="{BB962C8B-B14F-4D97-AF65-F5344CB8AC3E}">
        <p14:creationId xmlns:p14="http://schemas.microsoft.com/office/powerpoint/2010/main" val="384456037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19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Creation of Address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SAP, addresses are getting stored in to ADRC table.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can display the address in smartforms by creating an address in smartforms.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Pass the address number (ADRNR), system fetches data from ADRC table based upon that address number and display in the smartform.</a:t>
            </a:r>
          </a:p>
        </p:txBody>
      </p:sp>
    </p:spTree>
    <p:extLst>
      <p:ext uri="{BB962C8B-B14F-4D97-AF65-F5344CB8AC3E}">
        <p14:creationId xmlns:p14="http://schemas.microsoft.com/office/powerpoint/2010/main" val="1774932147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20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Creation of Folder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used to combine different node into logical groups.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used to achieve page protection in smartforms, so that everything in folder will be printed on same page.</a:t>
            </a:r>
          </a:p>
        </p:txBody>
      </p:sp>
    </p:spTree>
    <p:extLst>
      <p:ext uri="{BB962C8B-B14F-4D97-AF65-F5344CB8AC3E}">
        <p14:creationId xmlns:p14="http://schemas.microsoft.com/office/powerpoint/2010/main" val="1049745220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21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System Variables in Smartforms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various system variables related to smartforms are as follows: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SFSY-PAGE - System variable for current page number.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SFSY-FORMPAGES - System variable for total page number.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SFSY-COPYCOUNT- System variable for copy count.</a:t>
            </a:r>
          </a:p>
        </p:txBody>
      </p:sp>
    </p:spTree>
    <p:extLst>
      <p:ext uri="{BB962C8B-B14F-4D97-AF65-F5344CB8AC3E}">
        <p14:creationId xmlns:p14="http://schemas.microsoft.com/office/powerpoint/2010/main" val="348712699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22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Concept of Smartstyles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smartstyles is used to provide the proper font, indentation, color to the output of smartform.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transaction code to create a smartstyle is Smartstyles.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need to create paragraph format and character format using Smartstyles transaction code and assign in the smartforms.</a:t>
            </a:r>
          </a:p>
        </p:txBody>
      </p:sp>
    </p:spTree>
    <p:extLst>
      <p:ext uri="{BB962C8B-B14F-4D97-AF65-F5344CB8AC3E}">
        <p14:creationId xmlns:p14="http://schemas.microsoft.com/office/powerpoint/2010/main" val="2409280879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23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Bar Code in Smartforms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can create the bar code using the transaction code SE73.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cannot directly use a bar code in smartforms.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need to create a character format for that bar code using Smartstyles transaction code and assign that character format in smartforms.</a:t>
            </a:r>
          </a:p>
        </p:txBody>
      </p:sp>
    </p:spTree>
    <p:extLst>
      <p:ext uri="{BB962C8B-B14F-4D97-AF65-F5344CB8AC3E}">
        <p14:creationId xmlns:p14="http://schemas.microsoft.com/office/powerpoint/2010/main" val="2124488830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24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Converting Smartform Output to PDF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There are 2 steps to convert the smartform output to PDF.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Get the OTF(Output Text Format) of the smartform.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Convert OTF to PDF - Use the function module CONVERT_OTF to convert OTF to PDF.</a:t>
            </a:r>
          </a:p>
        </p:txBody>
      </p:sp>
    </p:spTree>
    <p:extLst>
      <p:ext uri="{BB962C8B-B14F-4D97-AF65-F5344CB8AC3E}">
        <p14:creationId xmlns:p14="http://schemas.microsoft.com/office/powerpoint/2010/main" val="5216803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25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Output Types in Smartforms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4420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 type specifies the kind of output to be produced. Example: printed form, e-Mail, fax etc.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Transaction code for the mapping of output type, smartform and driver program is NACE.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SAP standard Table for the mapping of output type, smartform and driver program is TNAPR.</a:t>
            </a:r>
          </a:p>
        </p:txBody>
      </p:sp>
    </p:spTree>
    <p:extLst>
      <p:ext uri="{BB962C8B-B14F-4D97-AF65-F5344CB8AC3E}">
        <p14:creationId xmlns:p14="http://schemas.microsoft.com/office/powerpoint/2010/main" val="798317147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26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Smartforms Translation into Other Languages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1466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Transaction code to translate a smartform into other languages is SE63.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Path : Other Texts- SAPscript: Forms and Styles-SSF  SAP Smart Form</a:t>
            </a:r>
          </a:p>
        </p:txBody>
      </p:sp>
    </p:spTree>
    <p:extLst>
      <p:ext uri="{BB962C8B-B14F-4D97-AF65-F5344CB8AC3E}">
        <p14:creationId xmlns:p14="http://schemas.microsoft.com/office/powerpoint/2010/main" val="1829864042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27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Sending Smartform PDF as an E-Mail Attachment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5898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send the smartform PDF as an e-mail attachment, we will make use of the various standard classes of SAP related to BCS( Business Communication Services). The various standard classes are as follows :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CL_BCS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CL_DOCUMENT_BCS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CL_SAPUSER_BCS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CL_CAM_ADDRESS_BCS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US" alt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444872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28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Sending Smartform PDF as an E-Mail Attachment</a:t>
            </a:r>
            <a:r>
              <a:rPr lang="en-US" sz="3200">
                <a:latin typeface="Calibri" panose="020F0502020204030204" pitchFamily="34" charset="0"/>
                <a:cs typeface="Calibri" panose="020F0502020204030204" pitchFamily="34" charset="0"/>
              </a:rPr>
              <a:t>(Contd.) 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5159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CL_BCS - This class is used for creating the send request, adding the recipient, sending the document etc.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CL_DOCUMENT_BCS - This class is used for creating the document, adding the attachment etc.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CL_SAPUSER_BCS - This class is used to create SAP users.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CL_CAM_ADDRESS_BCS - This class is used to create the external recipients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US" alt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660446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29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Steps to Send Smartform PDF as an E-Mail Attachment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5159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Get the BIN_FILE of the smartform.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Convert the BIN_FILE from XSTRING format to binary format.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Create the send request.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Create the SAP user/external user( recipient)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 the recipient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Create the document.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 the attachment.</a:t>
            </a:r>
          </a:p>
        </p:txBody>
      </p:sp>
    </p:spTree>
    <p:extLst>
      <p:ext uri="{BB962C8B-B14F-4D97-AF65-F5344CB8AC3E}">
        <p14:creationId xmlns:p14="http://schemas.microsoft.com/office/powerpoint/2010/main" val="4082774874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30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Steps to Send Smartform PDF as an E-Mail Attachment(Contd.)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 startAt="8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 </a:t>
            </a:r>
            <a:r>
              <a:rPr lang="en-US" altLang="en-US" sz="240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document</a:t>
            </a:r>
            <a:endParaRPr lang="en-US" alt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 startAt="8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Activate/deactivate immediate sending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 startAt="8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Send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 startAt="8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Commit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 startAt="8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US" alt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573507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31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Concept of Command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purpose of command is to trigger page-breaks.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we want to print data on next page based on certain conditions, the command node is used.</a:t>
            </a:r>
          </a:p>
        </p:txBody>
      </p:sp>
    </p:spTree>
    <p:extLst>
      <p:ext uri="{BB962C8B-B14F-4D97-AF65-F5344CB8AC3E}">
        <p14:creationId xmlns:p14="http://schemas.microsoft.com/office/powerpoint/2010/main" val="3978844412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32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369418" y="357542"/>
            <a:ext cx="11808337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Q &amp; A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5898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can run a smartform without main window.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Answer : Yes, we can run a smartform without main window.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the transaction code to create a include text?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Answer : SO10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the function module to display a include text?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Answer : </a:t>
            </a: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READ_TEXT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US" alt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663069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33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369418" y="357542"/>
            <a:ext cx="11808337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Q &amp; A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4420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the pre-defined table type for dynamic text?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Answer : TSFTEXT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the full form of OTF?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Answer : Output Text Format.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US" alt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786033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34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2020186" y="2460208"/>
            <a:ext cx="6847367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IN" sz="3600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   </a:t>
            </a:r>
            <a:r>
              <a:rPr lang="en-IN" sz="4000" dirty="0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716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1F4E79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IN" dirty="0"/>
          </a:p>
        </p:txBody>
      </p:sp>
      <p:sp>
        <p:nvSpPr>
          <p:cNvPr id="3" name="Straight Connector 18">
            <a:extLst>
              <a:ext uri="{FF2B5EF4-FFF2-40B4-BE49-F238E27FC236}">
                <a16:creationId xmlns:a16="http://schemas.microsoft.com/office/drawing/2014/main" id="{4DBA8D6F-AFF4-8D71-2B02-737781787B1E}"/>
              </a:ext>
            </a:extLst>
          </p:cNvPr>
          <p:cNvSpPr/>
          <p:nvPr/>
        </p:nvSpPr>
        <p:spPr>
          <a:xfrm flipH="1" flipV="1">
            <a:off x="191386" y="3168502"/>
            <a:ext cx="11758422" cy="53162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375257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Override1.xml><?xml version="1.0" encoding="utf-8"?>
<a:themeOverride xmlns:a="http://schemas.openxmlformats.org/drawingml/2006/main">
  <a:clrScheme name="Office Theme">
    <a:dk1>
      <a:srgbClr val="000000"/>
    </a:dk1>
    <a:lt1>
      <a:srgbClr val="FFFFFF"/>
    </a:lt1>
    <a:dk2>
      <a:srgbClr val="A7A7A7"/>
    </a:dk2>
    <a:lt2>
      <a:srgbClr val="535353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000FF"/>
    </a:hlink>
    <a:folHlink>
      <a:srgbClr val="FF00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4157</TotalTime>
  <Words>1487</Words>
  <Application>Microsoft Office PowerPoint</Application>
  <PresentationFormat>Widescreen</PresentationFormat>
  <Paragraphs>180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Rahul Mehta</dc:creator>
  <cp:lastModifiedBy>Rahul Mehta</cp:lastModifiedBy>
  <cp:revision>2006</cp:revision>
  <dcterms:modified xsi:type="dcterms:W3CDTF">2025-01-06T17:57:47Z</dcterms:modified>
</cp:coreProperties>
</file>