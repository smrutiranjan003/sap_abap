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9" r:id="rId2"/>
    <p:sldId id="837" r:id="rId3"/>
    <p:sldId id="920" r:id="rId4"/>
    <p:sldId id="921" r:id="rId5"/>
    <p:sldId id="922" r:id="rId6"/>
    <p:sldId id="923" r:id="rId7"/>
    <p:sldId id="924" r:id="rId8"/>
    <p:sldId id="925" r:id="rId9"/>
    <p:sldId id="926" r:id="rId10"/>
    <p:sldId id="927" r:id="rId11"/>
    <p:sldId id="928" r:id="rId12"/>
    <p:sldId id="929" r:id="rId13"/>
    <p:sldId id="930" r:id="rId14"/>
    <p:sldId id="931" r:id="rId15"/>
    <p:sldId id="932" r:id="rId16"/>
    <p:sldId id="933" r:id="rId17"/>
    <p:sldId id="934" r:id="rId18"/>
    <p:sldId id="935" r:id="rId19"/>
    <p:sldId id="936" r:id="rId20"/>
    <p:sldId id="938" r:id="rId21"/>
    <p:sldId id="939" r:id="rId22"/>
    <p:sldId id="940" r:id="rId23"/>
    <p:sldId id="941" r:id="rId24"/>
    <p:sldId id="942" r:id="rId25"/>
    <p:sldId id="943" r:id="rId26"/>
    <p:sldId id="944" r:id="rId27"/>
    <p:sldId id="945" r:id="rId28"/>
    <p:sldId id="946" r:id="rId29"/>
    <p:sldId id="960" r:id="rId30"/>
    <p:sldId id="947" r:id="rId31"/>
    <p:sldId id="948" r:id="rId32"/>
    <p:sldId id="949" r:id="rId33"/>
    <p:sldId id="950" r:id="rId34"/>
    <p:sldId id="951" r:id="rId35"/>
    <p:sldId id="952" r:id="rId36"/>
    <p:sldId id="953" r:id="rId37"/>
    <p:sldId id="954" r:id="rId38"/>
    <p:sldId id="956" r:id="rId39"/>
    <p:sldId id="957" r:id="rId40"/>
    <p:sldId id="958" r:id="rId41"/>
    <p:sldId id="959" r:id="rId42"/>
    <p:sldId id="955" r:id="rId43"/>
    <p:sldId id="919" r:id="rId4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37" autoAdjust="0"/>
    <p:restoredTop sz="83308" autoAdjust="0"/>
  </p:normalViewPr>
  <p:slideViewPr>
    <p:cSldViewPr snapToGrid="0">
      <p:cViewPr varScale="1">
        <p:scale>
          <a:sx n="81" d="100"/>
          <a:sy n="81"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73632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49545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73110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96036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24676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93629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12370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476704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15943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27762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10728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44934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135302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18345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41035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896447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42933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09498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937965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27772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202182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70490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315662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12704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627728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792647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0201-5A6D-74F5-3159-B07078AD9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20133-F06C-F9AC-F793-93A29D9491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368B656-BBBD-735C-D19C-3AABEE23679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714375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730817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6292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615159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581022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E5B43-5B4C-706F-581E-C7BBF24E7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3D516-ECEA-0427-B2A7-1EEFBF5C72D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BAC4FC0-2F78-28AA-8AB4-528DAA29E09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811964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9950B-1F78-DC7A-A5E7-EDC0DB65D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0C2C1-D158-795A-8D78-A3DC27B6B2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F5EF2A-D9E3-5D8E-5FB2-3480452C7EF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678250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48BBC-DE4C-380A-1257-E84E528A3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06916-1847-1031-3C16-BE60FC5CCA8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3BA750C-3DD8-6A93-4908-1D17E0ED04D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50233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433D5-2E3F-B01C-BCDE-B8C89E0AE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9A7C4-E77D-A6CA-A34E-EA0CF16A9C6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EFF90DB-8778-EF61-1C09-911516764D31}"/>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523220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B481E-BA50-EE48-7FBA-542A33D77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C81FF-54C2-3FAA-6001-D0619429F22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2CEAE6-6502-EE27-BFF6-55B10BE2D31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643418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1E0A6-1D78-D624-5821-481B0380E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7032A-1C23-3F23-D987-11528412EB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6DB54C7-7E1E-89F1-C6C6-14CC8F08041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923490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9968B-D7BE-24C4-0E53-8201442B6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27E33-B1B9-C947-97E5-3ECF12103E0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863C096-CDE3-98F1-A340-136BE6F5ED1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786090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51722-5C15-F64E-3D2D-287D7490E8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3F4C0-B8B5-E5A1-3699-B65080EBB02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16E270-9AAF-95F9-9922-2C6242C6453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80105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0FDC7-63D1-45A5-661A-2D5637172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85B14-4D4A-0297-725F-6E08F3851A4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F90A0A4-E0B0-8173-8E44-7F20AE7BC95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077463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1254642" y="2460208"/>
            <a:ext cx="9892029"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Enhancements</a:t>
            </a:r>
            <a:r>
              <a:rPr lang="en-IN" sz="3600" dirty="0">
                <a:latin typeface="Calibri" panose="020F0502020204030204" pitchFamily="34" charset="0"/>
                <a:cs typeface="Calibri" panose="020F0502020204030204" pitchFamily="34" charset="0"/>
              </a:rPr>
              <a:t> &amp; Modifications </a:t>
            </a:r>
            <a:endParaRPr lang="en-IN"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Enhancements - We enhance the SAP functionalities in customer namespace (name should start with Z or Y).</a:t>
            </a:r>
            <a:endParaRPr lang="en-US" sz="2400" dirty="0">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Modifications - We enhance the SAP functionalities in SAP namespace(name should not start with Z or Y).</a:t>
            </a: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Enhancements and Modifications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types of enhancements and modifications are as follows:</a:t>
            </a:r>
            <a:endParaRPr lang="en-IN"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Implicit and Explicit enhancements - Enhancement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Customer Exit - Enhancement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BADI (Business Addin’s) - Enhancement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User Exit – Modification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BTE(Business Transaction  Events) - Enhancement</a:t>
            </a:r>
          </a:p>
        </p:txBody>
      </p:sp>
    </p:spTree>
    <p:extLst>
      <p:ext uri="{BB962C8B-B14F-4D97-AF65-F5344CB8AC3E}">
        <p14:creationId xmlns:p14="http://schemas.microsoft.com/office/powerpoint/2010/main" val="211127824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Implicit Enhancements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case of implicit enhancements, implicit point is available at the starting or at the last of the program, sub routines, function modules etc.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create the implicit implementation using these implicit points.</a:t>
            </a:r>
          </a:p>
        </p:txBody>
      </p:sp>
    </p:spTree>
    <p:extLst>
      <p:ext uri="{BB962C8B-B14F-4D97-AF65-F5344CB8AC3E}">
        <p14:creationId xmlns:p14="http://schemas.microsoft.com/office/powerpoint/2010/main" val="206105878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Explicit Enhancements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case of explicit enhancements, enhancement-point and enhancement-section are available at any line.</a:t>
            </a:r>
            <a:endParaRPr lang="en-US" dirty="0"/>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create the explicit implementation using these enhancement-point and enhancement-section.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Enhancement spot is the container for the enhancement-point and enhancement-section.</a:t>
            </a:r>
          </a:p>
        </p:txBody>
      </p:sp>
    </p:spTree>
    <p:extLst>
      <p:ext uri="{BB962C8B-B14F-4D97-AF65-F5344CB8AC3E}">
        <p14:creationId xmlns:p14="http://schemas.microsoft.com/office/powerpoint/2010/main" val="428589647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Enhancement-Point and Enhancement-Section Comparison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Enhancement-Point does not have default implementation whereas Enhancement-Section has default implementation.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With the help of Enhancement-Point we can only add additional codes, we cannot replace the existing code whereas with the help of Enhancement-Section we can change or replace the existing code.</a:t>
            </a:r>
          </a:p>
        </p:txBody>
      </p:sp>
    </p:spTree>
    <p:extLst>
      <p:ext uri="{BB962C8B-B14F-4D97-AF65-F5344CB8AC3E}">
        <p14:creationId xmlns:p14="http://schemas.microsoft.com/office/powerpoint/2010/main" val="196341251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Customer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Customer exit is an enhancement. We enhance the SAP functionalities in customer namespace.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3 types of customer exit.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Function Module exit/Function exit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Menu exit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Screen exit</a:t>
            </a:r>
          </a:p>
        </p:txBody>
      </p:sp>
    </p:spTree>
    <p:extLst>
      <p:ext uri="{BB962C8B-B14F-4D97-AF65-F5344CB8AC3E}">
        <p14:creationId xmlns:p14="http://schemas.microsoft.com/office/powerpoint/2010/main" val="238310443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Function Module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function module exit allows us to add our code to the SAP programs with the help of function modules.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Syntax : CALL CUSTOMER-FUNCTION 'three digit number’.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three digit number in the above syntax varies from 000 to 999.</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CALL CUSTOMER-FUNCTION ‘001’. </a:t>
            </a:r>
          </a:p>
        </p:txBody>
      </p:sp>
    </p:spTree>
    <p:extLst>
      <p:ext uri="{BB962C8B-B14F-4D97-AF65-F5344CB8AC3E}">
        <p14:creationId xmlns:p14="http://schemas.microsoft.com/office/powerpoint/2010/main" val="403320984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to Find a Function Module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Put the break-point on the statement CALL CUSTOMER-FUNCTION.</a:t>
            </a:r>
            <a:endParaRPr lang="en-IN" dirty="0"/>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SMOD transaction code.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(Utilities-Find-Package)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SE84 transaction code.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(Enhancements-Customer Exits-Enhancements-Package)</a:t>
            </a:r>
          </a:p>
        </p:txBody>
      </p:sp>
    </p:spTree>
    <p:extLst>
      <p:ext uri="{BB962C8B-B14F-4D97-AF65-F5344CB8AC3E}">
        <p14:creationId xmlns:p14="http://schemas.microsoft.com/office/powerpoint/2010/main" val="46584572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Function Module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 CMOD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 a project name and click create.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enhancement assignment tab and provide the customer exit name.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components tab - It shows the various function module exits available.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Double click on to required function module exit which navigates to function module.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Write the logic in the Z include of that function module.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Activate the project.</a:t>
            </a:r>
          </a:p>
        </p:txBody>
      </p:sp>
    </p:spTree>
    <p:extLst>
      <p:ext uri="{BB962C8B-B14F-4D97-AF65-F5344CB8AC3E}">
        <p14:creationId xmlns:p14="http://schemas.microsoft.com/office/powerpoint/2010/main" val="49451268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Menu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Menu exit allows us to add menu items to the menu of SAP programs.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These menu items have function codes that begin with "+" (a plus sign).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perform customer specific functionalities on these menu items.</a:t>
            </a:r>
          </a:p>
        </p:txBody>
      </p:sp>
    </p:spTree>
    <p:extLst>
      <p:ext uri="{BB962C8B-B14F-4D97-AF65-F5344CB8AC3E}">
        <p14:creationId xmlns:p14="http://schemas.microsoft.com/office/powerpoint/2010/main" val="83157082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to Find a Menu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Check for menu items starting with"+" (a plus sign) in the menu bar. </a:t>
            </a:r>
          </a:p>
          <a:p>
            <a:pPr marL="457200" lvl="3"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(System-Status-GUI status-Menu Bar)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SMOD transaction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(Utilities-Find-Package)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SE84 transaction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(Enhancements-Customer Exits-Enhancements-Package)</a:t>
            </a:r>
          </a:p>
        </p:txBody>
      </p:sp>
    </p:spTree>
    <p:extLst>
      <p:ext uri="{BB962C8B-B14F-4D97-AF65-F5344CB8AC3E}">
        <p14:creationId xmlns:p14="http://schemas.microsoft.com/office/powerpoint/2010/main" val="279267371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Menu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 CMOD</a:t>
            </a:r>
            <a:endParaRPr 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 a project name and click create.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enhancement assignment tab and provide the customer exit name.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components tab - It shows the various menu exits available.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Double click on to required menu exit.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 the various information like - function text, icon, icon text and information text.</a:t>
            </a:r>
          </a:p>
        </p:txBody>
      </p:sp>
    </p:spTree>
    <p:extLst>
      <p:ext uri="{BB962C8B-B14F-4D97-AF65-F5344CB8AC3E}">
        <p14:creationId xmlns:p14="http://schemas.microsoft.com/office/powerpoint/2010/main" val="368288572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Menu Exit(Contd.)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To write the code, we need to implement the required function module exit.</a:t>
            </a:r>
            <a:endParaRPr lang="en-US" dirty="0"/>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Activate the project.</a:t>
            </a:r>
          </a:p>
        </p:txBody>
      </p:sp>
    </p:spTree>
    <p:extLst>
      <p:ext uri="{BB962C8B-B14F-4D97-AF65-F5344CB8AC3E}">
        <p14:creationId xmlns:p14="http://schemas.microsoft.com/office/powerpoint/2010/main" val="330544084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Screen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Screen exit allows us to add fields to the screen of SAP programs with the help of customer subscreen.</a:t>
            </a:r>
            <a:endParaRPr lang="en-US" dirty="0"/>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provides subscreen areas within a standard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222222"/>
                </a:solidFill>
                <a:latin typeface="Calibri" panose="020F0502020204030204" pitchFamily="34" charset="0"/>
                <a:cs typeface="Calibri" panose="020F0502020204030204" pitchFamily="34" charset="0"/>
              </a:rPr>
              <a:t>The customer </a:t>
            </a:r>
            <a:r>
              <a:rPr lang="en-US" sz="2400" b="0" i="0" dirty="0">
                <a:solidFill>
                  <a:srgbClr val="222222"/>
                </a:solidFill>
                <a:effectLst/>
                <a:latin typeface="Calibri" panose="020F0502020204030204" pitchFamily="34" charset="0"/>
                <a:cs typeface="Calibri" panose="020F0502020204030204" pitchFamily="34" charset="0"/>
              </a:rPr>
              <a:t>subscreen is called within the standard screen.</a:t>
            </a: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Syntax to call customer subscreen in to standard screen: CALL CUSTOMER-SUBSCREEN &lt;subscreen area&gt; INCLUDING  &lt;program name&gt;  &lt;customer subscreen number&gt;.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CALL CUSTOMER-SUBSCREEN ‘custscr2’ INCLUDING ‘SAPLXT’ ‘2000’.</a:t>
            </a:r>
          </a:p>
        </p:txBody>
      </p:sp>
    </p:spTree>
    <p:extLst>
      <p:ext uri="{BB962C8B-B14F-4D97-AF65-F5344CB8AC3E}">
        <p14:creationId xmlns:p14="http://schemas.microsoft.com/office/powerpoint/2010/main" val="102336701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to Find a Screen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Check in the screen flow logic for the statement CALL CUSTOMER-SUBSCREEN. </a:t>
            </a:r>
            <a:endParaRPr lang="en-IN" dirty="0"/>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SMOD transaction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(Utilities-Find-Package)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SE84 transaction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(Enhancements-Customer Exits-Enhancements-Package)</a:t>
            </a:r>
          </a:p>
        </p:txBody>
      </p:sp>
    </p:spTree>
    <p:extLst>
      <p:ext uri="{BB962C8B-B14F-4D97-AF65-F5344CB8AC3E}">
        <p14:creationId xmlns:p14="http://schemas.microsoft.com/office/powerpoint/2010/main" val="152975594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Screen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73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 CMOD</a:t>
            </a:r>
            <a:endParaRPr lang="en-US" dirty="0"/>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 a project name and click create.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enhancement assignment tab and provide the customer exit name.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components tab - It shows the various screen exits available.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Double click on the required screen exit.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the screen and design the respective layout on the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Change the screen type to subscreen.</a:t>
            </a:r>
            <a:endParaRPr lang="en-US" dirty="0"/>
          </a:p>
        </p:txBody>
      </p:sp>
    </p:spTree>
    <p:extLst>
      <p:ext uri="{BB962C8B-B14F-4D97-AF65-F5344CB8AC3E}">
        <p14:creationId xmlns:p14="http://schemas.microsoft.com/office/powerpoint/2010/main" val="125481001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Screen Exit(Contd.)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To write the code, we need to implement the required function module exit.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Activate the project.</a:t>
            </a:r>
          </a:p>
        </p:txBody>
      </p:sp>
    </p:spTree>
    <p:extLst>
      <p:ext uri="{BB962C8B-B14F-4D97-AF65-F5344CB8AC3E}">
        <p14:creationId xmlns:p14="http://schemas.microsoft.com/office/powerpoint/2010/main" val="28956727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fr-FR" sz="3200" dirty="0">
                <a:latin typeface="Calibri" panose="020F0502020204030204" pitchFamily="34" charset="0"/>
                <a:cs typeface="Calibri" panose="020F0502020204030204" pitchFamily="34" charset="0"/>
              </a:rPr>
              <a:t>Important Points, Transaction Codes and Tables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One customer exit can only be assigned to one project at a time.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SMOD - Transaction code to find a customer exit.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CMOD - Transaction code to implement a customer exit.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MODSAP - Table to find a customer exit.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MODACT - Table to find a project for a customer exit.</a:t>
            </a:r>
          </a:p>
        </p:txBody>
      </p:sp>
    </p:spTree>
    <p:extLst>
      <p:ext uri="{BB962C8B-B14F-4D97-AF65-F5344CB8AC3E}">
        <p14:creationId xmlns:p14="http://schemas.microsoft.com/office/powerpoint/2010/main" val="399828087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fr-FR" sz="3200" dirty="0">
                <a:latin typeface="Calibri" panose="020F0502020204030204" pitchFamily="34" charset="0"/>
                <a:cs typeface="Calibri" panose="020F0502020204030204" pitchFamily="34" charset="0"/>
              </a:rPr>
              <a:t>BADI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BADI is an enhancement. We enhance the SAP functionalities in customer namespace.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full form of BADI is Business ADD In's.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based upon OOPS concepts (interfaces and classes).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SE18 is the transaction code for BADI definition.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SE19 is the transaction code for BADI implementation.</a:t>
            </a:r>
          </a:p>
        </p:txBody>
      </p:sp>
    </p:spTree>
    <p:extLst>
      <p:ext uri="{BB962C8B-B14F-4D97-AF65-F5344CB8AC3E}">
        <p14:creationId xmlns:p14="http://schemas.microsoft.com/office/powerpoint/2010/main" val="354206784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fr-FR" sz="3200" dirty="0">
                <a:latin typeface="Calibri" panose="020F0502020204030204" pitchFamily="34" charset="0"/>
                <a:cs typeface="Calibri" panose="020F0502020204030204" pitchFamily="34" charset="0"/>
              </a:rPr>
              <a:t>Types of BADI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BADI.</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Classic BADI.</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New BADI (Kernel BADI).</a:t>
            </a:r>
          </a:p>
        </p:txBody>
      </p:sp>
    </p:spTree>
    <p:extLst>
      <p:ext uri="{BB962C8B-B14F-4D97-AF65-F5344CB8AC3E}">
        <p14:creationId xmlns:p14="http://schemas.microsoft.com/office/powerpoint/2010/main" val="337400450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to Find a Classic BADI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use SAP class - CL_EXITHANDLER. In this class we have the method name - GET_INSTANCE.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SE18 transaction code.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(Click on F4 help of BADI Name-New Selection-Package).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SE84 transaction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(Enhancements-Business Addin’s-Definitions-Package).</a:t>
            </a:r>
          </a:p>
        </p:txBody>
      </p:sp>
    </p:spTree>
    <p:extLst>
      <p:ext uri="{BB962C8B-B14F-4D97-AF65-F5344CB8AC3E}">
        <p14:creationId xmlns:p14="http://schemas.microsoft.com/office/powerpoint/2010/main" val="382642960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Classic BADI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 SE19</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Choose the radio button classic BADI, pass the name of BADI definition and click on create.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Provide the BADI implementation name and description.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Click on to interface tab, the name of implementing  class automatically appears.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Double click on the class and write the logic in the respective method.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Activate the class and the BADI implementation.</a:t>
            </a:r>
          </a:p>
        </p:txBody>
      </p:sp>
    </p:spTree>
    <p:extLst>
      <p:ext uri="{BB962C8B-B14F-4D97-AF65-F5344CB8AC3E}">
        <p14:creationId xmlns:p14="http://schemas.microsoft.com/office/powerpoint/2010/main" val="177378353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Various Options of Classic BADI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Multiple use - We can create multiple implementations.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internal - Only for SAP use.</a:t>
            </a:r>
          </a:p>
        </p:txBody>
      </p:sp>
    </p:spTree>
    <p:extLst>
      <p:ext uri="{BB962C8B-B14F-4D97-AF65-F5344CB8AC3E}">
        <p14:creationId xmlns:p14="http://schemas.microsoft.com/office/powerpoint/2010/main" val="40104337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to Find a New(Kernel) BADI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Put the break point on statement - CALL BADI or GET BADI.</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SE18 transaction code.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(Click on F4 help of BADI Name-New Selection-Package).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package name of the program in SE84 transaction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(Enhancements-Business Addin’s-Definitions-Package).</a:t>
            </a:r>
          </a:p>
        </p:txBody>
      </p:sp>
    </p:spTree>
    <p:extLst>
      <p:ext uri="{BB962C8B-B14F-4D97-AF65-F5344CB8AC3E}">
        <p14:creationId xmlns:p14="http://schemas.microsoft.com/office/powerpoint/2010/main" val="415139425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New BADI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 SE19</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Choose the radio button new BADI, pass the name of enhancement spot and click on create.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Provide the enhancement implementation name and description.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Provide the name of BADI implementation, implementing class and choose the respective BADI definition.</a:t>
            </a:r>
          </a:p>
        </p:txBody>
      </p:sp>
    </p:spTree>
    <p:extLst>
      <p:ext uri="{BB962C8B-B14F-4D97-AF65-F5344CB8AC3E}">
        <p14:creationId xmlns:p14="http://schemas.microsoft.com/office/powerpoint/2010/main" val="192102334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New BADI(Contd.)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Double click on the class and write the logic in the respective method.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Activate the class and the enhancement implementation.</a:t>
            </a:r>
          </a:p>
        </p:txBody>
      </p:sp>
    </p:spTree>
    <p:extLst>
      <p:ext uri="{BB962C8B-B14F-4D97-AF65-F5344CB8AC3E}">
        <p14:creationId xmlns:p14="http://schemas.microsoft.com/office/powerpoint/2010/main" val="360852199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Various Options of New BADI</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Multiple use - We can create multiple implementations.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Can only be implemented internally at SAP - Only for SAP use.</a:t>
            </a:r>
          </a:p>
        </p:txBody>
      </p:sp>
    </p:spTree>
    <p:extLst>
      <p:ext uri="{BB962C8B-B14F-4D97-AF65-F5344CB8AC3E}">
        <p14:creationId xmlns:p14="http://schemas.microsoft.com/office/powerpoint/2010/main" val="367097914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4ADF2-0175-E960-A4E4-460F029D91F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4736B42-6D13-6038-E515-3A5D194CD13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29</a:t>
            </a:fld>
            <a:endParaRPr dirty="0"/>
          </a:p>
        </p:txBody>
      </p:sp>
      <p:sp>
        <p:nvSpPr>
          <p:cNvPr id="207" name="TextBox 17">
            <a:extLst>
              <a:ext uri="{FF2B5EF4-FFF2-40B4-BE49-F238E27FC236}">
                <a16:creationId xmlns:a16="http://schemas.microsoft.com/office/drawing/2014/main" id="{172BF430-7E7D-87D3-FA53-578F44B5877E}"/>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Fallback Class in New BADI</a:t>
            </a:r>
          </a:p>
        </p:txBody>
      </p:sp>
      <p:sp>
        <p:nvSpPr>
          <p:cNvPr id="208" name="Straight Connector 18">
            <a:extLst>
              <a:ext uri="{FF2B5EF4-FFF2-40B4-BE49-F238E27FC236}">
                <a16:creationId xmlns:a16="http://schemas.microsoft.com/office/drawing/2014/main" id="{1A5401D1-7ED9-7749-0EED-B9958229175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D31E593-0878-BFD8-445C-2A96C5430468}"/>
              </a:ext>
            </a:extLst>
          </p:cNvPr>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Fallback class is a default implementation of BADI definition.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called , when no active implementation of that BADI exists in the system or when no active implementation matches the specified filter conditions.</a:t>
            </a:r>
          </a:p>
        </p:txBody>
      </p:sp>
    </p:spTree>
    <p:extLst>
      <p:ext uri="{BB962C8B-B14F-4D97-AF65-F5344CB8AC3E}">
        <p14:creationId xmlns:p14="http://schemas.microsoft.com/office/powerpoint/2010/main" val="241158930"/>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Classic BADI and New BADI Comparison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find classic BADI by using the class CL_EXITHANDLER(method : GET_INSTANCE) whereas we find the new BADI by using the statements CALL BADI or GET BADI.</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classic BADI, there is no enhancement spot whereas in new BADI, there is an enhancement spot. Enhancement spot is the container for the new BADI definition.</a:t>
            </a:r>
          </a:p>
        </p:txBody>
      </p:sp>
    </p:spTree>
    <p:extLst>
      <p:ext uri="{BB962C8B-B14F-4D97-AF65-F5344CB8AC3E}">
        <p14:creationId xmlns:p14="http://schemas.microsoft.com/office/powerpoint/2010/main" val="59887959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Classic BADI and New BADI Comparison(Contd.)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classic BADI, there is no enhancement implementation whereas in new BADI, there is an enhancement implementation. Enhancement implementation is the container for the new BADI implementation.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classic BADI, the name of the implementing class automatically appears whereas in new BADI, we need to provide the implementing class name.</a:t>
            </a:r>
          </a:p>
        </p:txBody>
      </p:sp>
    </p:spTree>
    <p:extLst>
      <p:ext uri="{BB962C8B-B14F-4D97-AF65-F5344CB8AC3E}">
        <p14:creationId xmlns:p14="http://schemas.microsoft.com/office/powerpoint/2010/main" val="2903200914"/>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User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User Exit are modifications. We enhance the SAP functionalities in SAP namespace.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are only available in SAP SD (Sales &amp; distribution) module.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are available in the form of a subroutines.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most important user exits related to sales order are available in program MV45AFZZ.</a:t>
            </a:r>
          </a:p>
        </p:txBody>
      </p:sp>
    </p:spTree>
    <p:extLst>
      <p:ext uri="{BB962C8B-B14F-4D97-AF65-F5344CB8AC3E}">
        <p14:creationId xmlns:p14="http://schemas.microsoft.com/office/powerpoint/2010/main" val="224007360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to Find a User Exit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Check the documentation of the program.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Search for statement - PERFORM USEREXIT.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Search in package - VMOD.</a:t>
            </a:r>
          </a:p>
        </p:txBody>
      </p:sp>
    </p:spTree>
    <p:extLst>
      <p:ext uri="{BB962C8B-B14F-4D97-AF65-F5344CB8AC3E}">
        <p14:creationId xmlns:p14="http://schemas.microsoft.com/office/powerpoint/2010/main" val="14333015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A19AE-FA54-D029-6BAF-340340484EF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ADB797C-E9C6-4AA3-CB7B-619E9A18AB16}"/>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34</a:t>
            </a:fld>
            <a:endParaRPr dirty="0"/>
          </a:p>
        </p:txBody>
      </p:sp>
      <p:sp>
        <p:nvSpPr>
          <p:cNvPr id="207" name="TextBox 17">
            <a:extLst>
              <a:ext uri="{FF2B5EF4-FFF2-40B4-BE49-F238E27FC236}">
                <a16:creationId xmlns:a16="http://schemas.microsoft.com/office/drawing/2014/main" id="{C63A3EAA-3E1D-A6DD-5B73-2F7FD893EDD2}"/>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BTE(Business Transaction Events) </a:t>
            </a:r>
          </a:p>
        </p:txBody>
      </p:sp>
      <p:sp>
        <p:nvSpPr>
          <p:cNvPr id="208" name="Straight Connector 18">
            <a:extLst>
              <a:ext uri="{FF2B5EF4-FFF2-40B4-BE49-F238E27FC236}">
                <a16:creationId xmlns:a16="http://schemas.microsoft.com/office/drawing/2014/main" id="{458CF9CE-266B-BC35-7101-D17E11187A3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98131E4B-EB9D-9146-3B78-C1259B275CED}"/>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full form of BTE is Business Transaction Events.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BTE is an enhancement. We enhance the SAP functionalities in customer namespace.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BTE is a custom function module attach to the standard program to enhance the functionality.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BTE is applicable to FI module.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BTE is FIBF.</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1579060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ECD3-97EF-2EBA-EF31-B4F1114D11F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03384E4-0D70-224E-BDD3-B102C3EA95C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35</a:t>
            </a:fld>
            <a:endParaRPr dirty="0"/>
          </a:p>
        </p:txBody>
      </p:sp>
      <p:sp>
        <p:nvSpPr>
          <p:cNvPr id="207" name="TextBox 17">
            <a:extLst>
              <a:ext uri="{FF2B5EF4-FFF2-40B4-BE49-F238E27FC236}">
                <a16:creationId xmlns:a16="http://schemas.microsoft.com/office/drawing/2014/main" id="{0C626FE2-802A-CABE-8791-0C665FE74F45}"/>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BTE </a:t>
            </a:r>
          </a:p>
        </p:txBody>
      </p:sp>
      <p:sp>
        <p:nvSpPr>
          <p:cNvPr id="208" name="Straight Connector 18">
            <a:extLst>
              <a:ext uri="{FF2B5EF4-FFF2-40B4-BE49-F238E27FC236}">
                <a16:creationId xmlns:a16="http://schemas.microsoft.com/office/drawing/2014/main" id="{5DFD32F6-7212-A662-933C-40CDF54A41D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0F95F93-CF78-85A3-4A58-BC8A82674133}"/>
              </a:ext>
            </a:extLst>
          </p:cNvPr>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According to interface, BTE is of 2 types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Publish and Subscribe interface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Process interface</a:t>
            </a:r>
          </a:p>
        </p:txBody>
      </p:sp>
    </p:spTree>
    <p:extLst>
      <p:ext uri="{BB962C8B-B14F-4D97-AF65-F5344CB8AC3E}">
        <p14:creationId xmlns:p14="http://schemas.microsoft.com/office/powerpoint/2010/main" val="2604020342"/>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48CE7-80A7-BED4-6992-4C01FF000BE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93E420A-99FA-D7D0-8D0F-570A8DE39C1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36</a:t>
            </a:fld>
            <a:endParaRPr dirty="0"/>
          </a:p>
        </p:txBody>
      </p:sp>
      <p:sp>
        <p:nvSpPr>
          <p:cNvPr id="207" name="TextBox 17">
            <a:extLst>
              <a:ext uri="{FF2B5EF4-FFF2-40B4-BE49-F238E27FC236}">
                <a16:creationId xmlns:a16="http://schemas.microsoft.com/office/drawing/2014/main" id="{AE204225-040C-5777-26D0-3F9E1AC86CEE}"/>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Publish and Subscribe Interface </a:t>
            </a:r>
          </a:p>
        </p:txBody>
      </p:sp>
      <p:sp>
        <p:nvSpPr>
          <p:cNvPr id="208" name="Straight Connector 18">
            <a:extLst>
              <a:ext uri="{FF2B5EF4-FFF2-40B4-BE49-F238E27FC236}">
                <a16:creationId xmlns:a16="http://schemas.microsoft.com/office/drawing/2014/main" id="{C98599F1-D2C1-7C92-1F46-4622FA62C02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D468BF9-93D0-8059-25F4-17F5CC6BD2E4}"/>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are also called as Informing interfaces.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type of interface do not update any application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used to add additional steps to the application. Example - E-Mail functionality, sending data to external system etc.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do not influence the standard process in any way.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custom function module which is attached to BTE does not have changing parameters.</a:t>
            </a:r>
          </a:p>
        </p:txBody>
      </p:sp>
    </p:spTree>
    <p:extLst>
      <p:ext uri="{BB962C8B-B14F-4D97-AF65-F5344CB8AC3E}">
        <p14:creationId xmlns:p14="http://schemas.microsoft.com/office/powerpoint/2010/main" val="3774531747"/>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008F-E0D5-0428-630F-C7076400BC0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A986EF1-A03D-91BE-7324-E97B034B0C58}"/>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37</a:t>
            </a:fld>
            <a:endParaRPr dirty="0"/>
          </a:p>
        </p:txBody>
      </p:sp>
      <p:sp>
        <p:nvSpPr>
          <p:cNvPr id="207" name="TextBox 17">
            <a:extLst>
              <a:ext uri="{FF2B5EF4-FFF2-40B4-BE49-F238E27FC236}">
                <a16:creationId xmlns:a16="http://schemas.microsoft.com/office/drawing/2014/main" id="{3A4AB596-64D3-1849-E345-CF4C0CEB46BD}"/>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Process Interface </a:t>
            </a:r>
          </a:p>
        </p:txBody>
      </p:sp>
      <p:sp>
        <p:nvSpPr>
          <p:cNvPr id="208" name="Straight Connector 18">
            <a:extLst>
              <a:ext uri="{FF2B5EF4-FFF2-40B4-BE49-F238E27FC236}">
                <a16:creationId xmlns:a16="http://schemas.microsoft.com/office/drawing/2014/main" id="{D8277643-A49D-F2E3-E110-199A0133D77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C00A14E-C9D7-1055-2E7D-45CB621759CD}"/>
              </a:ext>
            </a:extLst>
          </p:cNvPr>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type of interface is used to update the application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Passing the default value to a field while creating a FI document.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intervene in the standard process.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custom function module which is attached to BTE has changing/exporting parameters.</a:t>
            </a:r>
          </a:p>
        </p:txBody>
      </p:sp>
    </p:spTree>
    <p:extLst>
      <p:ext uri="{BB962C8B-B14F-4D97-AF65-F5344CB8AC3E}">
        <p14:creationId xmlns:p14="http://schemas.microsoft.com/office/powerpoint/2010/main" val="38914019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34F76-D257-D6E8-D006-A69D8F8F30B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6AB200BE-C2F7-2CD1-19C0-344CD58E65F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38</a:t>
            </a:fld>
            <a:endParaRPr dirty="0"/>
          </a:p>
        </p:txBody>
      </p:sp>
      <p:sp>
        <p:nvSpPr>
          <p:cNvPr id="207" name="TextBox 17">
            <a:extLst>
              <a:ext uri="{FF2B5EF4-FFF2-40B4-BE49-F238E27FC236}">
                <a16:creationId xmlns:a16="http://schemas.microsoft.com/office/drawing/2014/main" id="{08861CBE-C837-3B59-E65D-54E9C63FE4C5}"/>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to </a:t>
            </a:r>
            <a:r>
              <a:rPr lang="en-US" sz="3200">
                <a:latin typeface="Calibri" panose="020F0502020204030204" pitchFamily="34" charset="0"/>
                <a:cs typeface="Calibri" panose="020F0502020204030204" pitchFamily="34" charset="0"/>
              </a:rPr>
              <a:t>Find Publish </a:t>
            </a:r>
            <a:r>
              <a:rPr lang="en-US" sz="3200" dirty="0">
                <a:latin typeface="Calibri" panose="020F0502020204030204" pitchFamily="34" charset="0"/>
                <a:cs typeface="Calibri" panose="020F0502020204030204" pitchFamily="34" charset="0"/>
              </a:rPr>
              <a:t>and Subscribe Interface </a:t>
            </a:r>
          </a:p>
        </p:txBody>
      </p:sp>
      <p:sp>
        <p:nvSpPr>
          <p:cNvPr id="208" name="Straight Connector 18">
            <a:extLst>
              <a:ext uri="{FF2B5EF4-FFF2-40B4-BE49-F238E27FC236}">
                <a16:creationId xmlns:a16="http://schemas.microsoft.com/office/drawing/2014/main" id="{7D03F678-7376-03AF-C559-F6E47A6F5466}"/>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C18CBD7-8503-0DDA-1FC8-180004A446E4}"/>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Search for the statement - OPEN_FI_PERFORM in the source code. For Publish and Subscribe interface the naming convention of the function module will be OPEN_FI_PERFORM_&lt;BTE NUMBER&gt;_E.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Set the breakpoint in the function module : BF_FUNCTIONS_FIND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FIBF.</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Path :  Environment - Info System( P/S)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9588655"/>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A2E1D-F32C-BCBD-27EB-A3AD09667C1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C212829-B888-1844-6065-4373F604797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39</a:t>
            </a:fld>
            <a:endParaRPr dirty="0"/>
          </a:p>
        </p:txBody>
      </p:sp>
      <p:sp>
        <p:nvSpPr>
          <p:cNvPr id="207" name="TextBox 17">
            <a:extLst>
              <a:ext uri="{FF2B5EF4-FFF2-40B4-BE49-F238E27FC236}">
                <a16:creationId xmlns:a16="http://schemas.microsoft.com/office/drawing/2014/main" id="{C79DF59E-DF8A-599B-6515-3E606E945B2C}"/>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to Find Process Interface </a:t>
            </a:r>
          </a:p>
        </p:txBody>
      </p:sp>
      <p:sp>
        <p:nvSpPr>
          <p:cNvPr id="208" name="Straight Connector 18">
            <a:extLst>
              <a:ext uri="{FF2B5EF4-FFF2-40B4-BE49-F238E27FC236}">
                <a16:creationId xmlns:a16="http://schemas.microsoft.com/office/drawing/2014/main" id="{C84AB9AD-92B2-4A00-179D-DFB866D29E1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4BD9D4E-5329-B6BC-DDCC-FF2AF0FBC365}"/>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Search for the statement - OPEN_FI_PERFORM in the source code. For process interface the naming convention of the function module will be OPEN_FI_PERFORM_&lt;BTE NUMBER&gt;_P.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Set the breakpoint in the function module : PC_FUNCTION_FIND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FIBF.</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Path :  Environment - Infosystem(Processes)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1686669"/>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1B027-C195-047B-670F-1760163355B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883B2F3-227D-BF24-AF0C-758D1D4EB0F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40</a:t>
            </a:fld>
            <a:endParaRPr dirty="0"/>
          </a:p>
        </p:txBody>
      </p:sp>
      <p:sp>
        <p:nvSpPr>
          <p:cNvPr id="207" name="TextBox 17">
            <a:extLst>
              <a:ext uri="{FF2B5EF4-FFF2-40B4-BE49-F238E27FC236}">
                <a16:creationId xmlns:a16="http://schemas.microsoft.com/office/drawing/2014/main" id="{B385EC8E-11D6-79BD-6503-74EC105C1508}"/>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BTE </a:t>
            </a:r>
          </a:p>
        </p:txBody>
      </p:sp>
      <p:sp>
        <p:nvSpPr>
          <p:cNvPr id="208" name="Straight Connector 18">
            <a:extLst>
              <a:ext uri="{FF2B5EF4-FFF2-40B4-BE49-F238E27FC236}">
                <a16:creationId xmlns:a16="http://schemas.microsoft.com/office/drawing/2014/main" id="{05A950D2-8E4B-1BEF-AD5B-CC1A08D845F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60E6EEE-6317-6A38-F919-74ADA90A5CCE}"/>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Identify the BTE.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Copy the sample interface function module into a Z or Y function module.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Write the code in the Z or Y function module.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Save and activate the function module.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 product and activate the product.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Link the function module and the event using the product.</a:t>
            </a:r>
          </a:p>
        </p:txBody>
      </p:sp>
    </p:spTree>
    <p:extLst>
      <p:ext uri="{BB962C8B-B14F-4D97-AF65-F5344CB8AC3E}">
        <p14:creationId xmlns:p14="http://schemas.microsoft.com/office/powerpoint/2010/main" val="158159075"/>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E3B2F-19E1-55D4-A236-139BE2568FB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69A107B-1011-8242-4CF0-93F60D5AD12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41</a:t>
            </a:fld>
            <a:endParaRPr dirty="0"/>
          </a:p>
        </p:txBody>
      </p:sp>
      <p:sp>
        <p:nvSpPr>
          <p:cNvPr id="207" name="TextBox 17">
            <a:extLst>
              <a:ext uri="{FF2B5EF4-FFF2-40B4-BE49-F238E27FC236}">
                <a16:creationId xmlns:a16="http://schemas.microsoft.com/office/drawing/2014/main" id="{44733168-35CA-B673-C880-224B55A3506C}"/>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Tables for BTE </a:t>
            </a:r>
          </a:p>
        </p:txBody>
      </p:sp>
      <p:sp>
        <p:nvSpPr>
          <p:cNvPr id="208" name="Straight Connector 18">
            <a:extLst>
              <a:ext uri="{FF2B5EF4-FFF2-40B4-BE49-F238E27FC236}">
                <a16:creationId xmlns:a16="http://schemas.microsoft.com/office/drawing/2014/main" id="{E38CBB19-A367-32EC-7AA7-3E0489A9ED1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C23B7F8-7BA6-140E-3EAB-A600C5A024BE}"/>
              </a:ext>
            </a:extLst>
          </p:cNvPr>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a:solidFill>
                  <a:srgbClr val="3B3838"/>
                </a:solidFill>
                <a:latin typeface="Calibri" panose="020F0502020204030204" pitchFamily="34" charset="0"/>
                <a:cs typeface="Calibri" panose="020F0502020204030204" pitchFamily="34" charset="0"/>
              </a:rPr>
              <a:t>TBE24 - Table </a:t>
            </a:r>
            <a:r>
              <a:rPr lang="en-US" altLang="en-US" sz="2400" dirty="0">
                <a:solidFill>
                  <a:srgbClr val="3B3838"/>
                </a:solidFill>
                <a:latin typeface="Calibri" panose="020F0502020204030204" pitchFamily="34" charset="0"/>
                <a:cs typeface="Calibri" panose="020F0502020204030204" pitchFamily="34" charset="0"/>
              </a:rPr>
              <a:t>to store the customer products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TBE34 - Publish &amp; Subscribe BTE : customer enhancement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TPS34 - Process BTE : customer enhancement</a:t>
            </a:r>
          </a:p>
        </p:txBody>
      </p:sp>
    </p:spTree>
    <p:extLst>
      <p:ext uri="{BB962C8B-B14F-4D97-AF65-F5344CB8AC3E}">
        <p14:creationId xmlns:p14="http://schemas.microsoft.com/office/powerpoint/2010/main" val="2591096558"/>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50DFC-1468-0D50-59E4-5D31714A5A84}"/>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9C00A9F-31D4-5608-AFDF-417C4B2AB61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42</a:t>
            </a:fld>
            <a:endParaRPr dirty="0"/>
          </a:p>
        </p:txBody>
      </p:sp>
      <p:sp>
        <p:nvSpPr>
          <p:cNvPr id="207" name="TextBox 17">
            <a:extLst>
              <a:ext uri="{FF2B5EF4-FFF2-40B4-BE49-F238E27FC236}">
                <a16:creationId xmlns:a16="http://schemas.microsoft.com/office/drawing/2014/main" id="{0A10AEC3-DA7D-726E-17C4-60A9291FC04B}"/>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Difference Between BTE and BADI </a:t>
            </a:r>
          </a:p>
        </p:txBody>
      </p:sp>
      <p:sp>
        <p:nvSpPr>
          <p:cNvPr id="208" name="Straight Connector 18">
            <a:extLst>
              <a:ext uri="{FF2B5EF4-FFF2-40B4-BE49-F238E27FC236}">
                <a16:creationId xmlns:a16="http://schemas.microsoft.com/office/drawing/2014/main" id="{4939E80E-1392-352F-ECC4-4AB7D5010D4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1529605-DDB8-F7B6-C5F8-CE0A96E7D931}"/>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BTE is applicable to SAP finance module only whereas BADI is generalized to all modules of SAP.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BTE uses function modules to enhance the functionality whereas BADI uses OOPS(classes, interfaces, objects) concepts to enhance the functionality.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BTE is only used for program enhancements, we can not enhance the user interface elements whereas BADI is used for program enhancements as well as for enhancing the user interface elements.</a:t>
            </a:r>
          </a:p>
        </p:txBody>
      </p:sp>
    </p:spTree>
    <p:extLst>
      <p:ext uri="{BB962C8B-B14F-4D97-AF65-F5344CB8AC3E}">
        <p14:creationId xmlns:p14="http://schemas.microsoft.com/office/powerpoint/2010/main" val="4041273973"/>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43</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4469</TotalTime>
  <Words>2168</Words>
  <Application>Microsoft Office PowerPoint</Application>
  <PresentationFormat>Widescreen</PresentationFormat>
  <Paragraphs>247</Paragraphs>
  <Slides>43</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2142</cp:revision>
  <dcterms:modified xsi:type="dcterms:W3CDTF">2025-07-25T16:56:53Z</dcterms:modified>
</cp:coreProperties>
</file>