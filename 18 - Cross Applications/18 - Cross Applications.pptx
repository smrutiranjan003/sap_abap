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259" r:id="rId2"/>
    <p:sldId id="837" r:id="rId3"/>
    <p:sldId id="937" r:id="rId4"/>
    <p:sldId id="939" r:id="rId5"/>
    <p:sldId id="940" r:id="rId6"/>
    <p:sldId id="941" r:id="rId7"/>
    <p:sldId id="942" r:id="rId8"/>
    <p:sldId id="943" r:id="rId9"/>
    <p:sldId id="944" r:id="rId10"/>
    <p:sldId id="962" r:id="rId11"/>
    <p:sldId id="961" r:id="rId12"/>
    <p:sldId id="945" r:id="rId13"/>
    <p:sldId id="963" r:id="rId14"/>
    <p:sldId id="946" r:id="rId15"/>
    <p:sldId id="947" r:id="rId16"/>
    <p:sldId id="948" r:id="rId17"/>
    <p:sldId id="949" r:id="rId18"/>
    <p:sldId id="950" r:id="rId19"/>
    <p:sldId id="964" r:id="rId20"/>
    <p:sldId id="951" r:id="rId21"/>
    <p:sldId id="952" r:id="rId22"/>
    <p:sldId id="953" r:id="rId23"/>
    <p:sldId id="954" r:id="rId24"/>
    <p:sldId id="955" r:id="rId25"/>
    <p:sldId id="957" r:id="rId26"/>
    <p:sldId id="958" r:id="rId27"/>
    <p:sldId id="959" r:id="rId28"/>
    <p:sldId id="960" r:id="rId29"/>
    <p:sldId id="965" r:id="rId30"/>
    <p:sldId id="966" r:id="rId31"/>
    <p:sldId id="967" r:id="rId32"/>
    <p:sldId id="968" r:id="rId33"/>
    <p:sldId id="969" r:id="rId34"/>
    <p:sldId id="970" r:id="rId35"/>
    <p:sldId id="971" r:id="rId36"/>
    <p:sldId id="972" r:id="rId37"/>
    <p:sldId id="973" r:id="rId38"/>
    <p:sldId id="974" r:id="rId39"/>
    <p:sldId id="975" r:id="rId40"/>
    <p:sldId id="976" r:id="rId41"/>
    <p:sldId id="977" r:id="rId42"/>
    <p:sldId id="978" r:id="rId43"/>
    <p:sldId id="979" r:id="rId44"/>
    <p:sldId id="984" r:id="rId45"/>
    <p:sldId id="985" r:id="rId46"/>
    <p:sldId id="980" r:id="rId47"/>
    <p:sldId id="981" r:id="rId48"/>
    <p:sldId id="982" r:id="rId49"/>
    <p:sldId id="983" r:id="rId50"/>
    <p:sldId id="996" r:id="rId51"/>
    <p:sldId id="997" r:id="rId52"/>
    <p:sldId id="999" r:id="rId53"/>
    <p:sldId id="998" r:id="rId54"/>
    <p:sldId id="991" r:id="rId55"/>
    <p:sldId id="992" r:id="rId56"/>
    <p:sldId id="993" r:id="rId57"/>
    <p:sldId id="995" r:id="rId58"/>
    <p:sldId id="986" r:id="rId59"/>
    <p:sldId id="987" r:id="rId60"/>
    <p:sldId id="988" r:id="rId61"/>
    <p:sldId id="989" r:id="rId62"/>
    <p:sldId id="990" r:id="rId63"/>
    <p:sldId id="919" r:id="rId6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3" autoAdjust="0"/>
    <p:restoredTop sz="83308" autoAdjust="0"/>
  </p:normalViewPr>
  <p:slideViewPr>
    <p:cSldViewPr snapToGrid="0">
      <p:cViewPr varScale="1">
        <p:scale>
          <a:sx n="82" d="100"/>
          <a:sy n="82" d="100"/>
        </p:scale>
        <p:origin x="58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189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94696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43163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66973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54515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25123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71584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97938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61187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8713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61307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99851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65513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33737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476239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67905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878381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739748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112317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268517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80452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13575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404674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561593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445082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964363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80976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819356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585483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065551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44411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462888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26289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218306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739200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896249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361350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617826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940190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95311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510151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479703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89509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402985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058425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488169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744111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732715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5C64-30D5-142F-F1B3-D9A4BE4C2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3533A-C36E-4B4C-A0BD-33F349CDE9B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C8A7DED-740B-35C9-3EE8-B50583345F1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668842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D788D-9418-D79A-8F4B-2550ABB7E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34105-4FEE-93E6-83EE-3AF725AA066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E447474-5D29-C42E-E2AF-7572DF13221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498707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09D9A-FFD8-1980-0ADF-EBBA11219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B3682-BC57-6EB6-CB1F-68AA4E9E122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35A12ED-6F77-BCF1-6D6B-CF3E7AE838A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700822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BFE12-79C4-1BC3-C1D4-0E8B68EBD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461C0-9C02-22F8-8FAB-82FD93576FC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A1F919A-0A01-297C-6297-FF96861A130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970938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B69D3-D1B6-EF3B-8337-29520AA29B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8A88F-FF50-C7DB-267A-9C8F57E6E1A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9CFDCFD-8BD1-515B-AC6E-6C3E9CE06ED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152826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790C2-9B72-ADE6-B1E8-93C6D10F6A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92345-F1E6-2E17-07BB-5E367A1C55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68E734F-A365-D931-2BB2-E23DFBBA070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193746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80768-3231-5F3B-32AA-F0B6FF41FC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00067-4DA1-A6BB-2718-06A29BA34D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9BB13EB-39EB-7911-E049-E5713D782DF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323426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41B71-4D2F-FC2D-08E6-4C4C1A3F6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2363E3-9015-DC9B-E539-68CCDA6D863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CDC8A60-6AA3-D9DC-797C-B1F974956D8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393445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D42AB-2823-150E-C669-4D07DC33D4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6FDCA-6279-14E6-25C9-2ACCF8C64B5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525FA87-0FE7-5A37-E1FC-ACA66F62017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545024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A52DF-2198-9FBD-F3E2-D86CEF09F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9682B-9239-61C5-8C85-094C0B173F9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A3DFE7-ABE1-BA93-2A92-0DBD80D21EE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352353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547BC-5E00-17BF-EC21-DAF523CC4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DB174-0238-7C22-016C-F176C29EC86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73E58C9-68B0-69D0-32DC-95FE3FF0F8E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706036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C856F-D9D7-1F28-806D-7AE0C39F4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13626-348F-D2E3-F392-06FFD5DE998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FB537DC-630F-6B3B-1E5C-D94315935D7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3438183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9D3A8-1163-A10C-A0C6-4990F574D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007C5-F04D-0C5F-0D4C-A1E4ECF175E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FC4AC73-F150-5ED1-3501-69623A9D395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701661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Cross Applications</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Introduction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technical objects are divided in to 6 different areas(RICEFW).</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 - Reports , I - Interfaces ,  C - Conversion , E - Enhancements , F - Forms , W - Workflow</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cross applications are the part of interfaces which helps to transfer the data between the systems.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With the help of cross applications, we can transfer the data from Non-SAP to SAP , SAP to Non-SAP and SAP to SAP systems.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cross applications are - BAPI, RFC ,IDOC’s( ALE &amp; EDI) etc.</a:t>
            </a: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441063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Requirement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Customer will provide the employee data in the file.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will migrate the employee data in SAP system using BAPI with IDOC interface.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involved in this requirement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Step1 : Creation of BAPI</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Step2 : Creation of IDOC interface for BAPI</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Step3 : Migrating the employee data using business object method(BAPI with IDOC interface) of LSMW.</a:t>
            </a:r>
          </a:p>
        </p:txBody>
      </p:sp>
    </p:spTree>
    <p:extLst>
      <p:ext uri="{BB962C8B-B14F-4D97-AF65-F5344CB8AC3E}">
        <p14:creationId xmlns:p14="http://schemas.microsoft.com/office/powerpoint/2010/main" val="135521182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BAPI</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 - Business A - Application P - Programming I - Interface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BAPI is a standard programming interface that enables the external access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to business process in the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An external system (may be as SAP system or any other system uses programming language like JAVA or Visual Basic or C++ ) can make a call to BAPI.</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BAPI’s in the SAP systems are implemented as function modules.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BAPI =  function module + business object.</a:t>
            </a:r>
          </a:p>
        </p:txBody>
      </p:sp>
    </p:spTree>
    <p:extLst>
      <p:ext uri="{BB962C8B-B14F-4D97-AF65-F5344CB8AC3E}">
        <p14:creationId xmlns:p14="http://schemas.microsoft.com/office/powerpoint/2010/main" val="147026079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BAPI(Contd.)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BAPI is defined in the business object repository(BOR).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to display the BAPI’s is BAPI (BAPI explorer).</a:t>
            </a:r>
          </a:p>
        </p:txBody>
      </p:sp>
    </p:spTree>
    <p:extLst>
      <p:ext uri="{BB962C8B-B14F-4D97-AF65-F5344CB8AC3E}">
        <p14:creationId xmlns:p14="http://schemas.microsoft.com/office/powerpoint/2010/main" val="196915493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Prerequisites for BAPI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function module name must start with &lt;namespace&gt;BAPI_&lt;business object&gt;_&lt;method&gt;.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All parameters associated type must begin with &lt;namespace&gt;BAPI.</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All parameters must be pass by value.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must contain a parameter RETURN of type ' BAPIRET2'.</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Function module must be RFC-enabled.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Function module must be released.</a:t>
            </a:r>
          </a:p>
        </p:txBody>
      </p:sp>
    </p:spTree>
    <p:extLst>
      <p:ext uri="{BB962C8B-B14F-4D97-AF65-F5344CB8AC3E}">
        <p14:creationId xmlns:p14="http://schemas.microsoft.com/office/powerpoint/2010/main" val="376772220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Creation of Business Object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business object builder: SWO1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need to provide the below mentioned things while creating the business object.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Super Type - To inherit the components of existing object type.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Object Type - It is used for internal identification of the business object.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Object Name - It is used for external identification of the business object. Using this property external system can interact with SAP system.</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Name - It is a descriptive name of the business object.</a:t>
            </a:r>
          </a:p>
        </p:txBody>
      </p:sp>
    </p:spTree>
    <p:extLst>
      <p:ext uri="{BB962C8B-B14F-4D97-AF65-F5344CB8AC3E}">
        <p14:creationId xmlns:p14="http://schemas.microsoft.com/office/powerpoint/2010/main" val="238153538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Creation of Business Object(Contd.)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Description - It is a brief description of the business object type.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Program - Program that will contain the ABAP code of the business object.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Application - The application component to which the business object belongs to</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 * stands for cross application).</a:t>
            </a:r>
          </a:p>
        </p:txBody>
      </p:sp>
    </p:spTree>
    <p:extLst>
      <p:ext uri="{BB962C8B-B14F-4D97-AF65-F5344CB8AC3E}">
        <p14:creationId xmlns:p14="http://schemas.microsoft.com/office/powerpoint/2010/main" val="419786547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Status of Business Object/Business Object Components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4 status for business object/business object components.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Modeled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Implemented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Released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Obsolete</a:t>
            </a:r>
          </a:p>
        </p:txBody>
      </p:sp>
    </p:spTree>
    <p:extLst>
      <p:ext uri="{BB962C8B-B14F-4D97-AF65-F5344CB8AC3E}">
        <p14:creationId xmlns:p14="http://schemas.microsoft.com/office/powerpoint/2010/main" val="5853467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Modeled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status means the business object/business object components are defined.</a:t>
            </a:r>
          </a:p>
        </p:txBody>
      </p:sp>
    </p:spTree>
    <p:extLst>
      <p:ext uri="{BB962C8B-B14F-4D97-AF65-F5344CB8AC3E}">
        <p14:creationId xmlns:p14="http://schemas.microsoft.com/office/powerpoint/2010/main" val="109239358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Implemented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status means business object/business object components have got full functionality implemented.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can be used for internal purpose (within SAP) and for testing purpose.</a:t>
            </a:r>
          </a:p>
        </p:txBody>
      </p:sp>
    </p:spTree>
    <p:extLst>
      <p:ext uri="{BB962C8B-B14F-4D97-AF65-F5344CB8AC3E}">
        <p14:creationId xmlns:p14="http://schemas.microsoft.com/office/powerpoint/2010/main" val="7776810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Released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status means business object/ business object components have got full functionality and the interface is freeze.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will make an entry in the BAPI explorer and can be invoked from external application as well (Non-SAP).</a:t>
            </a:r>
          </a:p>
        </p:txBody>
      </p:sp>
    </p:spTree>
    <p:extLst>
      <p:ext uri="{BB962C8B-B14F-4D97-AF65-F5344CB8AC3E}">
        <p14:creationId xmlns:p14="http://schemas.microsoft.com/office/powerpoint/2010/main" val="189653188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Obsolete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status means that business object/business object components can not be used.</a:t>
            </a:r>
          </a:p>
        </p:txBody>
      </p:sp>
    </p:spTree>
    <p:extLst>
      <p:ext uri="{BB962C8B-B14F-4D97-AF65-F5344CB8AC3E}">
        <p14:creationId xmlns:p14="http://schemas.microsoft.com/office/powerpoint/2010/main" val="355512638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Functions(Benefits) of Business Object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At BO level, non-SAP systems can communicate with SAP system. This can be done using BAPI’s.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BO types acts as entry points to data and functions for an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BO's can be used in business workflows, ALE etc.</a:t>
            </a:r>
          </a:p>
        </p:txBody>
      </p:sp>
    </p:spTree>
    <p:extLst>
      <p:ext uri="{BB962C8B-B14F-4D97-AF65-F5344CB8AC3E}">
        <p14:creationId xmlns:p14="http://schemas.microsoft.com/office/powerpoint/2010/main" val="241649143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Tables Related to Business Object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 for business object repository(BOR) basic data  : TOJTB</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 for business object detailed information  : SWOTLV</a:t>
            </a:r>
          </a:p>
        </p:txBody>
      </p:sp>
    </p:spTree>
    <p:extLst>
      <p:ext uri="{BB962C8B-B14F-4D97-AF65-F5344CB8AC3E}">
        <p14:creationId xmlns:p14="http://schemas.microsoft.com/office/powerpoint/2010/main" val="172176905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IDOC’s - Introduction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full form of IDOC is Intermediate Documents.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IDOC is a data container (data file) which is exchanged between two systems or two processes.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Every IDOC has a unique number.</a:t>
            </a:r>
          </a:p>
        </p:txBody>
      </p:sp>
    </p:spTree>
    <p:extLst>
      <p:ext uri="{BB962C8B-B14F-4D97-AF65-F5344CB8AC3E}">
        <p14:creationId xmlns:p14="http://schemas.microsoft.com/office/powerpoint/2010/main" val="392862658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IDOC Processes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types of IDOC processes.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Inbound process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Outbound process</a:t>
            </a:r>
          </a:p>
        </p:txBody>
      </p:sp>
    </p:spTree>
    <p:extLst>
      <p:ext uri="{BB962C8B-B14F-4D97-AF65-F5344CB8AC3E}">
        <p14:creationId xmlns:p14="http://schemas.microsoft.com/office/powerpoint/2010/main" val="385510742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Inbound Process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the data is coming into SAP system, it is called as inbound process.</a:t>
            </a:r>
          </a:p>
        </p:txBody>
      </p:sp>
    </p:spTree>
    <p:extLst>
      <p:ext uri="{BB962C8B-B14F-4D97-AF65-F5344CB8AC3E}">
        <p14:creationId xmlns:p14="http://schemas.microsoft.com/office/powerpoint/2010/main" val="379738377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Outbound Process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the data is going out from the SAP system, it is called as outbound process.</a:t>
            </a:r>
          </a:p>
        </p:txBody>
      </p:sp>
    </p:spTree>
    <p:extLst>
      <p:ext uri="{BB962C8B-B14F-4D97-AF65-F5344CB8AC3E}">
        <p14:creationId xmlns:p14="http://schemas.microsoft.com/office/powerpoint/2010/main" val="427222753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IDOC Data Exchange Methods/Technologies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types of data exchange methods/technologies in IDOC.</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EDI</a:t>
            </a:r>
          </a:p>
        </p:txBody>
      </p:sp>
    </p:spTree>
    <p:extLst>
      <p:ext uri="{BB962C8B-B14F-4D97-AF65-F5344CB8AC3E}">
        <p14:creationId xmlns:p14="http://schemas.microsoft.com/office/powerpoint/2010/main" val="316598172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ALE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ALE is a proprietary SAP technology.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full form of ALE is Application Link Enabling.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the format of data is not changing between the systems, it is called as ALE.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ALE is always from SAP-to-SAP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For example - There is a purchase order in SAP system -1 and the same purchase order data flows to other SAP system-2. It is called as ALE, as the format of data is not changing.</a:t>
            </a:r>
          </a:p>
        </p:txBody>
      </p:sp>
    </p:spTree>
    <p:extLst>
      <p:ext uri="{BB962C8B-B14F-4D97-AF65-F5344CB8AC3E}">
        <p14:creationId xmlns:p14="http://schemas.microsoft.com/office/powerpoint/2010/main" val="309968948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ALE(Contd.)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ALE is always with in the business.</a:t>
            </a:r>
          </a:p>
        </p:txBody>
      </p:sp>
    </p:spTree>
    <p:extLst>
      <p:ext uri="{BB962C8B-B14F-4D97-AF65-F5344CB8AC3E}">
        <p14:creationId xmlns:p14="http://schemas.microsoft.com/office/powerpoint/2010/main" val="288807488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EDI</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EDI is a much older term and has been used in existence much before SAP.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full form of EDI is Electronic Data Interchange.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the format of data is changing between the systems, it is called as EDI.</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EDI is between SAP to Non-SAP, Non-SAP to SAP and SAP-SAP.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For example - There is a purchase order in System -1, when the purchase order data flows to another system, it converted to sales order. It is called as EDI, as the format of data is changing.</a:t>
            </a:r>
          </a:p>
        </p:txBody>
      </p:sp>
    </p:spTree>
    <p:extLst>
      <p:ext uri="{BB962C8B-B14F-4D97-AF65-F5344CB8AC3E}">
        <p14:creationId xmlns:p14="http://schemas.microsoft.com/office/powerpoint/2010/main" val="5634693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EDI(Contd.)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EDI is across the business.</a:t>
            </a:r>
          </a:p>
        </p:txBody>
      </p:sp>
    </p:spTree>
    <p:extLst>
      <p:ext uri="{BB962C8B-B14F-4D97-AF65-F5344CB8AC3E}">
        <p14:creationId xmlns:p14="http://schemas.microsoft.com/office/powerpoint/2010/main" val="28291494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IDOC Architecture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IDOC architecture has 3 parts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Control record</a:t>
            </a:r>
          </a:p>
          <a:p>
            <a:pPr marL="914400" lvl="1" indent="-457200">
              <a:lnSpc>
                <a:spcPct val="200000"/>
              </a:lnSpc>
              <a:buClr>
                <a:srgbClr val="73C96C"/>
              </a:buClr>
              <a:buSzPct val="100000"/>
              <a:buFontTx/>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record</a:t>
            </a:r>
          </a:p>
          <a:p>
            <a:pPr marL="914400" lvl="1" indent="-457200">
              <a:lnSpc>
                <a:spcPct val="200000"/>
              </a:lnSpc>
              <a:buClr>
                <a:srgbClr val="73C96C"/>
              </a:buClr>
              <a:buSzPct val="100000"/>
              <a:buFontTx/>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Status record</a:t>
            </a:r>
          </a:p>
          <a:p>
            <a:pPr marL="800100" lvl="1" indent="-3429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The transaction code to display the IDOC is WE02 or WE05.</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289780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Control Record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provides the control information such as IDOC type (basic type), message type, port, partner number etc.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also provides the directions (inbound, outbound) of IDOC.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value 1 is for outbound IDOC and the value 2 is for inbound IDOC.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stores in table EDIDC.</a:t>
            </a:r>
          </a:p>
        </p:txBody>
      </p:sp>
    </p:spTree>
    <p:extLst>
      <p:ext uri="{BB962C8B-B14F-4D97-AF65-F5344CB8AC3E}">
        <p14:creationId xmlns:p14="http://schemas.microsoft.com/office/powerpoint/2010/main" val="289705177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Data Record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provides the whole data of the IDOC.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data is stored in the segments.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stores in table EDID4.</a:t>
            </a:r>
          </a:p>
        </p:txBody>
      </p:sp>
    </p:spTree>
    <p:extLst>
      <p:ext uri="{BB962C8B-B14F-4D97-AF65-F5344CB8AC3E}">
        <p14:creationId xmlns:p14="http://schemas.microsoft.com/office/powerpoint/2010/main" val="3884671376"/>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Status Record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provides the status of the IDOC (successful / error).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values 1-42 are for outbound IDOC status and 50-75 are for inbound IDOC status.</a:t>
            </a:r>
          </a:p>
        </p:txBody>
      </p:sp>
    </p:spTree>
    <p:extLst>
      <p:ext uri="{BB962C8B-B14F-4D97-AF65-F5344CB8AC3E}">
        <p14:creationId xmlns:p14="http://schemas.microsoft.com/office/powerpoint/2010/main" val="423334581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Message Type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specifies the meaning of the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tells for which purpose the IDOC is going to fire.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We are transferring employee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the message type is WE81.</a:t>
            </a:r>
          </a:p>
        </p:txBody>
      </p:sp>
    </p:spTree>
    <p:extLst>
      <p:ext uri="{BB962C8B-B14F-4D97-AF65-F5344CB8AC3E}">
        <p14:creationId xmlns:p14="http://schemas.microsoft.com/office/powerpoint/2010/main" val="42904248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IDOC Type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also called as Basic Type.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specifies the structure of the data which is to be exchanged.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While transferring employee data , empid empname are the examples of IDOC type.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the IDOC type is WE30.</a:t>
            </a:r>
          </a:p>
        </p:txBody>
      </p:sp>
    </p:spTree>
    <p:extLst>
      <p:ext uri="{BB962C8B-B14F-4D97-AF65-F5344CB8AC3E}">
        <p14:creationId xmlns:p14="http://schemas.microsoft.com/office/powerpoint/2010/main" val="1852614355"/>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Difference between IDOC Type and Message Type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IDOC type specifies the structure of the data whereas message type specifies the meaning of the data.</a:t>
            </a:r>
          </a:p>
        </p:txBody>
      </p:sp>
    </p:spTree>
    <p:extLst>
      <p:ext uri="{BB962C8B-B14F-4D97-AF65-F5344CB8AC3E}">
        <p14:creationId xmlns:p14="http://schemas.microsoft.com/office/powerpoint/2010/main" val="423024340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Segments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Segments are the basic elements of an IDoc type.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is stored in the segments.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the segments is WE31.</a:t>
            </a:r>
          </a:p>
        </p:txBody>
      </p:sp>
    </p:spTree>
    <p:extLst>
      <p:ext uri="{BB962C8B-B14F-4D97-AF65-F5344CB8AC3E}">
        <p14:creationId xmlns:p14="http://schemas.microsoft.com/office/powerpoint/2010/main" val="1450543622"/>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IDOC(ALE) Interface for BAPI</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to create ALE interface for BAPI :  BDBG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 to store the BAPI-ALE interface for inbound processing: TBDBE</a:t>
            </a:r>
          </a:p>
        </p:txBody>
      </p:sp>
    </p:spTree>
    <p:extLst>
      <p:ext uri="{BB962C8B-B14F-4D97-AF65-F5344CB8AC3E}">
        <p14:creationId xmlns:p14="http://schemas.microsoft.com/office/powerpoint/2010/main" val="85209962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IDOC Settings - Port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Port defines the technical link between sender and receiver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Ports in the SAP system acts as a communication channel to send IDOC’s.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to create a port is WE21.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most commonly types of ports are: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TRFC port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File port</a:t>
            </a:r>
          </a:p>
        </p:txBody>
      </p:sp>
    </p:spTree>
    <p:extLst>
      <p:ext uri="{BB962C8B-B14F-4D97-AF65-F5344CB8AC3E}">
        <p14:creationId xmlns:p14="http://schemas.microsoft.com/office/powerpoint/2010/main" val="3959787483"/>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TRFC Port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TRFC stands for transactional port.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Here we define the ports for RFC destinations created using SM59.</a:t>
            </a:r>
          </a:p>
        </p:txBody>
      </p:sp>
    </p:spTree>
    <p:extLst>
      <p:ext uri="{BB962C8B-B14F-4D97-AF65-F5344CB8AC3E}">
        <p14:creationId xmlns:p14="http://schemas.microsoft.com/office/powerpoint/2010/main" val="2369672732"/>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File Port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While using file port we can specify the directory where the IDOC file should be placed.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other system or the middleware will pick up the file from here.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6604302"/>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IDOC Settings - Partner Profile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partner is one whom we conduct business &amp; exchange documents.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partner profile of a partner , we maintain the parameters that are necessary for exchanging the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to create a partner profile is WE20.</a:t>
            </a:r>
          </a:p>
        </p:txBody>
      </p:sp>
    </p:spTree>
    <p:extLst>
      <p:ext uri="{BB962C8B-B14F-4D97-AF65-F5344CB8AC3E}">
        <p14:creationId xmlns:p14="http://schemas.microsoft.com/office/powerpoint/2010/main" val="1744298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Logical System</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logical system is used to identify an individual client in a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logical system is a unique ID within an SAP system that identifies a partner communication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Naming conventions for Logical system : TR2CLNT800( SystemidCLNTclientnumber)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Logical system is BD54.</a:t>
            </a:r>
          </a:p>
        </p:txBody>
      </p:sp>
    </p:spTree>
    <p:extLst>
      <p:ext uri="{BB962C8B-B14F-4D97-AF65-F5344CB8AC3E}">
        <p14:creationId xmlns:p14="http://schemas.microsoft.com/office/powerpoint/2010/main" val="227709980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Process Code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process code contains the details of the function module that are used for IDOC processing.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types of process codes.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Inbound process code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Outbound process code</a:t>
            </a:r>
          </a:p>
        </p:txBody>
      </p:sp>
    </p:spTree>
    <p:extLst>
      <p:ext uri="{BB962C8B-B14F-4D97-AF65-F5344CB8AC3E}">
        <p14:creationId xmlns:p14="http://schemas.microsoft.com/office/powerpoint/2010/main" val="1334162409"/>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Inbound Process Code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process the IDOC &amp; send data to application.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inbound process code is WE42.</a:t>
            </a:r>
          </a:p>
        </p:txBody>
      </p:sp>
    </p:spTree>
    <p:extLst>
      <p:ext uri="{BB962C8B-B14F-4D97-AF65-F5344CB8AC3E}">
        <p14:creationId xmlns:p14="http://schemas.microsoft.com/office/powerpoint/2010/main" val="26179610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Outbound Process Code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take data from the application &amp; send data to IDOC.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outbound process code is WE41.</a:t>
            </a:r>
          </a:p>
        </p:txBody>
      </p:sp>
    </p:spTree>
    <p:extLst>
      <p:ext uri="{BB962C8B-B14F-4D97-AF65-F5344CB8AC3E}">
        <p14:creationId xmlns:p14="http://schemas.microsoft.com/office/powerpoint/2010/main" val="3223150359"/>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Test Tool for IDOC(WE19)</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WE19 is the transaction code for the test tool for IDOC.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tool generates new IDOC number.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process 1 IDOC at a time.</a:t>
            </a:r>
          </a:p>
          <a:p>
            <a:pPr marL="800100" lvl="1" indent="-3429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Do not use WE19 for reprocess purpose, It is only for testing and debugging purposes.</a:t>
            </a:r>
          </a:p>
        </p:txBody>
      </p:sp>
    </p:spTree>
    <p:extLst>
      <p:ext uri="{BB962C8B-B14F-4D97-AF65-F5344CB8AC3E}">
        <p14:creationId xmlns:p14="http://schemas.microsoft.com/office/powerpoint/2010/main" val="1155936080"/>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Reprocessing of Error IDOC’S(BD87)</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BD87 is the transaction code to reprocess the error IDOC’s.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After reprocess, it does not generate new IDOC number.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process any number of error IDOC’s at a time.</a:t>
            </a:r>
          </a:p>
        </p:txBody>
      </p:sp>
    </p:spTree>
    <p:extLst>
      <p:ext uri="{BB962C8B-B14F-4D97-AF65-F5344CB8AC3E}">
        <p14:creationId xmlns:p14="http://schemas.microsoft.com/office/powerpoint/2010/main" val="468755307"/>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Transaction Codes and Tables Related to BAPI</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business object builder - SWO1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BAPI explorer - BAPI</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 for business object repository(BOR) basic data - TOJTB</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 for business object detailed information - SWOTLV</a:t>
            </a:r>
          </a:p>
        </p:txBody>
      </p:sp>
    </p:spTree>
    <p:extLst>
      <p:ext uri="{BB962C8B-B14F-4D97-AF65-F5344CB8AC3E}">
        <p14:creationId xmlns:p14="http://schemas.microsoft.com/office/powerpoint/2010/main" val="675179482"/>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Transaction Codes and Tables Related to BAPI-IDOC Interface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to generate ALE(IDOC) interface for BAPI - BDBG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 for BAPI-IDOC interface for inbound processing - TBDBE</a:t>
            </a:r>
          </a:p>
        </p:txBody>
      </p:sp>
    </p:spTree>
    <p:extLst>
      <p:ext uri="{BB962C8B-B14F-4D97-AF65-F5344CB8AC3E}">
        <p14:creationId xmlns:p14="http://schemas.microsoft.com/office/powerpoint/2010/main" val="411562964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Transaction Codes Related to IDOC’s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to develop IDOC types - WE30</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to develop segments - WE31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message types - WE81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mapping of IDOC type &amp; message type - WE82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assignment of function module to message type &amp; IDOC type - WE57</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ports in IDOC processing - WE21</a:t>
            </a:r>
          </a:p>
        </p:txBody>
      </p:sp>
    </p:spTree>
    <p:extLst>
      <p:ext uri="{BB962C8B-B14F-4D97-AF65-F5344CB8AC3E}">
        <p14:creationId xmlns:p14="http://schemas.microsoft.com/office/powerpoint/2010/main" val="4154798662"/>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Transaction Codes Related to IDOC’s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partner profile - WE20</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inbound process code - WE42</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outbound process code - WE41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IDOC list - WE02 , WE05</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of test tool for IDOC processing - WE19</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to reprocess the error IDOC’s - BD87</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5834113"/>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Tables Related to IDOC’s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 to store IDOC control record - EDIDC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 to store IDOC data record - EDID4</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 to store IDOC status record - EDIDS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75123305"/>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Other Transaction Codes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RFC connections - SM59</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Transaction code for logical systems - BD54</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387570"/>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5FABA-14F7-828D-037A-FA8ED42EB9F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89A49E7-3EFA-E42D-C910-A4F83E89A107}"/>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50</a:t>
            </a:fld>
            <a:endParaRPr dirty="0"/>
          </a:p>
        </p:txBody>
      </p:sp>
      <p:sp>
        <p:nvSpPr>
          <p:cNvPr id="207" name="TextBox 17">
            <a:extLst>
              <a:ext uri="{FF2B5EF4-FFF2-40B4-BE49-F238E27FC236}">
                <a16:creationId xmlns:a16="http://schemas.microsoft.com/office/drawing/2014/main" id="{BB6E93EE-C3EA-BE64-A759-596E6DAE82AE}"/>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RFC - Introduction</a:t>
            </a:r>
          </a:p>
        </p:txBody>
      </p:sp>
      <p:sp>
        <p:nvSpPr>
          <p:cNvPr id="208" name="Straight Connector 18">
            <a:extLst>
              <a:ext uri="{FF2B5EF4-FFF2-40B4-BE49-F238E27FC236}">
                <a16:creationId xmlns:a16="http://schemas.microsoft.com/office/drawing/2014/main" id="{0432E30B-F66D-0A2E-0164-9E9E57E7B06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5EEDB5A-8168-B98B-26E4-48AEAD4779C5}"/>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RFC stands for Remote Function Call.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 the name itself is suggesting, with the help of RFC we can connect with the external system, the external system can be SAP or Non-SAP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all SAP systems, CALL FUNCTION represents an integral part of ABAP language.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statement CALL FUNCTION executes a function module in the same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RFC is an extension of CALL FUNCTION in a distributed environment.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Existing function modules can be executed using an RFC from a remote system.</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13279626"/>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EADE6-5E53-7486-2548-D6986304E13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7C338353-B903-88D2-050F-D46C9567CDA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51</a:t>
            </a:fld>
            <a:endParaRPr dirty="0"/>
          </a:p>
        </p:txBody>
      </p:sp>
      <p:sp>
        <p:nvSpPr>
          <p:cNvPr id="207" name="TextBox 17">
            <a:extLst>
              <a:ext uri="{FF2B5EF4-FFF2-40B4-BE49-F238E27FC236}">
                <a16:creationId xmlns:a16="http://schemas.microsoft.com/office/drawing/2014/main" id="{2E0BEE5E-8538-6746-2624-3766EDC85610}"/>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RFC - Introduction(Contd.)</a:t>
            </a:r>
          </a:p>
        </p:txBody>
      </p:sp>
      <p:sp>
        <p:nvSpPr>
          <p:cNvPr id="208" name="Straight Connector 18">
            <a:extLst>
              <a:ext uri="{FF2B5EF4-FFF2-40B4-BE49-F238E27FC236}">
                <a16:creationId xmlns:a16="http://schemas.microsoft.com/office/drawing/2014/main" id="{A8A3FE8D-F532-6B34-FC1D-BFA919E63FC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80828CB-27EA-ED59-720E-EE69A94B6848}"/>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is done by adding a DESTINATION clause to the CALL FUNCTION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Syntax : CALL FUNCTION ‘ZFM_ORDER’ DESTINATION ‘A4H’.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In the above syntax - CALL FUNCTION = keyword, ZFM_ORDER = name of the function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module, DESTINATION = keyword, A4H = name of the source system in which function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module is created.     </a:t>
            </a:r>
          </a:p>
        </p:txBody>
      </p:sp>
    </p:spTree>
    <p:extLst>
      <p:ext uri="{BB962C8B-B14F-4D97-AF65-F5344CB8AC3E}">
        <p14:creationId xmlns:p14="http://schemas.microsoft.com/office/powerpoint/2010/main" val="2408803702"/>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F5225-38D7-DABA-0A2D-BC90B84EB1B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5D6B1BF-4C0C-92FC-5B34-BFE3C252098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52</a:t>
            </a:fld>
            <a:endParaRPr dirty="0"/>
          </a:p>
        </p:txBody>
      </p:sp>
      <p:sp>
        <p:nvSpPr>
          <p:cNvPr id="207" name="TextBox 17">
            <a:extLst>
              <a:ext uri="{FF2B5EF4-FFF2-40B4-BE49-F238E27FC236}">
                <a16:creationId xmlns:a16="http://schemas.microsoft.com/office/drawing/2014/main" id="{852F8EE3-A67E-E4F7-FA28-F9EA82C9B4D5}"/>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Difference Between BAPI and RFC</a:t>
            </a:r>
          </a:p>
        </p:txBody>
      </p:sp>
      <p:sp>
        <p:nvSpPr>
          <p:cNvPr id="208" name="Straight Connector 18">
            <a:extLst>
              <a:ext uri="{FF2B5EF4-FFF2-40B4-BE49-F238E27FC236}">
                <a16:creationId xmlns:a16="http://schemas.microsoft.com/office/drawing/2014/main" id="{2A18ED36-E68F-1619-2A24-D95DE12B973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D6AD7A2-1E34-E670-F097-829B88A54541}"/>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BAPI = RFC function module + business object. The external system connects with the business object and that business object calls the RFC function module whereas in the case of RFC, external system directly connects with the RFC Function Module.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BAPI is based upon OOPS concepts whereas RFC does not follow OOPS concepts.</a:t>
            </a:r>
          </a:p>
        </p:txBody>
      </p:sp>
    </p:spTree>
    <p:extLst>
      <p:ext uri="{BB962C8B-B14F-4D97-AF65-F5344CB8AC3E}">
        <p14:creationId xmlns:p14="http://schemas.microsoft.com/office/powerpoint/2010/main" val="2978117964"/>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208DC-A5D0-2F62-A4E9-A9B511F1E23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C41D54C-C524-D9B4-20E4-CB8EAAA73C5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53</a:t>
            </a:fld>
            <a:endParaRPr dirty="0"/>
          </a:p>
        </p:txBody>
      </p:sp>
      <p:sp>
        <p:nvSpPr>
          <p:cNvPr id="207" name="TextBox 17">
            <a:extLst>
              <a:ext uri="{FF2B5EF4-FFF2-40B4-BE49-F238E27FC236}">
                <a16:creationId xmlns:a16="http://schemas.microsoft.com/office/drawing/2014/main" id="{FC094C1D-620B-DEC2-9961-6FFF1CBE44C7}"/>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Pre-Requisites </a:t>
            </a:r>
            <a:r>
              <a:rPr lang="en-US" sz="3200">
                <a:latin typeface="Calibri" panose="020F0502020204030204" pitchFamily="34" charset="0"/>
                <a:cs typeface="Calibri" panose="020F0502020204030204" pitchFamily="34" charset="0"/>
              </a:rPr>
              <a:t>for RFC</a:t>
            </a:r>
            <a:endParaRPr lang="en-US" sz="3200" dirty="0">
              <a:latin typeface="Calibri" panose="020F0502020204030204" pitchFamily="34" charset="0"/>
              <a:cs typeface="Calibri" panose="020F0502020204030204" pitchFamily="34" charset="0"/>
            </a:endParaRPr>
          </a:p>
        </p:txBody>
      </p:sp>
      <p:sp>
        <p:nvSpPr>
          <p:cNvPr id="208" name="Straight Connector 18">
            <a:extLst>
              <a:ext uri="{FF2B5EF4-FFF2-40B4-BE49-F238E27FC236}">
                <a16:creationId xmlns:a16="http://schemas.microsoft.com/office/drawing/2014/main" id="{3FDFEBDD-1671-BD23-AA38-263479CA44C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E9BDEF6C-806B-8A19-A8A4-EFED28659E6A}"/>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RFC function module is just like a function module created in the transaction SE37, with some specific pre-requisites.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processing type of the function module should be remote-enabled module.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All parameters must be pass by value.</a:t>
            </a:r>
          </a:p>
        </p:txBody>
      </p:sp>
    </p:spTree>
    <p:extLst>
      <p:ext uri="{BB962C8B-B14F-4D97-AF65-F5344CB8AC3E}">
        <p14:creationId xmlns:p14="http://schemas.microsoft.com/office/powerpoint/2010/main" val="3815980148"/>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75BEC-0FD8-AD48-E5EC-5786BB503BF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E6FF19F-FF25-B2CE-39CE-A79AB41B841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54</a:t>
            </a:fld>
            <a:endParaRPr dirty="0"/>
          </a:p>
        </p:txBody>
      </p:sp>
      <p:sp>
        <p:nvSpPr>
          <p:cNvPr id="207" name="TextBox 17">
            <a:extLst>
              <a:ext uri="{FF2B5EF4-FFF2-40B4-BE49-F238E27FC236}">
                <a16:creationId xmlns:a16="http://schemas.microsoft.com/office/drawing/2014/main" id="{D9E81EF6-EB64-00B4-66ED-E56E3DAF0183}"/>
              </a:ext>
            </a:extLst>
          </p:cNvPr>
          <p:cNvSpPr txBox="1"/>
          <p:nvPr/>
        </p:nvSpPr>
        <p:spPr>
          <a:xfrm>
            <a:off x="14244" y="357542"/>
            <a:ext cx="1180833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Steps to Send Materials from one SAP Client to Another SAP Client</a:t>
            </a:r>
          </a:p>
        </p:txBody>
      </p:sp>
      <p:sp>
        <p:nvSpPr>
          <p:cNvPr id="208" name="Straight Connector 18">
            <a:extLst>
              <a:ext uri="{FF2B5EF4-FFF2-40B4-BE49-F238E27FC236}">
                <a16:creationId xmlns:a16="http://schemas.microsoft.com/office/drawing/2014/main" id="{E6252B7B-7512-5BA0-F491-C42DA03D97E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C52B71C-9CE0-46A6-3C24-6FFA04F39BFF}"/>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Below are the steps to send materials from one SAP client to another SAP client using ALE.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logical systems using transaction code SALE.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Assign logical system to the client using transaction code SALE.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and check the RFC connection using transaction code SM59.</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 transactional RFC port using transaction code WE21.</a:t>
            </a:r>
          </a:p>
        </p:txBody>
      </p:sp>
    </p:spTree>
    <p:extLst>
      <p:ext uri="{BB962C8B-B14F-4D97-AF65-F5344CB8AC3E}">
        <p14:creationId xmlns:p14="http://schemas.microsoft.com/office/powerpoint/2010/main" val="236296701"/>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A0443-3804-D914-9BC0-120BB2989C1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34304F2-2562-5D00-16B5-339EFC27A7F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55</a:t>
            </a:fld>
            <a:endParaRPr dirty="0"/>
          </a:p>
        </p:txBody>
      </p:sp>
      <p:sp>
        <p:nvSpPr>
          <p:cNvPr id="207" name="TextBox 17">
            <a:extLst>
              <a:ext uri="{FF2B5EF4-FFF2-40B4-BE49-F238E27FC236}">
                <a16:creationId xmlns:a16="http://schemas.microsoft.com/office/drawing/2014/main" id="{9016A09B-BCD8-8168-0094-039926CA515C}"/>
              </a:ext>
            </a:extLst>
          </p:cNvPr>
          <p:cNvSpPr txBox="1"/>
          <p:nvPr/>
        </p:nvSpPr>
        <p:spPr>
          <a:xfrm>
            <a:off x="14244" y="357542"/>
            <a:ext cx="1180833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Steps to Send Materials from one SAP Client to Another SAP Client</a:t>
            </a:r>
          </a:p>
        </p:txBody>
      </p:sp>
      <p:sp>
        <p:nvSpPr>
          <p:cNvPr id="208" name="Straight Connector 18">
            <a:extLst>
              <a:ext uri="{FF2B5EF4-FFF2-40B4-BE49-F238E27FC236}">
                <a16:creationId xmlns:a16="http://schemas.microsoft.com/office/drawing/2014/main" id="{9155CB0D-1393-54B2-016F-15E8053ACE8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885B365-3555-9D7B-2B5C-F02B9939E68F}"/>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startAt="5"/>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source client , create a partner profile for receiver client using transaction code WE20.</a:t>
            </a:r>
          </a:p>
          <a:p>
            <a:pPr marL="914400" lvl="1" indent="-457200">
              <a:lnSpc>
                <a:spcPct val="200000"/>
              </a:lnSpc>
              <a:buClr>
                <a:srgbClr val="73C96C"/>
              </a:buClr>
              <a:buSzPct val="100000"/>
              <a:buFont typeface="+mj-lt"/>
              <a:buAutoNum type="arabicPeriod" startAt="5"/>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receiver client , create a partner profile for source client using transaction code WE20.</a:t>
            </a:r>
          </a:p>
          <a:p>
            <a:pPr marL="914400" lvl="1" indent="-457200">
              <a:lnSpc>
                <a:spcPct val="200000"/>
              </a:lnSpc>
              <a:buClr>
                <a:srgbClr val="73C96C"/>
              </a:buClr>
              <a:buSzPct val="100000"/>
              <a:buFont typeface="+mj-lt"/>
              <a:buAutoNum type="arabicPeriod" startAt="5"/>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 distribution model using the transaction code BD64 - The purpose of distribution model is to describes the ALE message flow between logical systems.</a:t>
            </a:r>
          </a:p>
          <a:p>
            <a:pPr marL="914400" lvl="1" indent="-457200">
              <a:lnSpc>
                <a:spcPct val="200000"/>
              </a:lnSpc>
              <a:buClr>
                <a:srgbClr val="73C96C"/>
              </a:buClr>
              <a:buSzPct val="100000"/>
              <a:buFont typeface="+mj-lt"/>
              <a:buAutoNum type="arabicPeriod" startAt="5"/>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7369532"/>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CBE4C-43B8-E794-8D5E-20B82F880C9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839B18C-C3B9-90C8-9FE6-B0DA321E428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56</a:t>
            </a:fld>
            <a:endParaRPr dirty="0"/>
          </a:p>
        </p:txBody>
      </p:sp>
      <p:sp>
        <p:nvSpPr>
          <p:cNvPr id="207" name="TextBox 17">
            <a:extLst>
              <a:ext uri="{FF2B5EF4-FFF2-40B4-BE49-F238E27FC236}">
                <a16:creationId xmlns:a16="http://schemas.microsoft.com/office/drawing/2014/main" id="{C103959F-9B28-890F-7B52-7F6757DD0772}"/>
              </a:ext>
            </a:extLst>
          </p:cNvPr>
          <p:cNvSpPr txBox="1"/>
          <p:nvPr/>
        </p:nvSpPr>
        <p:spPr>
          <a:xfrm>
            <a:off x="14244" y="357542"/>
            <a:ext cx="1180833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Steps to Send Materials from one SAP Client to Another SAP Client</a:t>
            </a:r>
          </a:p>
        </p:txBody>
      </p:sp>
      <p:sp>
        <p:nvSpPr>
          <p:cNvPr id="208" name="Straight Connector 18">
            <a:extLst>
              <a:ext uri="{FF2B5EF4-FFF2-40B4-BE49-F238E27FC236}">
                <a16:creationId xmlns:a16="http://schemas.microsoft.com/office/drawing/2014/main" id="{D7272B7D-A24D-4CB6-167F-B3C5B7E3EDD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CC9942A-C000-BC8A-FE0C-55B478EF716F}"/>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startAt="8"/>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materials using MM01 transaction code.</a:t>
            </a:r>
          </a:p>
          <a:p>
            <a:pPr marL="914400" lvl="1" indent="-457200">
              <a:lnSpc>
                <a:spcPct val="200000"/>
              </a:lnSpc>
              <a:buClr>
                <a:srgbClr val="73C96C"/>
              </a:buClr>
              <a:buSzPct val="100000"/>
              <a:buFont typeface="+mj-lt"/>
              <a:buAutoNum type="arabicPeriod" startAt="8"/>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Send the materials through BD10 transaction code.</a:t>
            </a:r>
          </a:p>
          <a:p>
            <a:pPr marL="914400" lvl="1" indent="-457200">
              <a:lnSpc>
                <a:spcPct val="200000"/>
              </a:lnSpc>
              <a:buClr>
                <a:srgbClr val="73C96C"/>
              </a:buClr>
              <a:buSzPct val="100000"/>
              <a:buFont typeface="+mj-lt"/>
              <a:buAutoNum type="arabicPeriod" startAt="8"/>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Check the generated IDOC’s using WE02/WE05 transaction code.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6988477"/>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0B55-0450-AF8E-16B9-78CB540DF78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83E9F0F-790B-55DD-54EB-9209EC96D4C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57</a:t>
            </a:fld>
            <a:endParaRPr dirty="0"/>
          </a:p>
        </p:txBody>
      </p:sp>
      <p:sp>
        <p:nvSpPr>
          <p:cNvPr id="207" name="TextBox 17">
            <a:extLst>
              <a:ext uri="{FF2B5EF4-FFF2-40B4-BE49-F238E27FC236}">
                <a16:creationId xmlns:a16="http://schemas.microsoft.com/office/drawing/2014/main" id="{CEBF5712-7E02-BF8F-B40D-E295BDBF77B1}"/>
              </a:ext>
            </a:extLst>
          </p:cNvPr>
          <p:cNvSpPr txBox="1"/>
          <p:nvPr/>
        </p:nvSpPr>
        <p:spPr>
          <a:xfrm>
            <a:off x="14244" y="357542"/>
            <a:ext cx="1180833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Program - RBDMIDOC</a:t>
            </a:r>
          </a:p>
        </p:txBody>
      </p:sp>
      <p:sp>
        <p:nvSpPr>
          <p:cNvPr id="208" name="Straight Connector 18">
            <a:extLst>
              <a:ext uri="{FF2B5EF4-FFF2-40B4-BE49-F238E27FC236}">
                <a16:creationId xmlns:a16="http://schemas.microsoft.com/office/drawing/2014/main" id="{4E7CBAFE-BFB8-54A8-87FA-E78F92F65F3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113E842-CE94-4426-7129-237342B1E86D}"/>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program </a:t>
            </a:r>
            <a:r>
              <a:rPr lang="en-US" sz="2400" dirty="0">
                <a:solidFill>
                  <a:srgbClr val="3B3838"/>
                </a:solidFill>
                <a:latin typeface="Calibri" panose="020F0502020204030204" pitchFamily="34" charset="0"/>
                <a:cs typeface="Calibri" panose="020F0502020204030204" pitchFamily="34" charset="0"/>
              </a:rPr>
              <a:t>RBDMIDOC </a:t>
            </a:r>
            <a:r>
              <a:rPr lang="en-US" altLang="en-US" sz="2400" dirty="0">
                <a:solidFill>
                  <a:srgbClr val="3B3838"/>
                </a:solidFill>
                <a:latin typeface="Calibri" panose="020F0502020204030204" pitchFamily="34" charset="0"/>
                <a:cs typeface="Calibri" panose="020F0502020204030204" pitchFamily="34" charset="0"/>
              </a:rPr>
              <a:t>is used to generate the IDOC’s for a message type using the change pointers.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In real projects, we schedule this program in the background which runs at regular intervals.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238625"/>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AEE9-35E6-58FA-BFF9-C099001C473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297D1D0-E2DF-F2E6-3D3E-F16DE1E0CDE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58</a:t>
            </a:fld>
            <a:endParaRPr dirty="0"/>
          </a:p>
        </p:txBody>
      </p:sp>
      <p:sp>
        <p:nvSpPr>
          <p:cNvPr id="207" name="TextBox 17">
            <a:extLst>
              <a:ext uri="{FF2B5EF4-FFF2-40B4-BE49-F238E27FC236}">
                <a16:creationId xmlns:a16="http://schemas.microsoft.com/office/drawing/2014/main" id="{8E739F19-CB0A-E7EE-7EA0-54E64E0012DC}"/>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Change Pointers Technique</a:t>
            </a:r>
          </a:p>
        </p:txBody>
      </p:sp>
      <p:sp>
        <p:nvSpPr>
          <p:cNvPr id="208" name="Straight Connector 18">
            <a:extLst>
              <a:ext uri="{FF2B5EF4-FFF2-40B4-BE49-F238E27FC236}">
                <a16:creationId xmlns:a16="http://schemas.microsoft.com/office/drawing/2014/main" id="{304251EC-3856-9D2C-4BBF-DFCE9721672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99685207-DDF9-02BB-27A5-32B6F4EC13FF}"/>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For the purpose of distributing data via ALE to other systems, the change pointers technique is used.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It’s purpose is used to distribute the data changes made in one SAP client to other SAP clients.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Change pointers log/history is stored into (BDCP, BDCPS) or BDCP2 tables.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change pointers technique is based on the change document technique.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Change document technique is used to track the changes made to that document. </a:t>
            </a:r>
          </a:p>
        </p:txBody>
      </p:sp>
    </p:spTree>
    <p:extLst>
      <p:ext uri="{BB962C8B-B14F-4D97-AF65-F5344CB8AC3E}">
        <p14:creationId xmlns:p14="http://schemas.microsoft.com/office/powerpoint/2010/main" val="2688278447"/>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DCBAF-1672-EEAF-163B-65BAC743ACC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DA7FA2D-6D04-FC78-A32A-B6D3732212E8}"/>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59</a:t>
            </a:fld>
            <a:endParaRPr dirty="0"/>
          </a:p>
        </p:txBody>
      </p:sp>
      <p:sp>
        <p:nvSpPr>
          <p:cNvPr id="207" name="TextBox 17">
            <a:extLst>
              <a:ext uri="{FF2B5EF4-FFF2-40B4-BE49-F238E27FC236}">
                <a16:creationId xmlns:a16="http://schemas.microsoft.com/office/drawing/2014/main" id="{55778F63-B40F-5245-24AF-8387E0218688}"/>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Change Pointers Technique(Contd.)</a:t>
            </a:r>
          </a:p>
        </p:txBody>
      </p:sp>
      <p:sp>
        <p:nvSpPr>
          <p:cNvPr id="208" name="Straight Connector 18">
            <a:extLst>
              <a:ext uri="{FF2B5EF4-FFF2-40B4-BE49-F238E27FC236}">
                <a16:creationId xmlns:a16="http://schemas.microsoft.com/office/drawing/2014/main" id="{6D056AE7-BFD6-7DC8-981C-FC91C247098F}"/>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CA2B4C5-CB6E-1052-C2BD-E5A0DC24FB56}"/>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Change document log/history is available in CDHDR(header table) &amp; CDPOS(item table).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Change document technique is used to track the changes made to that document whereas change pointer technique is used to distribute that changes to other clients.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267360"/>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2D04C-114C-13E3-A39E-1CFA6C70C83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2CF2006-1EB0-54FC-057F-4160CE32321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60</a:t>
            </a:fld>
            <a:endParaRPr dirty="0"/>
          </a:p>
        </p:txBody>
      </p:sp>
      <p:sp>
        <p:nvSpPr>
          <p:cNvPr id="207" name="TextBox 17">
            <a:extLst>
              <a:ext uri="{FF2B5EF4-FFF2-40B4-BE49-F238E27FC236}">
                <a16:creationId xmlns:a16="http://schemas.microsoft.com/office/drawing/2014/main" id="{CF802AAE-535C-8E3C-3534-AC5EBB0DA8BF}"/>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Configuration Steps for Change Pointers</a:t>
            </a:r>
          </a:p>
        </p:txBody>
      </p:sp>
      <p:sp>
        <p:nvSpPr>
          <p:cNvPr id="208" name="Straight Connector 18">
            <a:extLst>
              <a:ext uri="{FF2B5EF4-FFF2-40B4-BE49-F238E27FC236}">
                <a16:creationId xmlns:a16="http://schemas.microsoft.com/office/drawing/2014/main" id="{3E1800EF-3ADA-354C-7DF7-5D1C1911E91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EF85923C-0433-1D54-DEF6-DA0C5EAADDDD}"/>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Below are the configuration steps for the change pointers.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Enable change pointers globally  - Transaction code : BD61</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Enable change pointers for a message type - Transaction  code : BD50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Specify the fields for which change pointers are to be written - Transaction code : BD52</a:t>
            </a:r>
          </a:p>
        </p:txBody>
      </p:sp>
    </p:spTree>
    <p:extLst>
      <p:ext uri="{BB962C8B-B14F-4D97-AF65-F5344CB8AC3E}">
        <p14:creationId xmlns:p14="http://schemas.microsoft.com/office/powerpoint/2010/main" val="3866466232"/>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2F9F6-F86C-E0FE-FC7A-BBFA8836948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9737A2B-8DD3-2202-08C8-F9D21FDF248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61</a:t>
            </a:fld>
            <a:endParaRPr dirty="0"/>
          </a:p>
        </p:txBody>
      </p:sp>
      <p:sp>
        <p:nvSpPr>
          <p:cNvPr id="207" name="TextBox 17">
            <a:extLst>
              <a:ext uri="{FF2B5EF4-FFF2-40B4-BE49-F238E27FC236}">
                <a16:creationId xmlns:a16="http://schemas.microsoft.com/office/drawing/2014/main" id="{C784C847-F781-C05F-C160-6411F27C0134}"/>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Configuration Steps for Change Pointers</a:t>
            </a:r>
          </a:p>
        </p:txBody>
      </p:sp>
      <p:sp>
        <p:nvSpPr>
          <p:cNvPr id="208" name="Straight Connector 18">
            <a:extLst>
              <a:ext uri="{FF2B5EF4-FFF2-40B4-BE49-F238E27FC236}">
                <a16:creationId xmlns:a16="http://schemas.microsoft.com/office/drawing/2014/main" id="{AB5D1476-EBC7-3129-C2CC-AE490E3E8B5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7B9A71A-4432-2777-3EC4-B890EDD5D09F}"/>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Enable change pointers globally  - Transaction code : BD61. This option enables the change pointer </a:t>
            </a:r>
            <a:r>
              <a:rPr lang="en-US" altLang="en-US" sz="2400">
                <a:solidFill>
                  <a:srgbClr val="3B3838"/>
                </a:solidFill>
                <a:latin typeface="Calibri" panose="020F0502020204030204" pitchFamily="34" charset="0"/>
                <a:cs typeface="Calibri" panose="020F0502020204030204" pitchFamily="34" charset="0"/>
              </a:rPr>
              <a:t>process globally. </a:t>
            </a:r>
            <a:r>
              <a:rPr lang="en-US" altLang="en-US" sz="2400" dirty="0">
                <a:solidFill>
                  <a:srgbClr val="3B3838"/>
                </a:solidFill>
                <a:latin typeface="Calibri" panose="020F0502020204030204" pitchFamily="34" charset="0"/>
                <a:cs typeface="Calibri" panose="020F0502020204030204" pitchFamily="34" charset="0"/>
              </a:rPr>
              <a:t>Make sure that the flag is checked.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Enable change pointers for a message type - Transaction code : BD50. This setting is required for activating change pointers for a specific message type.  Make sure that the active flag is checked for specific message type.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5826624"/>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20F8B-007A-3759-018E-47A95672C8C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9FB7277-0085-0ED7-133F-FE6BEF2CC58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62</a:t>
            </a:fld>
            <a:endParaRPr dirty="0"/>
          </a:p>
        </p:txBody>
      </p:sp>
      <p:sp>
        <p:nvSpPr>
          <p:cNvPr id="207" name="TextBox 17">
            <a:extLst>
              <a:ext uri="{FF2B5EF4-FFF2-40B4-BE49-F238E27FC236}">
                <a16:creationId xmlns:a16="http://schemas.microsoft.com/office/drawing/2014/main" id="{623C0410-ABC3-C495-1E28-95AC7B91910A}"/>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Configuration Steps for Change Pointers(Contd.)</a:t>
            </a:r>
          </a:p>
        </p:txBody>
      </p:sp>
      <p:sp>
        <p:nvSpPr>
          <p:cNvPr id="208" name="Straight Connector 18">
            <a:extLst>
              <a:ext uri="{FF2B5EF4-FFF2-40B4-BE49-F238E27FC236}">
                <a16:creationId xmlns:a16="http://schemas.microsoft.com/office/drawing/2014/main" id="{4939BD6F-4DEE-5F99-6699-9158A7276A0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91A03CAB-A3F0-E2F6-3BE3-F56FC2EC15B2}"/>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Specify the fields for which change pointers are to be written  - Transaction code : BD52. SAP already provided a list of fields for which change pointers are written. If we are satisfied with the standard set of fields, we can skip this step. If we want to add new fields, we must add entries for the required fields. If we don’t want to generate the Idoc’s for changes to a particular field, we can remove it from the list. </a:t>
            </a:r>
          </a:p>
        </p:txBody>
      </p:sp>
    </p:spTree>
    <p:extLst>
      <p:ext uri="{BB962C8B-B14F-4D97-AF65-F5344CB8AC3E}">
        <p14:creationId xmlns:p14="http://schemas.microsoft.com/office/powerpoint/2010/main" val="3699532789"/>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63</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4613</TotalTime>
  <Words>2862</Words>
  <Application>Microsoft Office PowerPoint</Application>
  <PresentationFormat>Widescreen</PresentationFormat>
  <Paragraphs>326</Paragraphs>
  <Slides>63</Slides>
  <Notes>63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2054</cp:revision>
  <dcterms:modified xsi:type="dcterms:W3CDTF">2024-03-08T10:55:26Z</dcterms:modified>
</cp:coreProperties>
</file>