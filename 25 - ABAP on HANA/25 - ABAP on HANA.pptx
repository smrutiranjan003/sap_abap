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3"/>
  </p:notesMasterIdLst>
  <p:sldIdLst>
    <p:sldId id="259" r:id="rId2"/>
    <p:sldId id="921" r:id="rId3"/>
    <p:sldId id="923" r:id="rId4"/>
    <p:sldId id="922" r:id="rId5"/>
    <p:sldId id="920" r:id="rId6"/>
    <p:sldId id="924" r:id="rId7"/>
    <p:sldId id="926" r:id="rId8"/>
    <p:sldId id="925" r:id="rId9"/>
    <p:sldId id="927" r:id="rId10"/>
    <p:sldId id="928" r:id="rId11"/>
    <p:sldId id="940" r:id="rId12"/>
    <p:sldId id="933" r:id="rId13"/>
    <p:sldId id="930" r:id="rId14"/>
    <p:sldId id="931" r:id="rId15"/>
    <p:sldId id="932" r:id="rId16"/>
    <p:sldId id="937" r:id="rId17"/>
    <p:sldId id="938" r:id="rId18"/>
    <p:sldId id="936" r:id="rId19"/>
    <p:sldId id="939" r:id="rId20"/>
    <p:sldId id="941" r:id="rId21"/>
    <p:sldId id="943" r:id="rId22"/>
    <p:sldId id="944" r:id="rId23"/>
    <p:sldId id="942" r:id="rId24"/>
    <p:sldId id="945" r:id="rId25"/>
    <p:sldId id="946" r:id="rId26"/>
    <p:sldId id="949" r:id="rId27"/>
    <p:sldId id="952" r:id="rId28"/>
    <p:sldId id="953" r:id="rId29"/>
    <p:sldId id="957" r:id="rId30"/>
    <p:sldId id="955" r:id="rId31"/>
    <p:sldId id="958" r:id="rId32"/>
    <p:sldId id="947" r:id="rId33"/>
    <p:sldId id="959" r:id="rId34"/>
    <p:sldId id="960" r:id="rId35"/>
    <p:sldId id="962" r:id="rId36"/>
    <p:sldId id="963" r:id="rId37"/>
    <p:sldId id="965" r:id="rId38"/>
    <p:sldId id="964" r:id="rId39"/>
    <p:sldId id="950" r:id="rId40"/>
    <p:sldId id="971" r:id="rId41"/>
    <p:sldId id="969" r:id="rId42"/>
    <p:sldId id="972" r:id="rId43"/>
    <p:sldId id="973" r:id="rId44"/>
    <p:sldId id="983" r:id="rId45"/>
    <p:sldId id="976" r:id="rId46"/>
    <p:sldId id="978" r:id="rId47"/>
    <p:sldId id="994" r:id="rId48"/>
    <p:sldId id="993" r:id="rId49"/>
    <p:sldId id="992" r:id="rId50"/>
    <p:sldId id="995" r:id="rId51"/>
    <p:sldId id="998" r:id="rId52"/>
    <p:sldId id="999" r:id="rId53"/>
    <p:sldId id="1000" r:id="rId54"/>
    <p:sldId id="1001" r:id="rId55"/>
    <p:sldId id="984" r:id="rId56"/>
    <p:sldId id="986" r:id="rId57"/>
    <p:sldId id="987" r:id="rId58"/>
    <p:sldId id="988" r:id="rId59"/>
    <p:sldId id="990" r:id="rId60"/>
    <p:sldId id="981" r:id="rId61"/>
    <p:sldId id="982" r:id="rId62"/>
    <p:sldId id="918" r:id="rId63"/>
    <p:sldId id="1002" r:id="rId64"/>
    <p:sldId id="1006" r:id="rId65"/>
    <p:sldId id="1007" r:id="rId66"/>
    <p:sldId id="1010" r:id="rId67"/>
    <p:sldId id="1008" r:id="rId68"/>
    <p:sldId id="1009" r:id="rId69"/>
    <p:sldId id="1011" r:id="rId70"/>
    <p:sldId id="1019" r:id="rId71"/>
    <p:sldId id="1013" r:id="rId72"/>
    <p:sldId id="1016" r:id="rId73"/>
    <p:sldId id="912" r:id="rId74"/>
    <p:sldId id="1017" r:id="rId75"/>
    <p:sldId id="1021" r:id="rId76"/>
    <p:sldId id="1020" r:id="rId77"/>
    <p:sldId id="1023" r:id="rId78"/>
    <p:sldId id="1024" r:id="rId79"/>
    <p:sldId id="1025" r:id="rId80"/>
    <p:sldId id="1028" r:id="rId81"/>
    <p:sldId id="919" r:id="rId82"/>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hul Mehta" initials="RM" lastIdx="1" clrIdx="0">
    <p:extLst>
      <p:ext uri="{19B8F6BF-5375-455C-9EA6-DF929625EA0E}">
        <p15:presenceInfo xmlns:p15="http://schemas.microsoft.com/office/powerpoint/2012/main" userId="933d9a34e87d859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83308" autoAdjust="0"/>
  </p:normalViewPr>
  <p:slideViewPr>
    <p:cSldViewPr snapToGrid="0">
      <p:cViewPr varScale="1">
        <p:scale>
          <a:sx n="81" d="100"/>
          <a:sy n="81" d="100"/>
        </p:scale>
        <p:origin x="90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commentAuthors" Target="commentAuthor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 name="Shape 92"/>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93" name="Shape 93"/>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IN"/>
          </a:p>
        </p:txBody>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96631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83FE7-8193-2416-ED9B-D9A210DE16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E4DD31-2EC3-D400-E62F-18F10578B176}"/>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86DD2885-13D6-8C8E-51A6-C9E34DD49DCB}"/>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1548703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C0EF8-E086-658D-B31C-E56F7C3D03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12642D-8F5D-F1B3-F7D3-D5234AE29DB7}"/>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D030B16A-5F89-42D9-0FAF-D145775C3D4E}"/>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2445071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BB660-24B6-5ABC-9BF2-7FEF940FB8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115230-DF75-C62D-3061-EB2528A10211}"/>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97088FD6-39CA-6D92-F73D-FB723F171032}"/>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944970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5B61C-CD83-185C-E1BB-28D2DC3945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FFC109-C9B7-DD31-2FAC-6752429EAF94}"/>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FB08A865-1948-6A3F-D09D-E70A40E2A50C}"/>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7358249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E41DD-9848-EF92-561A-391C04EA97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6EFC62-81D6-37C1-15C7-24120F751194}"/>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19F770BC-D278-FF39-8623-204673DB31C1}"/>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4806157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F1E67-A820-5C91-D5E0-798EAB47FE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F82A26-D2E5-4A82-86B7-C1335D0EA887}"/>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B212B4CB-38B5-1919-0CEC-7BB195362E4A}"/>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5646360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9A7D3-3F71-02DC-3BEB-D0F7F4E63B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C8B8B4-66D8-036F-2C87-8FF4459CB74B}"/>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4F93AAC8-FC95-2F42-E974-9013CA2C2853}"/>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8360465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F6190-6897-4F89-CC0A-B85C3E51D1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7B60D9-319E-25F8-01F8-7E06050953FC}"/>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A6661CCA-962A-0DC8-ACFE-09DC0F12098C}"/>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7953355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3A0A1-B6E2-289D-2BD2-B043A06DE1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6F6580-2DEA-0C03-8953-C8479C190D0F}"/>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C52F1993-BBC1-922D-51EC-4D63C9304F37}"/>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4219567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D10DF-B361-B2E2-51DB-EB4DB9A2AC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1FA5C6-C7A9-B310-6B5F-0711D51AFF82}"/>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2C200639-70C0-42F8-E14B-65A518D216A3}"/>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8514801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3FCCF-B980-B6C9-16AA-05B8CA92A1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6C039E-708A-676E-673E-9FE24BEF62CD}"/>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0BDCFCD2-5373-5415-DEFD-87603449C913}"/>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0218011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61EDE-BA6B-1889-20A9-AF808B7F9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233A31-E87D-87F3-16AE-A6BE521D13FB}"/>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C3C22675-37D8-7EFD-4E7A-94ED581E137F}"/>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452057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88431-076C-FB22-EC90-1934F498A0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58441F-5C13-89CE-9A60-2BE78C1E7DCC}"/>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6B7DBD10-BA5C-B285-0026-0E0564BBC200}"/>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8018760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DD9C3-B9DF-7561-4A94-52C01CCD3A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89C24F-76D9-709E-888B-9686086BD51F}"/>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2C6C2850-7F12-73A1-FD54-35BB477D458B}"/>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6301541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AEB8A-9EA0-2365-1AD0-25226E6940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5D0466-8977-8297-0028-9A6D5524C918}"/>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A070734C-E0F6-2DBC-043E-062104259A10}"/>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6275145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76573-FCC9-4E79-9C86-110CAD9B22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9731A3-3945-D3BC-3B07-D0ECD4BEDE89}"/>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1E3AF4F2-8FA8-4411-2135-67E259F59155}"/>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5617343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554C6-FBD7-29F2-8C6E-6B4A8C7B05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713FFC-B30B-F33B-88BC-6EB2D5C97476}"/>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67C26F0E-E13A-6E05-D337-23DB7FC6E1EF}"/>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1788533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C4C45-623A-84D8-A09E-77C142166A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489F53-ED46-C2D3-BB2C-E3E8D886028D}"/>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FB12DFB6-1E5C-2AB1-1A53-9EEAA91B4055}"/>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7516228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542B0-EE0E-C840-A585-1084C288AB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9BA1A4-7082-E5BE-C0A4-65949258929E}"/>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A79E9B58-B68A-A901-F222-8091668A3A0F}"/>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8505172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F7F7B-1269-D1A2-4BB6-3B9545D495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0D27E5-4258-FB95-7D0F-1D2876B165DD}"/>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FE7488F0-E3BB-EA53-B6A1-D370BE2C9203}"/>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2083523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40559-CB8F-179C-7018-205366EB1A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1907EF-EA4B-5426-7255-C880563B9DAF}"/>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0008FDB0-E8FB-A17F-8843-E6674B9B3163}"/>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2166301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5953D-6BB5-C449-34EF-F531346865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FF2370-7AD6-368E-74E2-FA6266EAAA87}"/>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EF5DF469-1DF6-8F39-3DDC-A756FB090C43}"/>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8046310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EE5D1-25CA-AB60-7476-90E3A7BB33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AFEA1E-B266-7D99-E203-02526439B8B6}"/>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65AFBF02-0F99-C229-E1CE-C4FDEA1A1EB4}"/>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5586014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8D08E-E8D2-5E92-3B3C-CBD7C24681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5A3690-0975-3013-EBFB-CBD0A2945D3C}"/>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C6798BD9-EB28-8C0B-0153-702D547750F4}"/>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5487960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EE4AF-EFE6-4A27-3826-9DE0D8E850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7A18CB-B438-2556-46CD-7B78397CECD2}"/>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B6BF9F4F-165F-4D0F-2F52-342C99A5E3B1}"/>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7441488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63F06-FCB7-DE92-A11C-1EA7423CDC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8D68EB-A0EE-791C-3D47-3B9988C2B859}"/>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765E623A-E151-88C1-2769-62FDFC8FEA35}"/>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6749507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6604D-ED37-D889-C066-34888A8E7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955B6E-DA8D-6CAF-0B72-02C774CCC79C}"/>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BC34A0BF-99DF-0B20-BF5B-B402689F3354}"/>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9544445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11838-50E5-BCCE-305E-1A3F35BB70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5B039E-E69D-A6A0-D406-E48A226C0753}"/>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E74CB2C3-E48C-9F8C-D1CB-F291AA22CFE5}"/>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6364415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DF65F-ED80-AE58-0FDB-FA13802975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E56CD1-E4AA-38E9-A774-E41041A48FAF}"/>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D69CCF68-EEF8-DD48-6B49-1B93EB06C053}"/>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8490617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26AEB-0EBE-FB85-DE27-A4DF269DD7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5D8E02-6539-CECC-E432-244D2F793AEA}"/>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BF3C27CE-0BC4-DC68-D44B-857A51E077F8}"/>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819778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93C2F-5784-3675-D15A-837982EF29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3C53F4-AB68-2E4D-BDB7-7FCE5EB9BD6E}"/>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F6FD55E5-EE84-9548-943C-149AA9F4D722}"/>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47078835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AB9B2-AD33-BA72-0C21-DC82828CED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21C278-0451-65E4-D672-702DFB1E0707}"/>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6DA27AFD-D132-04B7-60BF-4305F48EDDD1}"/>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7211987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FC6D4-F3C9-5932-65DA-77C438180D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5865A7-769C-B244-10BD-2BFA0CC0B4FC}"/>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85BB75F9-E66B-F7B0-3960-1DAA0BA99A54}"/>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9798260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2B534-7106-D4B0-60EE-EE93F8A051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CCFCBE-1A6F-D83F-21D7-14977E42951B}"/>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81E396C6-B905-7DB1-EAF1-B93C888C487A}"/>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7457909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C85B5-D8FF-DB1F-6897-A51174E0E2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845B92-2DF6-155F-B341-2F873B6FE670}"/>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E219D0E8-89F3-0C47-3876-ADD73D21F78C}"/>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81354753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E5CE8-97E4-C6AE-258A-212B5170E6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9E3404-E733-CE2C-1D02-FBD0C33764BC}"/>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63F52206-46E8-E6A7-0F08-E40995366DD7}"/>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9611042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65018-B779-5447-1791-E429D807E3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70D4AE-0FA4-BA7A-3F9F-F29B89631290}"/>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77D0670A-9265-E0BA-C755-AE5406ADD7DB}"/>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29489944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CBD19-88D7-A865-C67D-E26923B88A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071CC4-0C18-F910-49D5-EF5352D0F95D}"/>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38EEF3CC-0BD1-19E5-DC97-388759EBF449}"/>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06156792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67E8C-BCD5-D5BE-79F0-3D43DB7D79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4F13E2-CD65-A9CC-5628-73E6BFBEF4C2}"/>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9BA48CB2-1A95-F0AF-41A5-8865DD916517}"/>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40799500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0EDDA-2C79-1B6A-6185-9EA95C27A9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50B629-EAA0-4636-67D3-436941999776}"/>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609C9A1C-8E5F-5F25-F9B0-631071EFDA30}"/>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15385279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27740-4132-E360-E0B1-04A949A4BB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E47BD3-75AF-207F-D699-11FD2B2B79B8}"/>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29368CE1-E998-9ED8-82B0-00858CC60CC7}"/>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9962749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495A5-A0B3-D13C-DCBB-8A8C3963DB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C07C24-7433-1294-80EA-688831C11069}"/>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B438EB2D-2D0E-4A3D-E426-88BE39F284EB}"/>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8975613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8239D-7165-423C-467C-4C8D9629B2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001B43-CF06-A4DE-BA7A-D5F925DE9AA5}"/>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1A12EC5C-49A9-5E38-A152-12DEBF4B5330}"/>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49104570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001B9-6D07-31FA-0ED3-AADB0E334D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6D4A77-8B8F-1750-4DBF-4E7988E14389}"/>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8119B400-6954-57D9-3AF9-3E9A2E02B919}"/>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45328869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05EEC-91A1-97D5-EF5A-ADFAEBD6D0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7B94CD-1618-BA36-2DB6-6D75EDFC1569}"/>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D85AC24F-A4D6-5396-1B6A-674871C042D2}"/>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4379549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32EE0-EDAD-7C4A-DD06-93F619F68B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5450B7-D691-54C1-3BF1-8B7A6AC0FD48}"/>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35C13ED6-BEC4-EF39-5EFF-91E81CF346E7}"/>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51752510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C1086-CE6D-8F24-6E6A-55713F50CC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B71AAF-1C99-4CC4-18C9-3BE6BA06EF70}"/>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CE3350C9-135B-968B-BF2E-469C457345E9}"/>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6339436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4FBE4-4F4B-313D-AFED-8AE87B0BD8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13C810-3F79-6BDC-CE28-0105E3EA7595}"/>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0C0DB2D2-46FE-C0FF-556D-F84BBB26601A}"/>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64330189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30FBB-EEA3-8B92-BBD1-879F4D5EE5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F018BC-D614-2254-FDB3-0BF921A11CCD}"/>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F68850DC-CED4-D551-62B2-DB78B4219D1C}"/>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29328241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B508D-4CCB-F074-52F5-99CF36D7DD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594F73-16D4-C09D-C732-C4AFB8CBBF36}"/>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1E3E0ECA-184E-95A2-BF73-0849BB1681A2}"/>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00925586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D609A-24BB-5373-2DA4-7EF6E0FDB0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BC2B55-1D75-D9DB-22B8-F287FDE80F81}"/>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4D2A10A8-0480-B9AD-7BE8-281EC9B7CFE0}"/>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36797939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8D266-2A1F-EB9A-5DBC-E83BD5C911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3F90B8-990D-B6E0-1C0E-687CE937933D}"/>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11DA12E0-A639-8D01-9C04-C7E0AD19793F}"/>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42318515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6FBAA-F12B-BB79-BF8F-FD196A8712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3751FE-FBB3-277A-132E-CBB357C5F1EB}"/>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CC292309-F645-B9A8-F888-85BF1E031741}"/>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67578673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68589-D57E-090C-EFB7-D2052F6E82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BA0D8D-34F1-091B-EB8B-F28B1909F3D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B9BB75B-F98C-1A9B-706D-5F63F843D326}"/>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63453794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2A89B-88FD-A534-E040-BD14750A3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8B35CB-D7E5-39D5-151A-029170476F9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21DEB5B-5952-3EDB-220E-126D072681B6}"/>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06877712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1E48C-8651-EF77-236A-8837E1F06A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5D84C6-19A3-8F75-B46D-472EF98F8A0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E82D80F-319C-CD94-8095-364FBF8DD1E0}"/>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1117772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561F7-147C-5E50-B63D-9236721D74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708C5F-78C7-297B-1469-839DCD358B1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6B87BE8-3F7B-2748-7A8E-16F9EF1C5566}"/>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28732610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48383-63FE-1937-09CB-37E7EC6ED4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EE8988-3A0D-9416-0E5A-46124189E55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1C56F41-5403-2F13-D745-00DD1FCBDF5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0698539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19B9A-7849-4CD7-54F3-74C1DC43EC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363CE3-ACFD-4F17-A416-A30AC70921F7}"/>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40C4A7D3-D474-C34E-4943-5DC360911E5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60064065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53684-115E-695F-4AC3-EC46DA4299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3CD67E-6A91-D8D3-4F83-2EC6C3721670}"/>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19B3BCFD-1F8A-5AC4-55B9-0343FF21F468}"/>
              </a:ext>
            </a:extLst>
          </p:cNvPr>
          <p:cNvSpPr>
            <a:spLocks noGrp="1"/>
          </p:cNvSpPr>
          <p:nvPr>
            <p:ph type="body" idx="1"/>
          </p:nvPr>
        </p:nvSpPr>
        <p:spPr/>
        <p:txBody>
          <a:bodyPr/>
          <a:lstStyle/>
          <a:p>
            <a:r>
              <a:rPr lang="en-IN" dirty="0"/>
              <a:t>s</a:t>
            </a:r>
          </a:p>
        </p:txBody>
      </p:sp>
    </p:spTree>
    <p:extLst>
      <p:ext uri="{BB962C8B-B14F-4D97-AF65-F5344CB8AC3E}">
        <p14:creationId xmlns:p14="http://schemas.microsoft.com/office/powerpoint/2010/main" val="286217733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1A188-7805-9B1E-E239-2837DEA66F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385E29-3FCE-7D6B-B961-941839B52AB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C4565B4-1ABF-AC61-5483-B5B451D3B284}"/>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39844536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08591-B3DB-6CD7-4375-C116EC6BA3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A350CD-EA74-E3E4-F766-750BD425B24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AF8E8D3-3FE5-08E0-E142-767667D1B43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68124354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E78CF-33E0-5C08-E68F-E330D2B44E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FFFFD2-5656-AF5F-3907-D64D85283F1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41DC050-57CE-D353-2607-1A7D28B93FB5}"/>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5090785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06B2E-A410-E03C-2921-DE293F1469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E113F8-31EA-E239-7400-D568D87BAD6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52CE375-221D-172B-F77A-06072AAE84BA}"/>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57428119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4DE6F-C804-3211-EBD5-28BD3AB412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667807-1D33-22AD-CDC8-2C53777028D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F0AB455-FCE5-212A-6DF4-F2981F8220F2}"/>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0987469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C375A-76CC-AB21-1181-58D759D8FA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B0C12A-97BB-6C97-466E-FFE7FBA5462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0C9D68B-13EE-E9F1-C239-872046EBB6C9}"/>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71707643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21BA2-1E70-C485-DB98-D30CD29E77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D3D53-C0D7-0BC9-C826-B7C04C2F38E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CB1EBDC-281E-6161-D9E6-FDF429BE7F3A}"/>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86753255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16C81-D847-9DA4-3E7C-1B9F14D81C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D84810-803F-417B-227E-B2004E0AC75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A9E8464-E68D-EB46-5B0A-0DA18B41EC3C}"/>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4349214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5A89D-B359-5D49-858B-9DCE1C1ED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346FA9-1CBF-CB5F-0422-19E57C0FCFC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F5D81FD-8EB4-EFE4-6448-BFFEF12D88DE}"/>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9381487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ED262-F200-BC1C-BF85-CE77FB43EE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D3F37F-09A8-EAA0-B236-F116FEB9AD1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A48119D-2B44-A6CD-4D73-F1B869C76B8B}"/>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64372441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26414-AF95-7AF0-D6C3-B8EEB07D37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721BCC-8283-11BD-DE59-A5E05164693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CCA338D-C458-B121-88EB-949AE1FA1E13}"/>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41184829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01491815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A42D5-C9F7-C388-2643-EF153F8F91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95AACF-7936-FA78-4FBE-2C5400C9967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C42AB49-8956-3C92-605D-912530175617}"/>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41615333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41288-9AA7-AB2E-AA9E-EF7AB5C79E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85A8DA-FE7D-A98D-C353-1CA2B18AD9E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1E753C4-BA32-D098-646A-BD96AC2AD28E}"/>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12684200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D24C7-3F14-5E03-D175-5C2E9E9E2E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31C971-8B3B-7539-708E-C40ACC0B1AD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AEAB4AD-6284-1009-6B1D-B51F7932EF76}"/>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2194479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F5B22-067B-BED8-BFDC-262C3ACDC0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3F9AF6-817B-51FE-3358-EBC1118FADB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94FDA8B-BCC0-EB44-3238-F4B74C007BAB}"/>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85958827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E45F8-62F9-38FB-BB69-C79FD73063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1173B0-356D-5C2B-F552-7E9DA1B1678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9DF57C2-0459-85E0-DB12-3FF39C158E8F}"/>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43944602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83C70-B159-E9FB-59BA-1C10952DAB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822A40-4DEC-8694-AE5A-436BC324E83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BF0D85B-D246-F5D6-9308-D24B0821C5E7}"/>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72329312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C8F3C-551F-EC32-613E-3232800AA4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EA3C5E-5AF0-5860-097E-653B5AC34F5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39B546B-ADEA-FBFE-F096-043696B01703}"/>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52152667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IN"/>
          </a:p>
        </p:txBody>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975866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1" name="Title Text"/>
          <p:cNvSpPr txBox="1">
            <a:spLocks noGrp="1"/>
          </p:cNvSpPr>
          <p:nvPr>
            <p:ph type="title"/>
          </p:nvPr>
        </p:nvSpPr>
        <p:spPr>
          <a:prstGeom prst="rect">
            <a:avLst/>
          </a:prstGeom>
        </p:spPr>
        <p:txBody>
          <a:bodyPr/>
          <a:lstStyle/>
          <a:p>
            <a:r>
              <a:t>Title Text</a:t>
            </a:r>
          </a:p>
        </p:txBody>
      </p:sp>
      <p:sp>
        <p:nvSpPr>
          <p:cNvPr id="22"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831852" y="1709738"/>
            <a:ext cx="10515601" cy="2852737"/>
          </a:xfrm>
          <a:prstGeom prst="rect">
            <a:avLst/>
          </a:prstGeom>
        </p:spPr>
        <p:txBody>
          <a:bodyPr anchor="b"/>
          <a:lstStyle>
            <a:lvl1pPr>
              <a:defRPr sz="6000"/>
            </a:lvl1pPr>
          </a:lstStyle>
          <a:p>
            <a:r>
              <a:t>Title Text</a:t>
            </a:r>
          </a:p>
        </p:txBody>
      </p:sp>
      <p:sp>
        <p:nvSpPr>
          <p:cNvPr id="31" name="Body Level One…"/>
          <p:cNvSpPr txBox="1">
            <a:spLocks noGrp="1"/>
          </p:cNvSpPr>
          <p:nvPr>
            <p:ph type="body" sz="quarter" idx="1"/>
          </p:nvPr>
        </p:nvSpPr>
        <p:spPr>
          <a:xfrm>
            <a:off x="831852" y="4589464"/>
            <a:ext cx="10515601" cy="1500188"/>
          </a:xfrm>
          <a:prstGeom prst="rect">
            <a:avLst/>
          </a:prstGeom>
        </p:spPr>
        <p:txBody>
          <a:bodyPr/>
          <a:lstStyle>
            <a:lvl1pPr marL="0" indent="0">
              <a:buSzTx/>
              <a:buFontTx/>
              <a:buNone/>
              <a:defRPr sz="2400">
                <a:solidFill>
                  <a:srgbClr val="888888"/>
                </a:solidFill>
              </a:defRPr>
            </a:lvl1pPr>
            <a:lvl2pPr marL="0" indent="457206">
              <a:buSzTx/>
              <a:buFontTx/>
              <a:buNone/>
              <a:defRPr sz="2400">
                <a:solidFill>
                  <a:srgbClr val="888888"/>
                </a:solidFill>
              </a:defRPr>
            </a:lvl2pPr>
            <a:lvl3pPr marL="0" indent="914411">
              <a:buSzTx/>
              <a:buFontTx/>
              <a:buNone/>
              <a:defRPr sz="2400">
                <a:solidFill>
                  <a:srgbClr val="888888"/>
                </a:solidFill>
              </a:defRPr>
            </a:lvl3pPr>
            <a:lvl4pPr marL="0" indent="1371616">
              <a:buSzTx/>
              <a:buFontTx/>
              <a:buNone/>
              <a:defRPr sz="2400">
                <a:solidFill>
                  <a:srgbClr val="888888"/>
                </a:solidFill>
              </a:defRPr>
            </a:lvl4pPr>
            <a:lvl5pPr marL="0" indent="1828823">
              <a:buSzTx/>
              <a:buFontTx/>
              <a:buNone/>
              <a:defRPr sz="24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2"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wo Content">
    <p:spTree>
      <p:nvGrpSpPr>
        <p:cNvPr id="1" name=""/>
        <p:cNvGrpSpPr/>
        <p:nvPr/>
      </p:nvGrpSpPr>
      <p:grpSpPr>
        <a:xfrm>
          <a:off x="0" y="0"/>
          <a:ext cx="0" cy="0"/>
          <a:chOff x="0" y="0"/>
          <a:chExt cx="0" cy="0"/>
        </a:xfrm>
      </p:grpSpPr>
      <p:sp>
        <p:nvSpPr>
          <p:cNvPr id="39" name="Title Text"/>
          <p:cNvSpPr txBox="1">
            <a:spLocks noGrp="1"/>
          </p:cNvSpPr>
          <p:nvPr>
            <p:ph type="title"/>
          </p:nvPr>
        </p:nvSpPr>
        <p:spPr>
          <a:prstGeom prst="rect">
            <a:avLst/>
          </a:prstGeom>
        </p:spPr>
        <p:txBody>
          <a:bodyPr/>
          <a:lstStyle/>
          <a:p>
            <a:r>
              <a:t>Title Text</a:t>
            </a:r>
          </a:p>
        </p:txBody>
      </p:sp>
      <p:sp>
        <p:nvSpPr>
          <p:cNvPr id="40" name="Body Level One…"/>
          <p:cNvSpPr txBox="1">
            <a:spLocks noGrp="1"/>
          </p:cNvSpPr>
          <p:nvPr>
            <p:ph type="body" sz="half" idx="1"/>
          </p:nvPr>
        </p:nvSpPr>
        <p:spPr>
          <a:xfrm>
            <a:off x="838200" y="1825625"/>
            <a:ext cx="5181601"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sp>
        <p:nvSpPr>
          <p:cNvPr id="48" name="Title Text"/>
          <p:cNvSpPr txBox="1">
            <a:spLocks noGrp="1"/>
          </p:cNvSpPr>
          <p:nvPr>
            <p:ph type="title"/>
          </p:nvPr>
        </p:nvSpPr>
        <p:spPr>
          <a:xfrm>
            <a:off x="839788" y="365125"/>
            <a:ext cx="10515601" cy="1325563"/>
          </a:xfrm>
          <a:prstGeom prst="rect">
            <a:avLst/>
          </a:prstGeom>
        </p:spPr>
        <p:txBody>
          <a:bodyPr/>
          <a:lstStyle/>
          <a:p>
            <a:r>
              <a:t>Title Text</a:t>
            </a:r>
          </a:p>
        </p:txBody>
      </p:sp>
      <p:sp>
        <p:nvSpPr>
          <p:cNvPr id="49" name="Body Level One…"/>
          <p:cNvSpPr txBox="1">
            <a:spLocks noGrp="1"/>
          </p:cNvSpPr>
          <p:nvPr>
            <p:ph type="body" sz="quarter" idx="1"/>
          </p:nvPr>
        </p:nvSpPr>
        <p:spPr>
          <a:xfrm>
            <a:off x="839788" y="1681163"/>
            <a:ext cx="5157789" cy="823913"/>
          </a:xfrm>
          <a:prstGeom prst="rect">
            <a:avLst/>
          </a:prstGeom>
        </p:spPr>
        <p:txBody>
          <a:bodyPr anchor="b"/>
          <a:lstStyle>
            <a:lvl1pPr marL="0" indent="0">
              <a:buSzTx/>
              <a:buFontTx/>
              <a:buNone/>
              <a:defRPr sz="2400" b="1"/>
            </a:lvl1pPr>
            <a:lvl2pPr marL="0" indent="457206">
              <a:buSzTx/>
              <a:buFontTx/>
              <a:buNone/>
              <a:defRPr sz="2400" b="1"/>
            </a:lvl2pPr>
            <a:lvl3pPr marL="0" indent="914411">
              <a:buSzTx/>
              <a:buFontTx/>
              <a:buNone/>
              <a:defRPr sz="2400" b="1"/>
            </a:lvl3pPr>
            <a:lvl4pPr marL="0" indent="1371616">
              <a:buSzTx/>
              <a:buFontTx/>
              <a:buNone/>
              <a:defRPr sz="2400" b="1"/>
            </a:lvl4pPr>
            <a:lvl5pPr marL="0" indent="1828823">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50" name="Text Placeholder 4"/>
          <p:cNvSpPr>
            <a:spLocks noGrp="1"/>
          </p:cNvSpPr>
          <p:nvPr>
            <p:ph type="body" sz="quarter" idx="21"/>
          </p:nvPr>
        </p:nvSpPr>
        <p:spPr>
          <a:xfrm>
            <a:off x="6172201" y="1681163"/>
            <a:ext cx="5183189" cy="823913"/>
          </a:xfrm>
          <a:prstGeom prst="rect">
            <a:avLst/>
          </a:prstGeom>
        </p:spPr>
        <p:txBody>
          <a:bodyPr anchor="b"/>
          <a:lstStyle/>
          <a:p>
            <a:pPr marL="0" indent="0">
              <a:buSzTx/>
              <a:buFontTx/>
              <a:buNone/>
              <a:defRPr sz="2400" b="1"/>
            </a:pPr>
            <a:endParaRPr/>
          </a:p>
        </p:txBody>
      </p:sp>
      <p:sp>
        <p:nvSpPr>
          <p:cNvPr id="51"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sp>
        <p:nvSpPr>
          <p:cNvPr id="58" name="Title Text"/>
          <p:cNvSpPr txBox="1">
            <a:spLocks noGrp="1"/>
          </p:cNvSpPr>
          <p:nvPr>
            <p:ph type="title"/>
          </p:nvPr>
        </p:nvSpPr>
        <p:spPr>
          <a:prstGeom prst="rect">
            <a:avLst/>
          </a:prstGeom>
        </p:spPr>
        <p:txBody>
          <a:bodyPr/>
          <a:lstStyle/>
          <a:p>
            <a:r>
              <a:t>Title Text</a:t>
            </a:r>
          </a:p>
        </p:txBody>
      </p:sp>
      <p:sp>
        <p:nvSpPr>
          <p:cNvPr id="59"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sp>
        <p:nvSpPr>
          <p:cNvPr id="73" name="Title Text"/>
          <p:cNvSpPr txBox="1">
            <a:spLocks noGrp="1"/>
          </p:cNvSpPr>
          <p:nvPr>
            <p:ph type="title"/>
          </p:nvPr>
        </p:nvSpPr>
        <p:spPr>
          <a:xfrm>
            <a:off x="839790" y="457200"/>
            <a:ext cx="3932236" cy="1600200"/>
          </a:xfrm>
          <a:prstGeom prst="rect">
            <a:avLst/>
          </a:prstGeom>
        </p:spPr>
        <p:txBody>
          <a:bodyPr anchor="b"/>
          <a:lstStyle>
            <a:lvl1pPr>
              <a:defRPr sz="3200"/>
            </a:lvl1pPr>
          </a:lstStyle>
          <a:p>
            <a:r>
              <a:t>Title Text</a:t>
            </a:r>
          </a:p>
        </p:txBody>
      </p:sp>
      <p:sp>
        <p:nvSpPr>
          <p:cNvPr id="74" name="Body Level One…"/>
          <p:cNvSpPr txBox="1">
            <a:spLocks noGrp="1"/>
          </p:cNvSpPr>
          <p:nvPr>
            <p:ph type="body" sz="half" idx="1"/>
          </p:nvPr>
        </p:nvSpPr>
        <p:spPr>
          <a:xfrm>
            <a:off x="5183187" y="987425"/>
            <a:ext cx="6172203" cy="4873625"/>
          </a:xfrm>
          <a:prstGeom prst="rect">
            <a:avLst/>
          </a:prstGeom>
        </p:spPr>
        <p:txBody>
          <a:bodyPr/>
          <a:lstStyle>
            <a:lvl1pPr>
              <a:defRPr sz="3200"/>
            </a:lvl1pPr>
            <a:lvl2pPr marL="718466" indent="-261261">
              <a:defRPr sz="3200"/>
            </a:lvl2pPr>
            <a:lvl3pPr marL="1219216" indent="-304805">
              <a:defRPr sz="3200"/>
            </a:lvl3pPr>
            <a:lvl4pPr marL="1737383" indent="-365766">
              <a:defRPr sz="3200"/>
            </a:lvl4pPr>
            <a:lvl5pPr marL="2194589" indent="-365766">
              <a:defRPr sz="3200"/>
            </a:lvl5pPr>
          </a:lstStyle>
          <a:p>
            <a:r>
              <a:t>Body Level One</a:t>
            </a:r>
          </a:p>
          <a:p>
            <a:pPr lvl="1"/>
            <a:r>
              <a:t>Body Level Two</a:t>
            </a:r>
          </a:p>
          <a:p>
            <a:pPr lvl="2"/>
            <a:r>
              <a:t>Body Level Three</a:t>
            </a:r>
          </a:p>
          <a:p>
            <a:pPr lvl="3"/>
            <a:r>
              <a:t>Body Level Four</a:t>
            </a:r>
          </a:p>
          <a:p>
            <a:pPr lvl="4"/>
            <a:r>
              <a:t>Body Level Five</a:t>
            </a:r>
          </a:p>
        </p:txBody>
      </p:sp>
      <p:sp>
        <p:nvSpPr>
          <p:cNvPr id="75" name="Text Placeholder 3"/>
          <p:cNvSpPr>
            <a:spLocks noGrp="1"/>
          </p:cNvSpPr>
          <p:nvPr>
            <p:ph type="body" sz="quarter" idx="21"/>
          </p:nvPr>
        </p:nvSpPr>
        <p:spPr>
          <a:xfrm>
            <a:off x="839790" y="2057400"/>
            <a:ext cx="3932236" cy="3811588"/>
          </a:xfrm>
          <a:prstGeom prst="rect">
            <a:avLst/>
          </a:prstGeom>
        </p:spPr>
        <p:txBody>
          <a:bodyPr/>
          <a:lstStyle/>
          <a:p>
            <a:pPr marL="0" indent="0">
              <a:buSzTx/>
              <a:buFontTx/>
              <a:buNone/>
              <a:defRPr sz="1600"/>
            </a:pPr>
            <a:endParaRP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83" name="Title Text"/>
          <p:cNvSpPr txBox="1">
            <a:spLocks noGrp="1"/>
          </p:cNvSpPr>
          <p:nvPr>
            <p:ph type="title"/>
          </p:nvPr>
        </p:nvSpPr>
        <p:spPr>
          <a:xfrm>
            <a:off x="839790" y="457200"/>
            <a:ext cx="3932236" cy="1600200"/>
          </a:xfrm>
          <a:prstGeom prst="rect">
            <a:avLst/>
          </a:prstGeom>
        </p:spPr>
        <p:txBody>
          <a:bodyPr anchor="b"/>
          <a:lstStyle>
            <a:lvl1pPr>
              <a:defRPr sz="3200"/>
            </a:lvl1pPr>
          </a:lstStyle>
          <a:p>
            <a:r>
              <a:t>Title Text</a:t>
            </a:r>
          </a:p>
        </p:txBody>
      </p:sp>
      <p:sp>
        <p:nvSpPr>
          <p:cNvPr id="84" name="Picture Placeholder 2"/>
          <p:cNvSpPr>
            <a:spLocks noGrp="1"/>
          </p:cNvSpPr>
          <p:nvPr>
            <p:ph type="pic" sz="half" idx="21"/>
          </p:nvPr>
        </p:nvSpPr>
        <p:spPr>
          <a:xfrm>
            <a:off x="5183187" y="987425"/>
            <a:ext cx="6172203" cy="4873625"/>
          </a:xfrm>
          <a:prstGeom prst="rect">
            <a:avLst/>
          </a:prstGeom>
        </p:spPr>
        <p:txBody>
          <a:bodyPr lIns="91439" rIns="91439">
            <a:noAutofit/>
          </a:bodyPr>
          <a:lstStyle/>
          <a:p>
            <a:endParaRPr dirty="0"/>
          </a:p>
        </p:txBody>
      </p:sp>
      <p:sp>
        <p:nvSpPr>
          <p:cNvPr id="85" name="Body Level One…"/>
          <p:cNvSpPr txBox="1">
            <a:spLocks noGrp="1"/>
          </p:cNvSpPr>
          <p:nvPr>
            <p:ph type="body" sz="quarter" idx="1"/>
          </p:nvPr>
        </p:nvSpPr>
        <p:spPr>
          <a:xfrm>
            <a:off x="839790" y="2057400"/>
            <a:ext cx="3932236" cy="3811588"/>
          </a:xfrm>
          <a:prstGeom prst="rect">
            <a:avLst/>
          </a:prstGeom>
        </p:spPr>
        <p:txBody>
          <a:bodyPr/>
          <a:lstStyle>
            <a:lvl1pPr marL="0" indent="0">
              <a:buSzTx/>
              <a:buFontTx/>
              <a:buNone/>
              <a:defRPr sz="1600"/>
            </a:lvl1pPr>
            <a:lvl2pPr marL="0" indent="457206">
              <a:buSzTx/>
              <a:buFontTx/>
              <a:buNone/>
              <a:defRPr sz="1600"/>
            </a:lvl2pPr>
            <a:lvl3pPr marL="0" indent="914411">
              <a:buSzTx/>
              <a:buFontTx/>
              <a:buNone/>
              <a:defRPr sz="1600"/>
            </a:lvl3pPr>
            <a:lvl4pPr marL="0" indent="1371616">
              <a:buSzTx/>
              <a:buFontTx/>
              <a:buNone/>
              <a:defRPr sz="1600"/>
            </a:lvl4pPr>
            <a:lvl5pPr marL="0" indent="1828823">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38202" y="365125"/>
            <a:ext cx="10515601" cy="1325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p>
            <a:r>
              <a:t>Title Text</a:t>
            </a:r>
          </a:p>
        </p:txBody>
      </p:sp>
      <p:sp>
        <p:nvSpPr>
          <p:cNvPr id="3" name="Body Level One…"/>
          <p:cNvSpPr txBox="1">
            <a:spLocks noGrp="1"/>
          </p:cNvSpPr>
          <p:nvPr>
            <p:ph type="body" idx="1"/>
          </p:nvPr>
        </p:nvSpPr>
        <p:spPr>
          <a:xfrm>
            <a:off x="838202" y="1825625"/>
            <a:ext cx="10515601" cy="435133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traight Connector 6"/>
          <p:cNvSpPr/>
          <p:nvPr/>
        </p:nvSpPr>
        <p:spPr>
          <a:xfrm flipH="1" flipV="1">
            <a:off x="11366378" y="6459014"/>
            <a:ext cx="3" cy="159415"/>
          </a:xfrm>
          <a:prstGeom prst="line">
            <a:avLst/>
          </a:prstGeom>
          <a:ln w="19050" cap="rnd">
            <a:solidFill>
              <a:srgbClr val="8ED656"/>
            </a:solidFill>
            <a:miter/>
          </a:ln>
        </p:spPr>
        <p:txBody>
          <a:bodyPr lIns="45719" rIns="45719"/>
          <a:lstStyle/>
          <a:p>
            <a:endParaRPr dirty="0"/>
          </a:p>
        </p:txBody>
      </p:sp>
      <p:sp>
        <p:nvSpPr>
          <p:cNvPr id="5" name="Slide Number"/>
          <p:cNvSpPr txBox="1">
            <a:spLocks noGrp="1"/>
          </p:cNvSpPr>
          <p:nvPr>
            <p:ph type="sldNum" sz="quarter" idx="2"/>
          </p:nvPr>
        </p:nvSpPr>
        <p:spPr>
          <a:xfrm>
            <a:off x="11095177" y="6414761"/>
            <a:ext cx="258624" cy="248306"/>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t>‹#›</a:t>
            </a:fld>
            <a:endParaRPr dirty="0"/>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6" r:id="rId6"/>
    <p:sldLayoutId id="2147483657" r:id="rId7"/>
  </p:sldLayoutIdLst>
  <p:transition spd="med"/>
  <p:txStyles>
    <p:titleStyle>
      <a:lvl1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1pPr>
      <a:lvl2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228603" marR="0" indent="-228603"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1pPr>
      <a:lvl2pPr marL="723909" marR="0" indent="-266704"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2pPr>
      <a:lvl3pPr marL="1234456" marR="0" indent="-320045"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3pPr>
      <a:lvl4pPr marL="1727223"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4pPr>
      <a:lvl5pPr marL="2184429"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5pPr>
      <a:lvl6pPr marL="2641634"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6pPr>
      <a:lvl7pPr marL="3098840"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7pPr>
      <a:lvl8pPr marL="3556046"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8pPr>
      <a:lvl9pPr marL="4013251"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emf"/></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openxmlformats.org/officeDocument/2006/relationships/notesSlide" Target="../notesSlides/notesSlide62.xml"/><Relationship Id="rId1" Type="http://schemas.openxmlformats.org/officeDocument/2006/relationships/slideLayout" Target="../slideLayouts/slideLayout1.xml"/><Relationship Id="rId4" Type="http://schemas.openxmlformats.org/officeDocument/2006/relationships/image" Target="../media/image1.emf"/></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hyperlink" Target="https://tools.hana.ondemand.com/latest" TargetMode="External"/><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a:t>
            </a:fld>
            <a:endParaRPr dirty="0"/>
          </a:p>
        </p:txBody>
      </p:sp>
      <p:sp>
        <p:nvSpPr>
          <p:cNvPr id="207" name="TextBox 17"/>
          <p:cNvSpPr txBox="1"/>
          <p:nvPr/>
        </p:nvSpPr>
        <p:spPr>
          <a:xfrm>
            <a:off x="2020186" y="2460208"/>
            <a:ext cx="8439430" cy="6463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IN" sz="3600" dirty="0">
                <a:latin typeface="Calibri" panose="020F0502020204030204" pitchFamily="34" charset="0"/>
                <a:cs typeface="Calibri" panose="020F0502020204030204" pitchFamily="34" charset="0"/>
              </a:rPr>
              <a:t>                         </a:t>
            </a:r>
            <a:r>
              <a:rPr lang="en-IN" sz="4000" dirty="0">
                <a:latin typeface="Calibri" panose="020F0502020204030204" pitchFamily="34" charset="0"/>
                <a:cs typeface="Calibri" panose="020F0502020204030204" pitchFamily="34" charset="0"/>
              </a:rPr>
              <a:t>ABAP on HANA</a:t>
            </a:r>
            <a:endParaRPr sz="4000" dirty="0">
              <a:latin typeface="Calibri" panose="020F0502020204030204" pitchFamily="34" charset="0"/>
              <a:cs typeface="Calibri" panose="020F0502020204030204" pitchFamily="34" charset="0"/>
            </a:endParaRPr>
          </a:p>
        </p:txBody>
      </p:sp>
      <p:sp>
        <p:nvSpPr>
          <p:cNvPr id="209" name="TextBox 7"/>
          <p:cNvSpPr txBox="1"/>
          <p:nvPr/>
        </p:nvSpPr>
        <p:spPr>
          <a:xfrm>
            <a:off x="14244" y="1263042"/>
            <a:ext cx="11935565" cy="7169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457200" lvl="1" indent="0">
              <a:lnSpc>
                <a:spcPct val="200000"/>
              </a:lnSpc>
              <a:buClr>
                <a:srgbClr val="73C96C"/>
              </a:buClr>
              <a:buSzPct val="100000"/>
              <a:defRPr sz="2400">
                <a:solidFill>
                  <a:srgbClr val="1F4E79"/>
                </a:solidFill>
                <a:latin typeface="Trebuchet MS"/>
                <a:ea typeface="Trebuchet MS"/>
                <a:cs typeface="Trebuchet MS"/>
                <a:sym typeface="Trebuchet MS"/>
              </a:defRPr>
            </a:pPr>
            <a:endParaRPr lang="en-IN" dirty="0"/>
          </a:p>
        </p:txBody>
      </p:sp>
      <p:sp>
        <p:nvSpPr>
          <p:cNvPr id="3" name="Straight Connector 18">
            <a:extLst>
              <a:ext uri="{FF2B5EF4-FFF2-40B4-BE49-F238E27FC236}">
                <a16:creationId xmlns:a16="http://schemas.microsoft.com/office/drawing/2014/main" id="{4DBA8D6F-AFF4-8D71-2B02-737781787B1E}"/>
              </a:ext>
            </a:extLst>
          </p:cNvPr>
          <p:cNvSpPr/>
          <p:nvPr/>
        </p:nvSpPr>
        <p:spPr>
          <a:xfrm flipH="1" flipV="1">
            <a:off x="191386" y="3168502"/>
            <a:ext cx="11758422" cy="53162"/>
          </a:xfrm>
          <a:prstGeom prst="line">
            <a:avLst/>
          </a:prstGeom>
          <a:ln w="69850" cap="rnd">
            <a:solidFill>
              <a:srgbClr val="8ED656"/>
            </a:solidFill>
            <a:miter/>
          </a:ln>
        </p:spPr>
        <p:txBody>
          <a:bodyPr lIns="45719" rIns="45719"/>
          <a:lstStyle/>
          <a:p>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52E31-84AC-1E98-BA19-91534FE4B52A}"/>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1E5779FB-4748-0BD2-F638-5A2C98E03E6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a:t>
            </a:fld>
            <a:endParaRPr dirty="0"/>
          </a:p>
        </p:txBody>
      </p:sp>
      <p:sp>
        <p:nvSpPr>
          <p:cNvPr id="207" name="TextBox 17">
            <a:extLst>
              <a:ext uri="{FF2B5EF4-FFF2-40B4-BE49-F238E27FC236}">
                <a16:creationId xmlns:a16="http://schemas.microsoft.com/office/drawing/2014/main" id="{494581E7-171B-A1EB-8CF1-53377E0F7D77}"/>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SAP HANA - Introduction</a:t>
            </a:r>
          </a:p>
        </p:txBody>
      </p:sp>
      <p:sp>
        <p:nvSpPr>
          <p:cNvPr id="208" name="Straight Connector 18">
            <a:extLst>
              <a:ext uri="{FF2B5EF4-FFF2-40B4-BE49-F238E27FC236}">
                <a16:creationId xmlns:a16="http://schemas.microsoft.com/office/drawing/2014/main" id="{E7AAF91F-72D9-7825-F6D9-E79E5C3AC821}"/>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A9450CCD-0E84-9D59-1D9E-ED0227183E44}"/>
              </a:ext>
            </a:extLst>
          </p:cNvPr>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concept of HANA was firstly introduced by Hasso Plattner who is the co-founder of SAP.</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At that time, the full form of HANA was ‘</a:t>
            </a:r>
            <a:r>
              <a:rPr lang="en-US" altLang="en-US" sz="2400" b="1" dirty="0">
                <a:solidFill>
                  <a:srgbClr val="3B3838"/>
                </a:solidFill>
                <a:latin typeface="Calibri" panose="020F0502020204030204" pitchFamily="34" charset="0"/>
                <a:cs typeface="Calibri" panose="020F0502020204030204" pitchFamily="34" charset="0"/>
              </a:rPr>
              <a:t>Hasso’s New Architecture’</a:t>
            </a:r>
            <a:r>
              <a:rPr lang="en-US" altLang="en-US" sz="2400" dirty="0">
                <a:solidFill>
                  <a:srgbClr val="3B3838"/>
                </a:solidFill>
                <a:latin typeface="Calibri" panose="020F0502020204030204" pitchFamily="34" charset="0"/>
                <a:cs typeface="Calibri" panose="020F0502020204030204" pitchFamily="34" charset="0"/>
              </a:rPr>
              <a: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Later from the marketing purpose, the full form is changed from Hasso’s New Architecture to ‘</a:t>
            </a:r>
            <a:r>
              <a:rPr lang="en-US" altLang="en-US" sz="2400" b="1" dirty="0">
                <a:solidFill>
                  <a:srgbClr val="3B3838"/>
                </a:solidFill>
                <a:latin typeface="Calibri" panose="020F0502020204030204" pitchFamily="34" charset="0"/>
                <a:cs typeface="Calibri" panose="020F0502020204030204" pitchFamily="34" charset="0"/>
              </a:rPr>
              <a:t>High-Performance Analytic Appliance’</a:t>
            </a:r>
            <a:r>
              <a:rPr lang="en-US" altLang="en-US" sz="2400" dirty="0">
                <a:solidFill>
                  <a:srgbClr val="3B3838"/>
                </a:solidFill>
                <a:latin typeface="Calibri" panose="020F0502020204030204" pitchFamily="34" charset="0"/>
                <a:cs typeface="Calibri" panose="020F0502020204030204" pitchFamily="34" charset="0"/>
              </a:rPr>
              <a: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full form of HANA has 3 parts - High-Performance , Analytic , Appliance.</a:t>
            </a:r>
          </a:p>
        </p:txBody>
      </p:sp>
    </p:spTree>
    <p:extLst>
      <p:ext uri="{BB962C8B-B14F-4D97-AF65-F5344CB8AC3E}">
        <p14:creationId xmlns:p14="http://schemas.microsoft.com/office/powerpoint/2010/main" val="226720866"/>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BE163-03E3-FF36-3ED4-4083A252EC5D}"/>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95A2E217-AB75-F6B7-68A2-62AD8D54661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a:t>
            </a:fld>
            <a:endParaRPr dirty="0"/>
          </a:p>
        </p:txBody>
      </p:sp>
      <p:sp>
        <p:nvSpPr>
          <p:cNvPr id="207" name="TextBox 17">
            <a:extLst>
              <a:ext uri="{FF2B5EF4-FFF2-40B4-BE49-F238E27FC236}">
                <a16:creationId xmlns:a16="http://schemas.microsoft.com/office/drawing/2014/main" id="{C8C78F30-ACD5-26F9-0ADA-20878E17A513}"/>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a:latin typeface="Calibri" panose="020F0502020204030204" pitchFamily="34" charset="0"/>
                <a:cs typeface="Calibri" panose="020F0502020204030204" pitchFamily="34" charset="0"/>
              </a:rPr>
              <a:t>SAP HANA - Introduction</a:t>
            </a:r>
            <a:r>
              <a:rPr lang="en-US" sz="3200" dirty="0">
                <a:latin typeface="Calibri" panose="020F0502020204030204" pitchFamily="34" charset="0"/>
                <a:cs typeface="Calibri" panose="020F0502020204030204" pitchFamily="34" charset="0"/>
              </a:rPr>
              <a:t>(Contd.)</a:t>
            </a:r>
          </a:p>
        </p:txBody>
      </p:sp>
      <p:sp>
        <p:nvSpPr>
          <p:cNvPr id="208" name="Straight Connector 18">
            <a:extLst>
              <a:ext uri="{FF2B5EF4-FFF2-40B4-BE49-F238E27FC236}">
                <a16:creationId xmlns:a16="http://schemas.microsoft.com/office/drawing/2014/main" id="{83BE2E11-649F-3B3E-C160-936AE56BC3D6}"/>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F7958B68-BBAF-67DB-2C54-219D19F11F93}"/>
              </a:ext>
            </a:extLst>
          </p:cNvPr>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High-Performance -  This part emphasized on the speed of data processing.</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Analytic - This part emphasized on complex and real time analysis.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Appliance - This part emphasized on combination of both hardware and software.</a:t>
            </a:r>
          </a:p>
          <a:p>
            <a:pPr marL="914400" marR="0" lvl="1" indent="-457200" algn="l" defTabSz="914400" rtl="0" eaLnBrk="1" fontAlgn="auto" latinLnBrk="0" hangingPunct="0">
              <a:lnSpc>
                <a:spcPct val="200000"/>
              </a:lnSpc>
              <a:spcBef>
                <a:spcPts val="0"/>
              </a:spcBef>
              <a:spcAft>
                <a:spcPts val="0"/>
              </a:spcAft>
              <a:buClr>
                <a:srgbClr val="73C96C"/>
              </a:buClr>
              <a:buSzPct val="100000"/>
              <a:buFontTx/>
              <a:buChar char="▪"/>
              <a:tabLst/>
              <a:defRPr sz="2400">
                <a:solidFill>
                  <a:srgbClr val="3B3838"/>
                </a:solidFill>
                <a:latin typeface="Trebuchet MS"/>
                <a:ea typeface="Trebuchet MS"/>
                <a:cs typeface="Trebuchet MS"/>
                <a:sym typeface="Trebuchet MS"/>
              </a:defRPr>
            </a:pPr>
            <a:r>
              <a:rPr kumimoji="0" lang="en-US" altLang="en-US" sz="2400" b="0" i="0" u="none" strike="noStrike" kern="0" cap="none" spc="0" normalizeH="0" baseline="0" noProof="0" dirty="0">
                <a:ln>
                  <a:noFill/>
                </a:ln>
                <a:solidFill>
                  <a:srgbClr val="3B3838"/>
                </a:solidFill>
                <a:effectLst/>
                <a:uLnTx/>
                <a:uFillTx/>
                <a:latin typeface="Calibri" panose="020F0502020204030204" pitchFamily="34" charset="0"/>
                <a:cs typeface="Calibri" panose="020F0502020204030204" pitchFamily="34" charset="0"/>
                <a:sym typeface="Trebuchet MS"/>
              </a:rPr>
              <a:t>SAP HANA is a combination of both hardware and software.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35539787"/>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9DFE8-0DFE-0BF2-507D-17019DE04DB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032136B3-B9C2-5BD0-F521-29217B4D279A}"/>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a:t>
            </a:fld>
            <a:endParaRPr dirty="0"/>
          </a:p>
        </p:txBody>
      </p:sp>
      <p:sp>
        <p:nvSpPr>
          <p:cNvPr id="207" name="TextBox 17">
            <a:extLst>
              <a:ext uri="{FF2B5EF4-FFF2-40B4-BE49-F238E27FC236}">
                <a16:creationId xmlns:a16="http://schemas.microsoft.com/office/drawing/2014/main" id="{BC8F6408-702E-61EB-83EB-15F84A00CCB4}"/>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SAP HANA - Introduction(Contd.)</a:t>
            </a:r>
          </a:p>
        </p:txBody>
      </p:sp>
      <p:sp>
        <p:nvSpPr>
          <p:cNvPr id="208" name="Straight Connector 18">
            <a:extLst>
              <a:ext uri="{FF2B5EF4-FFF2-40B4-BE49-F238E27FC236}">
                <a16:creationId xmlns:a16="http://schemas.microsoft.com/office/drawing/2014/main" id="{866CD18D-2CCD-9BEA-0738-5C61A1519C31}"/>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CB5A3E87-0F99-8ECB-F38C-FFBDFE6FEF8A}"/>
              </a:ext>
            </a:extLst>
          </p:cNvPr>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primary motivation behind SAP HANA was to address the limitations of traditional disk-based databases.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SAP recognized that traditional databases could not keep up with the increasing need of real-time data processing.</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SAP HANA has in-memory database or in-memory computing.</a:t>
            </a:r>
            <a:endParaRPr lang="en-US" alt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An In-memory database means RAM. It means, data now resides in main-memory(RAM) also.</a:t>
            </a:r>
          </a:p>
        </p:txBody>
      </p:sp>
    </p:spTree>
    <p:extLst>
      <p:ext uri="{BB962C8B-B14F-4D97-AF65-F5344CB8AC3E}">
        <p14:creationId xmlns:p14="http://schemas.microsoft.com/office/powerpoint/2010/main" val="2139515725"/>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974B7-20B0-6B41-6196-2089947445DB}"/>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DDE793DB-B75B-D5CE-E0F5-467AD7064E3C}"/>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a:t>
            </a:fld>
            <a:endParaRPr dirty="0"/>
          </a:p>
        </p:txBody>
      </p:sp>
      <p:sp>
        <p:nvSpPr>
          <p:cNvPr id="207" name="TextBox 17">
            <a:extLst>
              <a:ext uri="{FF2B5EF4-FFF2-40B4-BE49-F238E27FC236}">
                <a16:creationId xmlns:a16="http://schemas.microsoft.com/office/drawing/2014/main" id="{16AF0DEE-4494-E896-48A2-13EAC96CDEAB}"/>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SAP HANA - Introduction(Contd.)</a:t>
            </a:r>
          </a:p>
        </p:txBody>
      </p:sp>
      <p:sp>
        <p:nvSpPr>
          <p:cNvPr id="208" name="Straight Connector 18">
            <a:extLst>
              <a:ext uri="{FF2B5EF4-FFF2-40B4-BE49-F238E27FC236}">
                <a16:creationId xmlns:a16="http://schemas.microsoft.com/office/drawing/2014/main" id="{B4A8C79E-7B45-14FF-B7CF-CFA363468985}"/>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646BCD94-05F6-03C9-69C0-FC292BCC2DB2}"/>
              </a:ext>
            </a:extLst>
          </p:cNvPr>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This in-memory computing helps to process large amount of data in real time.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Imp point : The difference between traditional databases and HANA database is - In traditional databases data resides in secondary memory(disk) whereas in HANA database data now resides in primary memory(RAM) also. </a:t>
            </a:r>
          </a:p>
        </p:txBody>
      </p:sp>
    </p:spTree>
    <p:extLst>
      <p:ext uri="{BB962C8B-B14F-4D97-AF65-F5344CB8AC3E}">
        <p14:creationId xmlns:p14="http://schemas.microsoft.com/office/powerpoint/2010/main" val="853834721"/>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2AD7B-B0D0-FFAD-47C5-CEAA81E2E32A}"/>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DA55266D-A366-36DD-D247-1C28D38CCC20}"/>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a:t>
            </a:fld>
            <a:endParaRPr dirty="0"/>
          </a:p>
        </p:txBody>
      </p:sp>
      <p:sp>
        <p:nvSpPr>
          <p:cNvPr id="207" name="TextBox 17">
            <a:extLst>
              <a:ext uri="{FF2B5EF4-FFF2-40B4-BE49-F238E27FC236}">
                <a16:creationId xmlns:a16="http://schemas.microsoft.com/office/drawing/2014/main" id="{FCA626E9-4CF8-A8BB-B83F-EDC3D765654E}"/>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Core Concepts/Features of SAP HANA</a:t>
            </a:r>
          </a:p>
        </p:txBody>
      </p:sp>
      <p:sp>
        <p:nvSpPr>
          <p:cNvPr id="208" name="Straight Connector 18">
            <a:extLst>
              <a:ext uri="{FF2B5EF4-FFF2-40B4-BE49-F238E27FC236}">
                <a16:creationId xmlns:a16="http://schemas.microsoft.com/office/drawing/2014/main" id="{9ADD3411-575C-0B20-D1EC-7EC96C1103BA}"/>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E51F24C3-1879-B4E4-A445-E7C0ABD84588}"/>
              </a:ext>
            </a:extLst>
          </p:cNvPr>
          <p:cNvSpPr txBox="1"/>
          <p:nvPr/>
        </p:nvSpPr>
        <p:spPr>
          <a:xfrm>
            <a:off x="14244" y="1263042"/>
            <a:ext cx="11935565" cy="58982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core concepts or features of SAP HANA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In-memory computing</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Integration of  OLAP and OLTP</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Row and column storage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Data compression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Table Partitioning</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Insert only on delta</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23036688"/>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AFD60-CA3F-25F7-D175-5C7B6170C335}"/>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57B1EFBD-61F3-25A7-C130-1C8E889C46F5}"/>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7</a:t>
            </a:fld>
            <a:endParaRPr dirty="0"/>
          </a:p>
        </p:txBody>
      </p:sp>
      <p:sp>
        <p:nvSpPr>
          <p:cNvPr id="207" name="TextBox 17">
            <a:extLst>
              <a:ext uri="{FF2B5EF4-FFF2-40B4-BE49-F238E27FC236}">
                <a16:creationId xmlns:a16="http://schemas.microsoft.com/office/drawing/2014/main" id="{E4B7225E-A83F-276A-FEFF-A6758CEF1004}"/>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Core Concepts/Features of SAP HANA Database(Contd.)</a:t>
            </a:r>
          </a:p>
        </p:txBody>
      </p:sp>
      <p:sp>
        <p:nvSpPr>
          <p:cNvPr id="208" name="Straight Connector 18">
            <a:extLst>
              <a:ext uri="{FF2B5EF4-FFF2-40B4-BE49-F238E27FC236}">
                <a16:creationId xmlns:a16="http://schemas.microsoft.com/office/drawing/2014/main" id="{B2F145F5-0DDD-904B-24D2-739A59121BC7}"/>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9B8C41BF-40AD-FC6D-872E-964EF678860E}"/>
              </a:ext>
            </a:extLst>
          </p:cNvPr>
          <p:cNvSpPr txBox="1"/>
          <p:nvPr/>
        </p:nvSpPr>
        <p:spPr>
          <a:xfrm>
            <a:off x="14244" y="1263042"/>
            <a:ext cx="11935565" cy="72757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Simplified data models</a:t>
            </a:r>
          </a:p>
        </p:txBody>
      </p:sp>
    </p:spTree>
    <p:extLst>
      <p:ext uri="{BB962C8B-B14F-4D97-AF65-F5344CB8AC3E}">
        <p14:creationId xmlns:p14="http://schemas.microsoft.com/office/powerpoint/2010/main" val="3350807484"/>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8786-2D4A-EE16-6BDD-38D751779D6F}"/>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A4FDBFED-5D7C-FB0F-7BA4-E28CE67224B6}"/>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8</a:t>
            </a:fld>
            <a:endParaRPr dirty="0"/>
          </a:p>
        </p:txBody>
      </p:sp>
      <p:sp>
        <p:nvSpPr>
          <p:cNvPr id="207" name="TextBox 17">
            <a:extLst>
              <a:ext uri="{FF2B5EF4-FFF2-40B4-BE49-F238E27FC236}">
                <a16:creationId xmlns:a16="http://schemas.microsoft.com/office/drawing/2014/main" id="{FB8147BD-C0A6-55B1-8891-BC86F67BC303}"/>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Features - In Memory Computing</a:t>
            </a:r>
          </a:p>
        </p:txBody>
      </p:sp>
      <p:sp>
        <p:nvSpPr>
          <p:cNvPr id="208" name="Straight Connector 18">
            <a:extLst>
              <a:ext uri="{FF2B5EF4-FFF2-40B4-BE49-F238E27FC236}">
                <a16:creationId xmlns:a16="http://schemas.microsoft.com/office/drawing/2014/main" id="{C45738D4-35CF-98A4-A638-ED9F70F5B09B}"/>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4F00DD60-FE06-4984-C2CE-4C15B174E221}"/>
              </a:ext>
            </a:extLst>
          </p:cNvPr>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SAP HANA has in-memory database.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It means data is stored in the main memory(RAM) also.</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This in-memory computing helps us to process large amount in data in real time.</a:t>
            </a:r>
          </a:p>
        </p:txBody>
      </p:sp>
    </p:spTree>
    <p:extLst>
      <p:ext uri="{BB962C8B-B14F-4D97-AF65-F5344CB8AC3E}">
        <p14:creationId xmlns:p14="http://schemas.microsoft.com/office/powerpoint/2010/main" val="1690061739"/>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67C8F-B2E1-F686-0683-C057CBADFA3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4C221D4C-F217-46BA-3011-BFE0927840C7}"/>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9</a:t>
            </a:fld>
            <a:endParaRPr dirty="0"/>
          </a:p>
        </p:txBody>
      </p:sp>
      <p:sp>
        <p:nvSpPr>
          <p:cNvPr id="207" name="TextBox 17">
            <a:extLst>
              <a:ext uri="{FF2B5EF4-FFF2-40B4-BE49-F238E27FC236}">
                <a16:creationId xmlns:a16="http://schemas.microsoft.com/office/drawing/2014/main" id="{8BAB41E6-01E5-3F80-A94A-DFF606F5FA74}"/>
              </a:ext>
            </a:extLst>
          </p:cNvPr>
          <p:cNvSpPr txBox="1"/>
          <p:nvPr/>
        </p:nvSpPr>
        <p:spPr>
          <a:xfrm>
            <a:off x="103695" y="357542"/>
            <a:ext cx="11190857"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Features - Integration of OLTP and OLAP</a:t>
            </a:r>
          </a:p>
        </p:txBody>
      </p:sp>
      <p:sp>
        <p:nvSpPr>
          <p:cNvPr id="208" name="Straight Connector 18">
            <a:extLst>
              <a:ext uri="{FF2B5EF4-FFF2-40B4-BE49-F238E27FC236}">
                <a16:creationId xmlns:a16="http://schemas.microsoft.com/office/drawing/2014/main" id="{BD2B37EE-C9E9-9E63-CB1C-C1490BC0E7FE}"/>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A65CC3A8-261D-6486-B0D3-9EA2116AF352}"/>
              </a:ext>
            </a:extLst>
          </p:cNvPr>
          <p:cNvSpPr txBox="1"/>
          <p:nvPr/>
        </p:nvSpPr>
        <p:spPr>
          <a:xfrm>
            <a:off x="14244" y="1263042"/>
            <a:ext cx="11935565" cy="58982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The traditional databases are suitable for OLTP only. They are not suitable for OLAP.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On the other hand, SAP HANA is designed to handle both OLTP and OLAP.</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OLTP stands for Online Transaction Processing whereas OLAP stands for Online Analytical Processing.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In case of OLTP the volume of data is less whereas in case of OLAP the volume of data is more.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sym typeface="Trebuchet MS"/>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sym typeface="Trebuchet MS"/>
            </a:endParaRPr>
          </a:p>
        </p:txBody>
      </p:sp>
    </p:spTree>
    <p:extLst>
      <p:ext uri="{BB962C8B-B14F-4D97-AF65-F5344CB8AC3E}">
        <p14:creationId xmlns:p14="http://schemas.microsoft.com/office/powerpoint/2010/main" val="3542723335"/>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EDE51-D33A-A72C-54D7-3295D3215DB6}"/>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199AEA69-F29E-1CB2-27AA-AF583060DBE6}"/>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10</a:t>
            </a:fld>
            <a:endParaRPr dirty="0"/>
          </a:p>
        </p:txBody>
      </p:sp>
      <p:sp>
        <p:nvSpPr>
          <p:cNvPr id="207" name="TextBox 17">
            <a:extLst>
              <a:ext uri="{FF2B5EF4-FFF2-40B4-BE49-F238E27FC236}">
                <a16:creationId xmlns:a16="http://schemas.microsoft.com/office/drawing/2014/main" id="{E9B639C3-B5EA-1CE2-18E6-B85E24F171F0}"/>
              </a:ext>
            </a:extLst>
          </p:cNvPr>
          <p:cNvSpPr txBox="1"/>
          <p:nvPr/>
        </p:nvSpPr>
        <p:spPr>
          <a:xfrm>
            <a:off x="103695" y="357542"/>
            <a:ext cx="11190857"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Features - Integration of OLTP and OLAP(Contd.)</a:t>
            </a:r>
          </a:p>
        </p:txBody>
      </p:sp>
      <p:sp>
        <p:nvSpPr>
          <p:cNvPr id="208" name="Straight Connector 18">
            <a:extLst>
              <a:ext uri="{FF2B5EF4-FFF2-40B4-BE49-F238E27FC236}">
                <a16:creationId xmlns:a16="http://schemas.microsoft.com/office/drawing/2014/main" id="{E4E7A401-CED6-C523-F82C-95F22D5E7CC1}"/>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350C0260-E842-4BC5-B2A1-8E4D2067C431}"/>
              </a:ext>
            </a:extLst>
          </p:cNvPr>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Example - Handling Day to day data for any business in an example of OLTP whereas consolidating the data for years and analyzing that data is an example of OLAP.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In HANA, we can handle both OLTP and OLAP using single platform only.</a:t>
            </a:r>
          </a:p>
        </p:txBody>
      </p:sp>
    </p:spTree>
    <p:extLst>
      <p:ext uri="{BB962C8B-B14F-4D97-AF65-F5344CB8AC3E}">
        <p14:creationId xmlns:p14="http://schemas.microsoft.com/office/powerpoint/2010/main" val="2946908398"/>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8C0E-1813-A94B-CF31-BF4811946C23}"/>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46206EC1-EDB9-3784-F07A-F55F2AA1A096}"/>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11</a:t>
            </a:fld>
            <a:endParaRPr dirty="0"/>
          </a:p>
        </p:txBody>
      </p:sp>
      <p:sp>
        <p:nvSpPr>
          <p:cNvPr id="207" name="TextBox 17">
            <a:extLst>
              <a:ext uri="{FF2B5EF4-FFF2-40B4-BE49-F238E27FC236}">
                <a16:creationId xmlns:a16="http://schemas.microsoft.com/office/drawing/2014/main" id="{FB7E8C4C-3399-0578-77E1-86197B17D474}"/>
              </a:ext>
            </a:extLst>
          </p:cNvPr>
          <p:cNvSpPr txBox="1"/>
          <p:nvPr/>
        </p:nvSpPr>
        <p:spPr>
          <a:xfrm>
            <a:off x="103695" y="357542"/>
            <a:ext cx="11190857"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Features - Row and Column Storage </a:t>
            </a:r>
          </a:p>
        </p:txBody>
      </p:sp>
      <p:sp>
        <p:nvSpPr>
          <p:cNvPr id="208" name="Straight Connector 18">
            <a:extLst>
              <a:ext uri="{FF2B5EF4-FFF2-40B4-BE49-F238E27FC236}">
                <a16:creationId xmlns:a16="http://schemas.microsoft.com/office/drawing/2014/main" id="{8BC18652-5C25-FD96-73A1-E8B1BEC0173D}"/>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1BF3965E-0781-02EE-CA60-7AB40C7ABB47}"/>
              </a:ext>
            </a:extLst>
          </p:cNvPr>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There are primarily 2 ways to store the table data.</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Row storage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Column storage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Row storage - In row storage, data is stored row wise.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Column storage - In column storage, data is stored column wise.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Traditional databases support only row storage.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SAP HANA supports both row storage and column storage.</a:t>
            </a:r>
          </a:p>
        </p:txBody>
      </p:sp>
    </p:spTree>
    <p:extLst>
      <p:ext uri="{BB962C8B-B14F-4D97-AF65-F5344CB8AC3E}">
        <p14:creationId xmlns:p14="http://schemas.microsoft.com/office/powerpoint/2010/main" val="1664805117"/>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ED7FF-8B96-814F-A1FA-48F6D83AD7DC}"/>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B2C6D8F7-3558-3E33-58BE-C165EFDD213F}"/>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12</a:t>
            </a:fld>
            <a:endParaRPr dirty="0"/>
          </a:p>
        </p:txBody>
      </p:sp>
      <p:sp>
        <p:nvSpPr>
          <p:cNvPr id="207" name="TextBox 17">
            <a:extLst>
              <a:ext uri="{FF2B5EF4-FFF2-40B4-BE49-F238E27FC236}">
                <a16:creationId xmlns:a16="http://schemas.microsoft.com/office/drawing/2014/main" id="{946CEDF6-D8A5-4CF7-1B67-129114E8F033}"/>
              </a:ext>
            </a:extLst>
          </p:cNvPr>
          <p:cNvSpPr txBox="1"/>
          <p:nvPr/>
        </p:nvSpPr>
        <p:spPr>
          <a:xfrm>
            <a:off x="103695" y="357542"/>
            <a:ext cx="11190857"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Features - Row and Column Storage(Contd.) </a:t>
            </a:r>
          </a:p>
        </p:txBody>
      </p:sp>
      <p:sp>
        <p:nvSpPr>
          <p:cNvPr id="208" name="Straight Connector 18">
            <a:extLst>
              <a:ext uri="{FF2B5EF4-FFF2-40B4-BE49-F238E27FC236}">
                <a16:creationId xmlns:a16="http://schemas.microsoft.com/office/drawing/2014/main" id="{00878A9E-7A98-A112-E932-B9317AD162F2}"/>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4D6BCB9A-AAE3-F8EB-7CAA-D79A73793D33}"/>
              </a:ext>
            </a:extLst>
          </p:cNvPr>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As HANA database supports both row storage and column storage. Therefore, it is also called as hybrid database.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Path to specify the storage type for a table is as follows :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       Technical Settings - DB-Specific Properties - Storage Type.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Refer to the attached excel to understand the row storage and column storage in the system.</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sym typeface="Trebuchet MS"/>
            </a:endParaRPr>
          </a:p>
        </p:txBody>
      </p:sp>
      <p:graphicFrame>
        <p:nvGraphicFramePr>
          <p:cNvPr id="3" name="Object 2">
            <a:extLst>
              <a:ext uri="{FF2B5EF4-FFF2-40B4-BE49-F238E27FC236}">
                <a16:creationId xmlns:a16="http://schemas.microsoft.com/office/drawing/2014/main" id="{5C042D49-4DB2-A77B-F7CA-5DBAC69C1186}"/>
              </a:ext>
            </a:extLst>
          </p:cNvPr>
          <p:cNvGraphicFramePr>
            <a:graphicFrameLocks noChangeAspect="1"/>
          </p:cNvGraphicFramePr>
          <p:nvPr>
            <p:extLst>
              <p:ext uri="{D42A27DB-BD31-4B8C-83A1-F6EECF244321}">
                <p14:modId xmlns:p14="http://schemas.microsoft.com/office/powerpoint/2010/main" val="1408010668"/>
              </p:ext>
            </p:extLst>
          </p:nvPr>
        </p:nvGraphicFramePr>
        <p:xfrm>
          <a:off x="3828852" y="5630433"/>
          <a:ext cx="914400" cy="792163"/>
        </p:xfrm>
        <a:graphic>
          <a:graphicData uri="http://schemas.openxmlformats.org/presentationml/2006/ole">
            <mc:AlternateContent xmlns:mc="http://schemas.openxmlformats.org/markup-compatibility/2006">
              <mc:Choice xmlns:v="urn:schemas-microsoft-com:vml" Requires="v">
                <p:oleObj name="Worksheet" showAsIcon="1" r:id="rId3" imgW="914400" imgH="792685" progId="Excel.Sheet.12">
                  <p:embed/>
                </p:oleObj>
              </mc:Choice>
              <mc:Fallback>
                <p:oleObj name="Worksheet" showAsIcon="1" r:id="rId3" imgW="914400" imgH="792685" progId="Excel.Sheet.12">
                  <p:embed/>
                  <p:pic>
                    <p:nvPicPr>
                      <p:cNvPr id="0" name=""/>
                      <p:cNvPicPr/>
                      <p:nvPr/>
                    </p:nvPicPr>
                    <p:blipFill>
                      <a:blip r:embed="rId4"/>
                      <a:stretch>
                        <a:fillRect/>
                      </a:stretch>
                    </p:blipFill>
                    <p:spPr>
                      <a:xfrm>
                        <a:off x="3828852" y="5630433"/>
                        <a:ext cx="914400" cy="792163"/>
                      </a:xfrm>
                      <a:prstGeom prst="rect">
                        <a:avLst/>
                      </a:prstGeom>
                    </p:spPr>
                  </p:pic>
                </p:oleObj>
              </mc:Fallback>
            </mc:AlternateContent>
          </a:graphicData>
        </a:graphic>
      </p:graphicFrame>
    </p:spTree>
    <p:extLst>
      <p:ext uri="{BB962C8B-B14F-4D97-AF65-F5344CB8AC3E}">
        <p14:creationId xmlns:p14="http://schemas.microsoft.com/office/powerpoint/2010/main" val="2994037250"/>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953AC-DE6D-612D-9336-4F472EDD070D}"/>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2FA7E231-178D-DAA2-A96F-4093FFF9C1B3}"/>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13</a:t>
            </a:fld>
            <a:endParaRPr dirty="0"/>
          </a:p>
        </p:txBody>
      </p:sp>
      <p:sp>
        <p:nvSpPr>
          <p:cNvPr id="207" name="TextBox 17">
            <a:extLst>
              <a:ext uri="{FF2B5EF4-FFF2-40B4-BE49-F238E27FC236}">
                <a16:creationId xmlns:a16="http://schemas.microsoft.com/office/drawing/2014/main" id="{30699AFD-96D2-C708-37C8-A618FF8E953D}"/>
              </a:ext>
            </a:extLst>
          </p:cNvPr>
          <p:cNvSpPr txBox="1"/>
          <p:nvPr/>
        </p:nvSpPr>
        <p:spPr>
          <a:xfrm>
            <a:off x="103695" y="357542"/>
            <a:ext cx="11190857"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Features - Row and Column Storage(Contd.) </a:t>
            </a:r>
          </a:p>
        </p:txBody>
      </p:sp>
      <p:sp>
        <p:nvSpPr>
          <p:cNvPr id="208" name="Straight Connector 18">
            <a:extLst>
              <a:ext uri="{FF2B5EF4-FFF2-40B4-BE49-F238E27FC236}">
                <a16:creationId xmlns:a16="http://schemas.microsoft.com/office/drawing/2014/main" id="{79D8439A-BBA9-0672-3AD7-7075716C5F56}"/>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72C84972-4CAF-C942-8289-4D1CE60D03F9}"/>
              </a:ext>
            </a:extLst>
          </p:cNvPr>
          <p:cNvSpPr txBox="1"/>
          <p:nvPr/>
        </p:nvSpPr>
        <p:spPr>
          <a:xfrm>
            <a:off x="14244" y="1263042"/>
            <a:ext cx="11935565" cy="72757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sym typeface="Trebuchet MS"/>
            </a:endParaRPr>
          </a:p>
        </p:txBody>
      </p:sp>
      <p:sp>
        <p:nvSpPr>
          <p:cNvPr id="4" name="TextBox 3">
            <a:extLst>
              <a:ext uri="{FF2B5EF4-FFF2-40B4-BE49-F238E27FC236}">
                <a16:creationId xmlns:a16="http://schemas.microsoft.com/office/drawing/2014/main" id="{8658C446-0D45-7137-6B71-4DE0459490AC}"/>
              </a:ext>
            </a:extLst>
          </p:cNvPr>
          <p:cNvSpPr txBox="1"/>
          <p:nvPr/>
        </p:nvSpPr>
        <p:spPr>
          <a:xfrm>
            <a:off x="4091234" y="5713044"/>
            <a:ext cx="2139884"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IN" sz="1800" b="0" i="0" u="none" strike="noStrike" cap="none" spc="0" normalizeH="0" baseline="0" dirty="0">
                <a:ln>
                  <a:noFill/>
                </a:ln>
                <a:solidFill>
                  <a:srgbClr val="000000"/>
                </a:solidFill>
                <a:effectLst/>
                <a:uFillTx/>
                <a:latin typeface="+mj-lt"/>
                <a:ea typeface="+mj-ea"/>
                <a:cs typeface="+mj-cs"/>
                <a:sym typeface="Calibri"/>
              </a:rPr>
              <a:t>      Row Storage </a:t>
            </a:r>
          </a:p>
        </p:txBody>
      </p:sp>
      <p:pic>
        <p:nvPicPr>
          <p:cNvPr id="7" name="Picture 6">
            <a:extLst>
              <a:ext uri="{FF2B5EF4-FFF2-40B4-BE49-F238E27FC236}">
                <a16:creationId xmlns:a16="http://schemas.microsoft.com/office/drawing/2014/main" id="{6D5A5CC4-82EA-CEDC-F899-078D5D27CF02}"/>
              </a:ext>
            </a:extLst>
          </p:cNvPr>
          <p:cNvPicPr>
            <a:picLocks noChangeAspect="1"/>
          </p:cNvPicPr>
          <p:nvPr/>
        </p:nvPicPr>
        <p:blipFill>
          <a:blip r:embed="rId3"/>
          <a:stretch>
            <a:fillRect/>
          </a:stretch>
        </p:blipFill>
        <p:spPr>
          <a:xfrm>
            <a:off x="1611209" y="1346581"/>
            <a:ext cx="7704488" cy="4168501"/>
          </a:xfrm>
          <a:prstGeom prst="rect">
            <a:avLst/>
          </a:prstGeom>
          <a:ln>
            <a:solidFill>
              <a:schemeClr val="accent1"/>
            </a:solidFill>
          </a:ln>
        </p:spPr>
      </p:pic>
    </p:spTree>
    <p:extLst>
      <p:ext uri="{BB962C8B-B14F-4D97-AF65-F5344CB8AC3E}">
        <p14:creationId xmlns:p14="http://schemas.microsoft.com/office/powerpoint/2010/main" val="3871510214"/>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CD448-9F10-516B-2B7B-4B6973A8C252}"/>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70AD3949-767C-6330-BFCC-B3DE9F79793E}"/>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14</a:t>
            </a:fld>
            <a:endParaRPr dirty="0"/>
          </a:p>
        </p:txBody>
      </p:sp>
      <p:sp>
        <p:nvSpPr>
          <p:cNvPr id="207" name="TextBox 17">
            <a:extLst>
              <a:ext uri="{FF2B5EF4-FFF2-40B4-BE49-F238E27FC236}">
                <a16:creationId xmlns:a16="http://schemas.microsoft.com/office/drawing/2014/main" id="{9F0F5487-7A18-464D-E937-3DE25C3D6F43}"/>
              </a:ext>
            </a:extLst>
          </p:cNvPr>
          <p:cNvSpPr txBox="1"/>
          <p:nvPr/>
        </p:nvSpPr>
        <p:spPr>
          <a:xfrm>
            <a:off x="103695" y="357542"/>
            <a:ext cx="11190857"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Features - Row and Column Storage(Contd.) </a:t>
            </a:r>
          </a:p>
        </p:txBody>
      </p:sp>
      <p:sp>
        <p:nvSpPr>
          <p:cNvPr id="208" name="Straight Connector 18">
            <a:extLst>
              <a:ext uri="{FF2B5EF4-FFF2-40B4-BE49-F238E27FC236}">
                <a16:creationId xmlns:a16="http://schemas.microsoft.com/office/drawing/2014/main" id="{9FD9DEA7-5FC4-A011-2EC0-0383D51C516D}"/>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4070D7BE-2304-0C53-EBC0-287CF0F56CCA}"/>
              </a:ext>
            </a:extLst>
          </p:cNvPr>
          <p:cNvSpPr txBox="1"/>
          <p:nvPr/>
        </p:nvSpPr>
        <p:spPr>
          <a:xfrm>
            <a:off x="14244" y="1263042"/>
            <a:ext cx="11935565" cy="72757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sym typeface="Trebuchet MS"/>
            </a:endParaRPr>
          </a:p>
        </p:txBody>
      </p:sp>
      <p:sp>
        <p:nvSpPr>
          <p:cNvPr id="4" name="TextBox 3">
            <a:extLst>
              <a:ext uri="{FF2B5EF4-FFF2-40B4-BE49-F238E27FC236}">
                <a16:creationId xmlns:a16="http://schemas.microsoft.com/office/drawing/2014/main" id="{8784CA4A-91B7-C78B-CD03-AE09D95EA78C}"/>
              </a:ext>
            </a:extLst>
          </p:cNvPr>
          <p:cNvSpPr txBox="1"/>
          <p:nvPr/>
        </p:nvSpPr>
        <p:spPr>
          <a:xfrm>
            <a:off x="3956115" y="6007104"/>
            <a:ext cx="2139884"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IN" sz="1800" b="0" i="0" u="none" strike="noStrike" cap="none" spc="0" normalizeH="0" baseline="0" dirty="0">
                <a:ln>
                  <a:noFill/>
                </a:ln>
                <a:solidFill>
                  <a:srgbClr val="000000"/>
                </a:solidFill>
                <a:effectLst/>
                <a:uFillTx/>
                <a:latin typeface="+mj-lt"/>
                <a:ea typeface="+mj-ea"/>
                <a:cs typeface="+mj-cs"/>
                <a:sym typeface="Calibri"/>
              </a:rPr>
              <a:t>      Column Storage </a:t>
            </a:r>
          </a:p>
        </p:txBody>
      </p:sp>
      <p:pic>
        <p:nvPicPr>
          <p:cNvPr id="9" name="Picture 8">
            <a:extLst>
              <a:ext uri="{FF2B5EF4-FFF2-40B4-BE49-F238E27FC236}">
                <a16:creationId xmlns:a16="http://schemas.microsoft.com/office/drawing/2014/main" id="{40F47792-90A2-D147-B637-8A7C43FAF2EB}"/>
              </a:ext>
            </a:extLst>
          </p:cNvPr>
          <p:cNvPicPr>
            <a:picLocks noChangeAspect="1"/>
          </p:cNvPicPr>
          <p:nvPr/>
        </p:nvPicPr>
        <p:blipFill>
          <a:blip r:embed="rId3"/>
          <a:stretch>
            <a:fillRect/>
          </a:stretch>
        </p:blipFill>
        <p:spPr>
          <a:xfrm>
            <a:off x="1504654" y="1523598"/>
            <a:ext cx="7712108" cy="4275190"/>
          </a:xfrm>
          <a:prstGeom prst="rect">
            <a:avLst/>
          </a:prstGeom>
          <a:ln>
            <a:solidFill>
              <a:schemeClr val="accent1"/>
            </a:solidFill>
          </a:ln>
        </p:spPr>
      </p:pic>
    </p:spTree>
    <p:extLst>
      <p:ext uri="{BB962C8B-B14F-4D97-AF65-F5344CB8AC3E}">
        <p14:creationId xmlns:p14="http://schemas.microsoft.com/office/powerpoint/2010/main" val="2391629784"/>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2625C-8390-7E33-81F5-F0BB67387845}"/>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6FD265A6-83EB-3442-EC90-F20743DC4D48}"/>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15</a:t>
            </a:fld>
            <a:endParaRPr dirty="0"/>
          </a:p>
        </p:txBody>
      </p:sp>
      <p:sp>
        <p:nvSpPr>
          <p:cNvPr id="207" name="TextBox 17">
            <a:extLst>
              <a:ext uri="{FF2B5EF4-FFF2-40B4-BE49-F238E27FC236}">
                <a16:creationId xmlns:a16="http://schemas.microsoft.com/office/drawing/2014/main" id="{C3F39EA5-AD41-1E10-C8EF-BE4CB45995DF}"/>
              </a:ext>
            </a:extLst>
          </p:cNvPr>
          <p:cNvSpPr txBox="1"/>
          <p:nvPr/>
        </p:nvSpPr>
        <p:spPr>
          <a:xfrm>
            <a:off x="103695" y="357542"/>
            <a:ext cx="11190857"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Features - Row and Column Storage(Contd.) </a:t>
            </a:r>
          </a:p>
        </p:txBody>
      </p:sp>
      <p:sp>
        <p:nvSpPr>
          <p:cNvPr id="208" name="Straight Connector 18">
            <a:extLst>
              <a:ext uri="{FF2B5EF4-FFF2-40B4-BE49-F238E27FC236}">
                <a16:creationId xmlns:a16="http://schemas.microsoft.com/office/drawing/2014/main" id="{887EDB6E-10E5-838C-ABF6-F121626A5547}"/>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2890366F-C781-46A1-D282-678226A9E99B}"/>
              </a:ext>
            </a:extLst>
          </p:cNvPr>
          <p:cNvSpPr txBox="1"/>
          <p:nvPr/>
        </p:nvSpPr>
        <p:spPr>
          <a:xfrm>
            <a:off x="14244" y="1263042"/>
            <a:ext cx="11935565" cy="36822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sym typeface="Trebuchet MS"/>
              </a:rPr>
              <a:t>When to use row storage</a:t>
            </a:r>
            <a:r>
              <a:rPr lang="en-US" altLang="en-US" sz="2400" dirty="0">
                <a:solidFill>
                  <a:srgbClr val="3B3838"/>
                </a:solidFill>
                <a:latin typeface="Calibri" panose="020F0502020204030204" pitchFamily="34" charset="0"/>
                <a:cs typeface="Calibri" panose="020F0502020204030204" pitchFamily="34" charset="0"/>
                <a:sym typeface="Trebuchet MS"/>
              </a:rPr>
              <a: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In the SQL statement, We need to access a complete row or record.</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No aggregate functions and calculations are required on the table.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sym typeface="Trebuchet MS"/>
              </a:rPr>
              <a:t>When to use column storage: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When the SQL statement has to perform aggregate functions and calculations.</a:t>
            </a:r>
          </a:p>
        </p:txBody>
      </p:sp>
    </p:spTree>
    <p:extLst>
      <p:ext uri="{BB962C8B-B14F-4D97-AF65-F5344CB8AC3E}">
        <p14:creationId xmlns:p14="http://schemas.microsoft.com/office/powerpoint/2010/main" val="2868673500"/>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D3713-D0DF-72B2-86CD-641D19DDDD13}"/>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E789806D-9BB7-9CD8-C4EA-5FD07DF34162}"/>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16</a:t>
            </a:fld>
            <a:endParaRPr dirty="0"/>
          </a:p>
        </p:txBody>
      </p:sp>
      <p:sp>
        <p:nvSpPr>
          <p:cNvPr id="207" name="TextBox 17">
            <a:extLst>
              <a:ext uri="{FF2B5EF4-FFF2-40B4-BE49-F238E27FC236}">
                <a16:creationId xmlns:a16="http://schemas.microsoft.com/office/drawing/2014/main" id="{6E8D3336-18DB-972E-D5BD-CC25FE3178C8}"/>
              </a:ext>
            </a:extLst>
          </p:cNvPr>
          <p:cNvSpPr txBox="1"/>
          <p:nvPr/>
        </p:nvSpPr>
        <p:spPr>
          <a:xfrm>
            <a:off x="103695" y="357542"/>
            <a:ext cx="11190857"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Features - Row and Column Storage(Contd.) </a:t>
            </a:r>
          </a:p>
        </p:txBody>
      </p:sp>
      <p:sp>
        <p:nvSpPr>
          <p:cNvPr id="208" name="Straight Connector 18">
            <a:extLst>
              <a:ext uri="{FF2B5EF4-FFF2-40B4-BE49-F238E27FC236}">
                <a16:creationId xmlns:a16="http://schemas.microsoft.com/office/drawing/2014/main" id="{22CD0396-CA15-635A-2CFC-6834B214CC9C}"/>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492CEEE6-2C5F-2208-51B8-BA528BA1B145}"/>
              </a:ext>
            </a:extLst>
          </p:cNvPr>
          <p:cNvSpPr txBox="1"/>
          <p:nvPr/>
        </p:nvSpPr>
        <p:spPr>
          <a:xfrm>
            <a:off x="14244" y="1263042"/>
            <a:ext cx="11935565" cy="589821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The various advantages of row storage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sym typeface="Trebuchet MS"/>
              </a:rPr>
              <a:t>Efficient for small tables </a:t>
            </a:r>
            <a:r>
              <a:rPr lang="en-US" altLang="en-US" sz="2400" dirty="0">
                <a:solidFill>
                  <a:srgbClr val="3B3838"/>
                </a:solidFill>
                <a:latin typeface="Calibri" panose="020F0502020204030204" pitchFamily="34" charset="0"/>
                <a:cs typeface="Calibri" panose="020F0502020204030204" pitchFamily="34" charset="0"/>
                <a:sym typeface="Trebuchet MS"/>
              </a:rPr>
              <a:t>:  Row storage is efficient for small tables when we want to access a complete row or record.</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sym typeface="Trebuchet MS"/>
              </a:rPr>
              <a:t>Faster transactions </a:t>
            </a:r>
            <a:r>
              <a:rPr lang="en-US" altLang="en-US" sz="2400" dirty="0">
                <a:solidFill>
                  <a:srgbClr val="3B3838"/>
                </a:solidFill>
                <a:latin typeface="Calibri" panose="020F0502020204030204" pitchFamily="34" charset="0"/>
                <a:cs typeface="Calibri" panose="020F0502020204030204" pitchFamily="34" charset="0"/>
                <a:sym typeface="Trebuchet MS"/>
              </a:rPr>
              <a:t>: The transactions(read, write etc.) are faster in row storage as we can access the complete record.</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sym typeface="Trebuchet MS"/>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sym typeface="Trebuchet MS"/>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sym typeface="Trebuchet MS"/>
            </a:endParaRPr>
          </a:p>
        </p:txBody>
      </p:sp>
    </p:spTree>
    <p:extLst>
      <p:ext uri="{BB962C8B-B14F-4D97-AF65-F5344CB8AC3E}">
        <p14:creationId xmlns:p14="http://schemas.microsoft.com/office/powerpoint/2010/main" val="2241260123"/>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9DAF3-29F9-1782-C7B1-869ACD78D4D1}"/>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A9BC7712-ED1E-EED9-F626-4279C4B0659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17</a:t>
            </a:fld>
            <a:endParaRPr dirty="0"/>
          </a:p>
        </p:txBody>
      </p:sp>
      <p:sp>
        <p:nvSpPr>
          <p:cNvPr id="207" name="TextBox 17">
            <a:extLst>
              <a:ext uri="{FF2B5EF4-FFF2-40B4-BE49-F238E27FC236}">
                <a16:creationId xmlns:a16="http://schemas.microsoft.com/office/drawing/2014/main" id="{06C551C3-8A2D-5F6A-E320-648DBEDB842D}"/>
              </a:ext>
            </a:extLst>
          </p:cNvPr>
          <p:cNvSpPr txBox="1"/>
          <p:nvPr/>
        </p:nvSpPr>
        <p:spPr>
          <a:xfrm>
            <a:off x="103695" y="357542"/>
            <a:ext cx="11190857"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Features - Row and Column Storage(Contd.) </a:t>
            </a:r>
          </a:p>
        </p:txBody>
      </p:sp>
      <p:sp>
        <p:nvSpPr>
          <p:cNvPr id="208" name="Straight Connector 18">
            <a:extLst>
              <a:ext uri="{FF2B5EF4-FFF2-40B4-BE49-F238E27FC236}">
                <a16:creationId xmlns:a16="http://schemas.microsoft.com/office/drawing/2014/main" id="{7D8DA5A5-C369-BD93-0ED8-BE2CF3D58251}"/>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F0142ACE-61A8-08B8-4E42-D3916F78B6BD}"/>
              </a:ext>
            </a:extLst>
          </p:cNvPr>
          <p:cNvSpPr txBox="1"/>
          <p:nvPr/>
        </p:nvSpPr>
        <p:spPr>
          <a:xfrm>
            <a:off x="14244" y="1263042"/>
            <a:ext cx="11935565" cy="5159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The various disadvantages of row storage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sym typeface="Trebuchet MS"/>
              </a:rPr>
              <a:t>More memory usage </a:t>
            </a:r>
            <a:r>
              <a:rPr lang="en-US" altLang="en-US" sz="2400" dirty="0">
                <a:solidFill>
                  <a:srgbClr val="3B3838"/>
                </a:solidFill>
                <a:latin typeface="Calibri" panose="020F0502020204030204" pitchFamily="34" charset="0"/>
                <a:cs typeface="Calibri" panose="020F0502020204030204" pitchFamily="34" charset="0"/>
                <a:sym typeface="Trebuchet MS"/>
              </a:rPr>
              <a:t>:  Row storage occupies more memory as it has lower compression rates as compared to column storage.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sym typeface="Trebuchet MS"/>
              </a:rPr>
              <a:t>Low performance for aggregate functions and calculations </a:t>
            </a:r>
            <a:r>
              <a:rPr lang="en-US" altLang="en-US" sz="2400" dirty="0">
                <a:solidFill>
                  <a:srgbClr val="3B3838"/>
                </a:solidFill>
                <a:latin typeface="Calibri" panose="020F0502020204030204" pitchFamily="34" charset="0"/>
                <a:cs typeface="Calibri" panose="020F0502020204030204" pitchFamily="34" charset="0"/>
                <a:sym typeface="Trebuchet MS"/>
              </a:rPr>
              <a:t>: Row storage provides low performance in case of aggregate functions and calculations.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sym typeface="Trebuchet MS"/>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sym typeface="Trebuchet MS"/>
            </a:endParaRPr>
          </a:p>
        </p:txBody>
      </p:sp>
    </p:spTree>
    <p:extLst>
      <p:ext uri="{BB962C8B-B14F-4D97-AF65-F5344CB8AC3E}">
        <p14:creationId xmlns:p14="http://schemas.microsoft.com/office/powerpoint/2010/main" val="2814874836"/>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5DA14-8AB1-A8CE-57AB-850A049C2450}"/>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D8EAB750-7998-5367-2D61-3A13078A1BD1}"/>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18</a:t>
            </a:fld>
            <a:endParaRPr dirty="0"/>
          </a:p>
        </p:txBody>
      </p:sp>
      <p:sp>
        <p:nvSpPr>
          <p:cNvPr id="207" name="TextBox 17">
            <a:extLst>
              <a:ext uri="{FF2B5EF4-FFF2-40B4-BE49-F238E27FC236}">
                <a16:creationId xmlns:a16="http://schemas.microsoft.com/office/drawing/2014/main" id="{1B067D80-DB7C-E60B-53DD-82CE459152CD}"/>
              </a:ext>
            </a:extLst>
          </p:cNvPr>
          <p:cNvSpPr txBox="1"/>
          <p:nvPr/>
        </p:nvSpPr>
        <p:spPr>
          <a:xfrm>
            <a:off x="103695" y="357542"/>
            <a:ext cx="11190857"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Features - Row and Column Storage(Contd.) </a:t>
            </a:r>
          </a:p>
        </p:txBody>
      </p:sp>
      <p:sp>
        <p:nvSpPr>
          <p:cNvPr id="208" name="Straight Connector 18">
            <a:extLst>
              <a:ext uri="{FF2B5EF4-FFF2-40B4-BE49-F238E27FC236}">
                <a16:creationId xmlns:a16="http://schemas.microsoft.com/office/drawing/2014/main" id="{3AFFED39-2CAC-484B-7806-5AB05E6774CC}"/>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B655A10B-7E30-25D9-8E65-8DC1BE4380A6}"/>
              </a:ext>
            </a:extLst>
          </p:cNvPr>
          <p:cNvSpPr txBox="1"/>
          <p:nvPr/>
        </p:nvSpPr>
        <p:spPr>
          <a:xfrm>
            <a:off x="14244" y="1263042"/>
            <a:ext cx="11935565" cy="811420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The various advantages of column storage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sym typeface="Trebuchet MS"/>
              </a:rPr>
              <a:t>Less memory usage </a:t>
            </a:r>
            <a:r>
              <a:rPr lang="en-US" altLang="en-US" sz="2400" dirty="0">
                <a:solidFill>
                  <a:srgbClr val="3B3838"/>
                </a:solidFill>
                <a:latin typeface="Calibri" panose="020F0502020204030204" pitchFamily="34" charset="0"/>
                <a:cs typeface="Calibri" panose="020F0502020204030204" pitchFamily="34" charset="0"/>
                <a:sym typeface="Trebuchet MS"/>
              </a:rPr>
              <a:t>:  In column storage, we can compress the data efficiently. This helps in reducing the memory usage significantly.</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sym typeface="Trebuchet MS"/>
              </a:rPr>
              <a:t>High performance for aggregate functions and calculations </a:t>
            </a:r>
            <a:r>
              <a:rPr lang="en-US" altLang="en-US" sz="2400" dirty="0">
                <a:solidFill>
                  <a:srgbClr val="3B3838"/>
                </a:solidFill>
                <a:latin typeface="Calibri" panose="020F0502020204030204" pitchFamily="34" charset="0"/>
                <a:cs typeface="Calibri" panose="020F0502020204030204" pitchFamily="34" charset="0"/>
                <a:sym typeface="Trebuchet MS"/>
              </a:rPr>
              <a:t>: Column storage provides high performance in case of aggregate functions and calculations. </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sym typeface="Trebuchet MS"/>
              </a:rPr>
              <a:t>Parallelization : </a:t>
            </a:r>
            <a:r>
              <a:rPr lang="en-US" altLang="en-US" sz="2400" dirty="0">
                <a:solidFill>
                  <a:srgbClr val="3B3838"/>
                </a:solidFill>
                <a:latin typeface="Calibri" panose="020F0502020204030204" pitchFamily="34" charset="0"/>
                <a:cs typeface="Calibri" panose="020F0502020204030204" pitchFamily="34" charset="0"/>
                <a:sym typeface="Trebuchet MS"/>
              </a:rPr>
              <a:t>Column storage simplifies parallel execution. Operations on different columns can be executed in parallel.</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sym typeface="Trebuchet MS"/>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sym typeface="Trebuchet MS"/>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sym typeface="Trebuchet MS"/>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sym typeface="Trebuchet MS"/>
            </a:endParaRPr>
          </a:p>
        </p:txBody>
      </p:sp>
    </p:spTree>
    <p:extLst>
      <p:ext uri="{BB962C8B-B14F-4D97-AF65-F5344CB8AC3E}">
        <p14:creationId xmlns:p14="http://schemas.microsoft.com/office/powerpoint/2010/main" val="3287559613"/>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D27CE-7139-21D1-8FF6-65DEF717248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B296264C-1C58-5483-57FD-15E1ADC1A395}"/>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19</a:t>
            </a:fld>
            <a:endParaRPr dirty="0"/>
          </a:p>
        </p:txBody>
      </p:sp>
      <p:sp>
        <p:nvSpPr>
          <p:cNvPr id="207" name="TextBox 17">
            <a:extLst>
              <a:ext uri="{FF2B5EF4-FFF2-40B4-BE49-F238E27FC236}">
                <a16:creationId xmlns:a16="http://schemas.microsoft.com/office/drawing/2014/main" id="{DCBAF16C-7080-B69A-7744-71D1E10A3112}"/>
              </a:ext>
            </a:extLst>
          </p:cNvPr>
          <p:cNvSpPr txBox="1"/>
          <p:nvPr/>
        </p:nvSpPr>
        <p:spPr>
          <a:xfrm>
            <a:off x="103695" y="357542"/>
            <a:ext cx="11190857"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Features - Row and Column Storage(Contd.) </a:t>
            </a:r>
          </a:p>
        </p:txBody>
      </p:sp>
      <p:sp>
        <p:nvSpPr>
          <p:cNvPr id="208" name="Straight Connector 18">
            <a:extLst>
              <a:ext uri="{FF2B5EF4-FFF2-40B4-BE49-F238E27FC236}">
                <a16:creationId xmlns:a16="http://schemas.microsoft.com/office/drawing/2014/main" id="{4523142E-519F-76CC-CF4C-C4CAA6D1C4A8}"/>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639EC74E-8ADE-7A25-D774-5434B04BDEB7}"/>
              </a:ext>
            </a:extLst>
          </p:cNvPr>
          <p:cNvSpPr txBox="1"/>
          <p:nvPr/>
        </p:nvSpPr>
        <p:spPr>
          <a:xfrm>
            <a:off x="14244" y="1263042"/>
            <a:ext cx="11935565" cy="5159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The various disadvantages of column storage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sym typeface="Trebuchet MS"/>
              </a:rPr>
              <a:t>Slower transactions </a:t>
            </a:r>
            <a:r>
              <a:rPr lang="en-US" altLang="en-US" sz="2400" dirty="0">
                <a:solidFill>
                  <a:srgbClr val="3B3838"/>
                </a:solidFill>
                <a:latin typeface="Calibri" panose="020F0502020204030204" pitchFamily="34" charset="0"/>
                <a:cs typeface="Calibri" panose="020F0502020204030204" pitchFamily="34" charset="0"/>
                <a:sym typeface="Trebuchet MS"/>
              </a:rPr>
              <a:t>: The transactions(read, write etc.) are slower in column storage as compared to row storage.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sym typeface="Trebuchet MS"/>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sym typeface="Trebuchet MS"/>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sym typeface="Trebuchet MS"/>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sym typeface="Trebuchet MS"/>
            </a:endParaRPr>
          </a:p>
        </p:txBody>
      </p:sp>
    </p:spTree>
    <p:extLst>
      <p:ext uri="{BB962C8B-B14F-4D97-AF65-F5344CB8AC3E}">
        <p14:creationId xmlns:p14="http://schemas.microsoft.com/office/powerpoint/2010/main" val="2742679613"/>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77344-0BB0-DD5A-28D0-85124B6874D5}"/>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59B5C196-1A39-0B25-E5C8-331222843974}"/>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20</a:t>
            </a:fld>
            <a:endParaRPr dirty="0"/>
          </a:p>
        </p:txBody>
      </p:sp>
      <p:sp>
        <p:nvSpPr>
          <p:cNvPr id="207" name="TextBox 17">
            <a:extLst>
              <a:ext uri="{FF2B5EF4-FFF2-40B4-BE49-F238E27FC236}">
                <a16:creationId xmlns:a16="http://schemas.microsoft.com/office/drawing/2014/main" id="{C0C13885-04C3-5384-ACDD-3FC0AF869915}"/>
              </a:ext>
            </a:extLst>
          </p:cNvPr>
          <p:cNvSpPr txBox="1"/>
          <p:nvPr/>
        </p:nvSpPr>
        <p:spPr>
          <a:xfrm>
            <a:off x="103695" y="357542"/>
            <a:ext cx="11190857"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Features - Data Compression</a:t>
            </a:r>
          </a:p>
        </p:txBody>
      </p:sp>
      <p:sp>
        <p:nvSpPr>
          <p:cNvPr id="208" name="Straight Connector 18">
            <a:extLst>
              <a:ext uri="{FF2B5EF4-FFF2-40B4-BE49-F238E27FC236}">
                <a16:creationId xmlns:a16="http://schemas.microsoft.com/office/drawing/2014/main" id="{D7236808-AB07-3F9A-6E80-F9C99184813E}"/>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1199F7C1-A47A-F92F-79C3-5B79CFA820F1}"/>
              </a:ext>
            </a:extLst>
          </p:cNvPr>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Data compression is one of the important key feature of SAP HANA.</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Data compression allows the HANA database to store large amount of data in main memory.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There is no manual process for data compression.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SAP HANA automatically do the compression using various data compression techniques.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The column storage allows the efficient compression of data.</a:t>
            </a:r>
          </a:p>
        </p:txBody>
      </p:sp>
    </p:spTree>
    <p:extLst>
      <p:ext uri="{BB962C8B-B14F-4D97-AF65-F5344CB8AC3E}">
        <p14:creationId xmlns:p14="http://schemas.microsoft.com/office/powerpoint/2010/main" val="3105830686"/>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26CFF-5647-BB6D-DB5A-820B50F02CDD}"/>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9DA4EA8-7458-3C71-A47B-5F09CCBA7912}"/>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21</a:t>
            </a:fld>
            <a:endParaRPr dirty="0"/>
          </a:p>
        </p:txBody>
      </p:sp>
      <p:sp>
        <p:nvSpPr>
          <p:cNvPr id="207" name="TextBox 17">
            <a:extLst>
              <a:ext uri="{FF2B5EF4-FFF2-40B4-BE49-F238E27FC236}">
                <a16:creationId xmlns:a16="http://schemas.microsoft.com/office/drawing/2014/main" id="{70B4A729-186B-E7C0-2640-5095F30997CD}"/>
              </a:ext>
            </a:extLst>
          </p:cNvPr>
          <p:cNvSpPr txBox="1"/>
          <p:nvPr/>
        </p:nvSpPr>
        <p:spPr>
          <a:xfrm>
            <a:off x="103695" y="357542"/>
            <a:ext cx="11190857"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Features - Data Compression(Contd.)</a:t>
            </a:r>
          </a:p>
        </p:txBody>
      </p:sp>
      <p:sp>
        <p:nvSpPr>
          <p:cNvPr id="208" name="Straight Connector 18">
            <a:extLst>
              <a:ext uri="{FF2B5EF4-FFF2-40B4-BE49-F238E27FC236}">
                <a16:creationId xmlns:a16="http://schemas.microsoft.com/office/drawing/2014/main" id="{9553F882-90B0-FF9D-CAF9-1807D392E4A4}"/>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58F559D4-412E-8926-DAED-C369BB42CE62}"/>
              </a:ext>
            </a:extLst>
          </p:cNvPr>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The default data compression method for column storage is ‘</a:t>
            </a:r>
            <a:r>
              <a:rPr lang="en-US" altLang="en-US" sz="2400" b="1" dirty="0">
                <a:solidFill>
                  <a:srgbClr val="3B3838"/>
                </a:solidFill>
                <a:latin typeface="Calibri" panose="020F0502020204030204" pitchFamily="34" charset="0"/>
                <a:cs typeface="Calibri" panose="020F0502020204030204" pitchFamily="34" charset="0"/>
                <a:sym typeface="Trebuchet MS"/>
              </a:rPr>
              <a:t>Dictionary Compression’</a:t>
            </a:r>
            <a:r>
              <a:rPr lang="en-US" altLang="en-US" sz="2400" dirty="0">
                <a:solidFill>
                  <a:srgbClr val="3B3838"/>
                </a:solidFill>
                <a:latin typeface="Calibri" panose="020F0502020204030204" pitchFamily="34" charset="0"/>
                <a:cs typeface="Calibri" panose="020F0502020204030204" pitchFamily="34" charset="0"/>
                <a:sym typeface="Trebuchet MS"/>
              </a:rPr>
              <a: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sym typeface="Trebuchet MS"/>
              </a:rPr>
              <a:t>Dictionary Compression </a:t>
            </a:r>
            <a:r>
              <a:rPr lang="en-US" altLang="en-US" sz="2400" dirty="0">
                <a:solidFill>
                  <a:srgbClr val="3B3838"/>
                </a:solidFill>
                <a:latin typeface="Calibri" panose="020F0502020204030204" pitchFamily="34" charset="0"/>
                <a:cs typeface="Calibri" panose="020F0502020204030204" pitchFamily="34" charset="0"/>
                <a:sym typeface="Trebuchet MS"/>
              </a:rPr>
              <a:t>:  This default method of compression is applied to all columns. It involves the mapping of distinct column values to consecutive numbers, so that instead of the actual value being stored, the typically much smaller consecutive number is stored.</a:t>
            </a:r>
          </a:p>
        </p:txBody>
      </p:sp>
    </p:spTree>
    <p:extLst>
      <p:ext uri="{BB962C8B-B14F-4D97-AF65-F5344CB8AC3E}">
        <p14:creationId xmlns:p14="http://schemas.microsoft.com/office/powerpoint/2010/main" val="2876648791"/>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BA6BE-2829-F9D7-8201-F560B1198664}"/>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D89DA540-FA27-174F-7581-7F4B67173D2C}"/>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22</a:t>
            </a:fld>
            <a:endParaRPr dirty="0"/>
          </a:p>
        </p:txBody>
      </p:sp>
      <p:sp>
        <p:nvSpPr>
          <p:cNvPr id="207" name="TextBox 17">
            <a:extLst>
              <a:ext uri="{FF2B5EF4-FFF2-40B4-BE49-F238E27FC236}">
                <a16:creationId xmlns:a16="http://schemas.microsoft.com/office/drawing/2014/main" id="{C5A92582-C55B-E769-194D-69ED2BAD4E0B}"/>
              </a:ext>
            </a:extLst>
          </p:cNvPr>
          <p:cNvSpPr txBox="1"/>
          <p:nvPr/>
        </p:nvSpPr>
        <p:spPr>
          <a:xfrm>
            <a:off x="103695" y="357542"/>
            <a:ext cx="11190857"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Features - Data Compression(Contd.)</a:t>
            </a:r>
          </a:p>
        </p:txBody>
      </p:sp>
      <p:sp>
        <p:nvSpPr>
          <p:cNvPr id="208" name="Straight Connector 18">
            <a:extLst>
              <a:ext uri="{FF2B5EF4-FFF2-40B4-BE49-F238E27FC236}">
                <a16:creationId xmlns:a16="http://schemas.microsoft.com/office/drawing/2014/main" id="{C7632A61-67A9-E94E-35E1-8A81F338B371}"/>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332BF7DD-DF9E-1C24-99C7-2D1D40462171}"/>
              </a:ext>
            </a:extLst>
          </p:cNvPr>
          <p:cNvSpPr txBox="1"/>
          <p:nvPr/>
        </p:nvSpPr>
        <p:spPr>
          <a:xfrm>
            <a:off x="14244" y="1263042"/>
            <a:ext cx="11935565" cy="72757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sym typeface="Trebuchet MS"/>
            </a:endParaRPr>
          </a:p>
        </p:txBody>
      </p:sp>
      <p:pic>
        <p:nvPicPr>
          <p:cNvPr id="5" name="Picture 4">
            <a:extLst>
              <a:ext uri="{FF2B5EF4-FFF2-40B4-BE49-F238E27FC236}">
                <a16:creationId xmlns:a16="http://schemas.microsoft.com/office/drawing/2014/main" id="{E574B92E-9271-4B5F-C008-F641DD63FC96}"/>
              </a:ext>
            </a:extLst>
          </p:cNvPr>
          <p:cNvPicPr>
            <a:picLocks noChangeAspect="1"/>
          </p:cNvPicPr>
          <p:nvPr/>
        </p:nvPicPr>
        <p:blipFill>
          <a:blip r:embed="rId3"/>
          <a:stretch>
            <a:fillRect/>
          </a:stretch>
        </p:blipFill>
        <p:spPr>
          <a:xfrm>
            <a:off x="1894788" y="1848393"/>
            <a:ext cx="7324625" cy="3458898"/>
          </a:xfrm>
          <a:prstGeom prst="rect">
            <a:avLst/>
          </a:prstGeom>
          <a:ln>
            <a:solidFill>
              <a:schemeClr val="accent1"/>
            </a:solidFill>
          </a:ln>
        </p:spPr>
      </p:pic>
      <p:sp>
        <p:nvSpPr>
          <p:cNvPr id="6" name="TextBox 5">
            <a:extLst>
              <a:ext uri="{FF2B5EF4-FFF2-40B4-BE49-F238E27FC236}">
                <a16:creationId xmlns:a16="http://schemas.microsoft.com/office/drawing/2014/main" id="{74C03351-2FFA-4F5E-01AD-E412B38375AA}"/>
              </a:ext>
            </a:extLst>
          </p:cNvPr>
          <p:cNvSpPr txBox="1"/>
          <p:nvPr/>
        </p:nvSpPr>
        <p:spPr>
          <a:xfrm>
            <a:off x="3846135" y="5594958"/>
            <a:ext cx="2366129"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IN" sz="1800" b="0" i="0" u="none" strike="noStrike" cap="none" spc="0" normalizeH="0" baseline="0" dirty="0">
                <a:ln>
                  <a:noFill/>
                </a:ln>
                <a:solidFill>
                  <a:srgbClr val="000000"/>
                </a:solidFill>
                <a:effectLst/>
                <a:uFillTx/>
                <a:latin typeface="+mj-lt"/>
                <a:ea typeface="+mj-ea"/>
                <a:cs typeface="+mj-cs"/>
                <a:sym typeface="Calibri"/>
              </a:rPr>
              <a:t>Dictionary Compression</a:t>
            </a:r>
          </a:p>
        </p:txBody>
      </p:sp>
    </p:spTree>
    <p:extLst>
      <p:ext uri="{BB962C8B-B14F-4D97-AF65-F5344CB8AC3E}">
        <p14:creationId xmlns:p14="http://schemas.microsoft.com/office/powerpoint/2010/main" val="1531000823"/>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7C39A-C96F-E03D-43A8-B08165CBE2E0}"/>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9419216D-17DD-F641-6DB4-CC4E5ED33D87}"/>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23</a:t>
            </a:fld>
            <a:endParaRPr dirty="0"/>
          </a:p>
        </p:txBody>
      </p:sp>
      <p:sp>
        <p:nvSpPr>
          <p:cNvPr id="207" name="TextBox 17">
            <a:extLst>
              <a:ext uri="{FF2B5EF4-FFF2-40B4-BE49-F238E27FC236}">
                <a16:creationId xmlns:a16="http://schemas.microsoft.com/office/drawing/2014/main" id="{08E26232-AE32-E8B7-2218-EDE251A8E4B9}"/>
              </a:ext>
            </a:extLst>
          </p:cNvPr>
          <p:cNvSpPr txBox="1"/>
          <p:nvPr/>
        </p:nvSpPr>
        <p:spPr>
          <a:xfrm>
            <a:off x="103695" y="357542"/>
            <a:ext cx="11190857"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Features - Data Compression(Contd.)</a:t>
            </a:r>
          </a:p>
        </p:txBody>
      </p:sp>
      <p:sp>
        <p:nvSpPr>
          <p:cNvPr id="208" name="Straight Connector 18">
            <a:extLst>
              <a:ext uri="{FF2B5EF4-FFF2-40B4-BE49-F238E27FC236}">
                <a16:creationId xmlns:a16="http://schemas.microsoft.com/office/drawing/2014/main" id="{6917A0CB-BF5F-BCD1-21D3-0FD94324E538}"/>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6033AE82-C211-7D04-0FE8-2856963F26D5}"/>
              </a:ext>
            </a:extLst>
          </p:cNvPr>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marR="0" lvl="1" indent="-457200" algn="l" defTabSz="914400" rtl="0" eaLnBrk="1" fontAlgn="auto" latinLnBrk="0" hangingPunct="0">
              <a:lnSpc>
                <a:spcPct val="200000"/>
              </a:lnSpc>
              <a:spcBef>
                <a:spcPts val="0"/>
              </a:spcBef>
              <a:spcAft>
                <a:spcPts val="0"/>
              </a:spcAft>
              <a:buClr>
                <a:srgbClr val="73C96C"/>
              </a:buClr>
              <a:buSzPct val="100000"/>
              <a:buFontTx/>
              <a:buChar char="▪"/>
              <a:tabLst/>
              <a:defRPr sz="2400">
                <a:solidFill>
                  <a:srgbClr val="3B3838"/>
                </a:solidFill>
                <a:latin typeface="Trebuchet MS"/>
                <a:ea typeface="Trebuchet MS"/>
                <a:cs typeface="Trebuchet MS"/>
                <a:sym typeface="Trebuchet MS"/>
              </a:defRPr>
            </a:pPr>
            <a:r>
              <a:rPr kumimoji="0" lang="en-US" altLang="en-US" sz="2400" b="0" i="0" u="none" strike="noStrike" kern="0" cap="none" spc="0" normalizeH="0" baseline="0" noProof="0" dirty="0">
                <a:ln>
                  <a:noFill/>
                </a:ln>
                <a:solidFill>
                  <a:srgbClr val="3B3838"/>
                </a:solidFill>
                <a:effectLst/>
                <a:uLnTx/>
                <a:uFillTx/>
                <a:latin typeface="Calibri" panose="020F0502020204030204" pitchFamily="34" charset="0"/>
                <a:cs typeface="Calibri" panose="020F0502020204030204" pitchFamily="34" charset="0"/>
                <a:sym typeface="Trebuchet MS"/>
              </a:rPr>
              <a:t>The various advantages of data compression are as follows:</a:t>
            </a:r>
            <a:endParaRPr lang="en-US" altLang="en-US" sz="2400" dirty="0">
              <a:solidFill>
                <a:srgbClr val="3B3838"/>
              </a:solidFill>
              <a:latin typeface="Calibri" panose="020F0502020204030204" pitchFamily="34" charset="0"/>
              <a:cs typeface="Calibri" panose="020F0502020204030204" pitchFamily="34" charset="0"/>
              <a:sym typeface="Trebuchet MS"/>
            </a:endParaRP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Allow to store large amount of data in main memory.</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Reduces cost.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Reduces memory utilization.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Improves performance as compressed data transferred from main memory to CPU. </a:t>
            </a:r>
          </a:p>
        </p:txBody>
      </p:sp>
    </p:spTree>
    <p:extLst>
      <p:ext uri="{BB962C8B-B14F-4D97-AF65-F5344CB8AC3E}">
        <p14:creationId xmlns:p14="http://schemas.microsoft.com/office/powerpoint/2010/main" val="3298738331"/>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B90A2-CB72-79C2-613F-937601F513A0}"/>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9492994F-6F6C-36DE-0B4B-0BE227B0797C}"/>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24</a:t>
            </a:fld>
            <a:endParaRPr dirty="0"/>
          </a:p>
        </p:txBody>
      </p:sp>
      <p:sp>
        <p:nvSpPr>
          <p:cNvPr id="207" name="TextBox 17">
            <a:extLst>
              <a:ext uri="{FF2B5EF4-FFF2-40B4-BE49-F238E27FC236}">
                <a16:creationId xmlns:a16="http://schemas.microsoft.com/office/drawing/2014/main" id="{8B964007-1840-FAE1-E4F7-581E55C48C8B}"/>
              </a:ext>
            </a:extLst>
          </p:cNvPr>
          <p:cNvSpPr txBox="1"/>
          <p:nvPr/>
        </p:nvSpPr>
        <p:spPr>
          <a:xfrm>
            <a:off x="103695" y="357542"/>
            <a:ext cx="11190857"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Features - Table Partitioning </a:t>
            </a:r>
          </a:p>
        </p:txBody>
      </p:sp>
      <p:sp>
        <p:nvSpPr>
          <p:cNvPr id="208" name="Straight Connector 18">
            <a:extLst>
              <a:ext uri="{FF2B5EF4-FFF2-40B4-BE49-F238E27FC236}">
                <a16:creationId xmlns:a16="http://schemas.microsoft.com/office/drawing/2014/main" id="{CBD88AC2-4BBB-21E1-6A6F-C58F6C01000D}"/>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21F3BD69-B9CF-EE97-D7EB-7E6A2ABAD9EB}"/>
              </a:ext>
            </a:extLst>
          </p:cNvPr>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Table partitioning is a data organization scheme in which table data is divided across multiple storage objects which is called as called data partitions.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The partitioning feature of the SAP HANA database splits column-store tables into sub-tables or partitions.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In this way, large tables can be broken down into smaller, more manageable parts.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When a table is partitioned, the split is done in such a way that each partition contains a different set of rows of the table.</a:t>
            </a:r>
          </a:p>
        </p:txBody>
      </p:sp>
    </p:spTree>
    <p:extLst>
      <p:ext uri="{BB962C8B-B14F-4D97-AF65-F5344CB8AC3E}">
        <p14:creationId xmlns:p14="http://schemas.microsoft.com/office/powerpoint/2010/main" val="2047778873"/>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30233-A4C8-05AA-6DDB-281932288998}"/>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AEB7D48A-B2DF-AF9E-A193-F149450622CB}"/>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25</a:t>
            </a:fld>
            <a:endParaRPr dirty="0"/>
          </a:p>
        </p:txBody>
      </p:sp>
      <p:sp>
        <p:nvSpPr>
          <p:cNvPr id="207" name="TextBox 17">
            <a:extLst>
              <a:ext uri="{FF2B5EF4-FFF2-40B4-BE49-F238E27FC236}">
                <a16:creationId xmlns:a16="http://schemas.microsoft.com/office/drawing/2014/main" id="{D3414E55-3011-673E-3E5B-1819ADE538B4}"/>
              </a:ext>
            </a:extLst>
          </p:cNvPr>
          <p:cNvSpPr txBox="1"/>
          <p:nvPr/>
        </p:nvSpPr>
        <p:spPr>
          <a:xfrm>
            <a:off x="103695" y="357542"/>
            <a:ext cx="11190857"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Features - Table Partitioning(Contd.) </a:t>
            </a:r>
          </a:p>
        </p:txBody>
      </p:sp>
      <p:sp>
        <p:nvSpPr>
          <p:cNvPr id="208" name="Straight Connector 18">
            <a:extLst>
              <a:ext uri="{FF2B5EF4-FFF2-40B4-BE49-F238E27FC236}">
                <a16:creationId xmlns:a16="http://schemas.microsoft.com/office/drawing/2014/main" id="{AD43A6EE-F2E2-DD58-C814-29F95CF09F33}"/>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D8F6F81B-EFB8-A644-4B82-BD4CC29E462A}"/>
              </a:ext>
            </a:extLst>
          </p:cNvPr>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Partitioning is typically used in multiple-host systems, but it may also be beneficial in single-host systems.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The following figure shows how a table data can be distributed over three hosts with dedicated partitions for individual months.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sym typeface="Trebuchet MS"/>
            </a:endParaRPr>
          </a:p>
        </p:txBody>
      </p:sp>
      <p:pic>
        <p:nvPicPr>
          <p:cNvPr id="3" name="Picture 2">
            <a:extLst>
              <a:ext uri="{FF2B5EF4-FFF2-40B4-BE49-F238E27FC236}">
                <a16:creationId xmlns:a16="http://schemas.microsoft.com/office/drawing/2014/main" id="{B7BC2E05-E782-AA0B-8C6C-A30DA0DB307F}"/>
              </a:ext>
            </a:extLst>
          </p:cNvPr>
          <p:cNvPicPr>
            <a:picLocks noChangeAspect="1"/>
          </p:cNvPicPr>
          <p:nvPr/>
        </p:nvPicPr>
        <p:blipFill>
          <a:blip r:embed="rId3"/>
          <a:stretch>
            <a:fillRect/>
          </a:stretch>
        </p:blipFill>
        <p:spPr>
          <a:xfrm>
            <a:off x="2270088" y="4370275"/>
            <a:ext cx="5540220" cy="1889924"/>
          </a:xfrm>
          <a:prstGeom prst="rect">
            <a:avLst/>
          </a:prstGeom>
        </p:spPr>
      </p:pic>
      <p:sp>
        <p:nvSpPr>
          <p:cNvPr id="4" name="TextBox 3">
            <a:extLst>
              <a:ext uri="{FF2B5EF4-FFF2-40B4-BE49-F238E27FC236}">
                <a16:creationId xmlns:a16="http://schemas.microsoft.com/office/drawing/2014/main" id="{093F0747-7407-6239-70FC-3282CDAE9A20}"/>
              </a:ext>
            </a:extLst>
          </p:cNvPr>
          <p:cNvSpPr txBox="1"/>
          <p:nvPr/>
        </p:nvSpPr>
        <p:spPr>
          <a:xfrm>
            <a:off x="3733013" y="6422504"/>
            <a:ext cx="3148554"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IN" sz="1800" b="0" i="0" u="none" strike="noStrike" cap="none" spc="0" normalizeH="0" baseline="0" dirty="0">
                <a:ln>
                  <a:noFill/>
                </a:ln>
                <a:solidFill>
                  <a:srgbClr val="000000"/>
                </a:solidFill>
                <a:effectLst/>
                <a:uFillTx/>
                <a:latin typeface="+mj-lt"/>
                <a:ea typeface="+mj-ea"/>
                <a:cs typeface="+mj-cs"/>
                <a:sym typeface="Calibri"/>
              </a:rPr>
              <a:t> Example of Tab</a:t>
            </a:r>
            <a:r>
              <a:rPr lang="en-IN" dirty="0"/>
              <a:t>le Partitioning</a:t>
            </a:r>
            <a:endParaRPr kumimoji="0" lang="en-IN" sz="1800" b="0" i="0" u="none" strike="noStrike" cap="none" spc="0" normalizeH="0" baseline="0" dirty="0">
              <a:ln>
                <a:noFill/>
              </a:ln>
              <a:solidFill>
                <a:srgbClr val="000000"/>
              </a:solidFill>
              <a:effectLst/>
              <a:uFillTx/>
              <a:latin typeface="+mj-lt"/>
              <a:ea typeface="+mj-ea"/>
              <a:cs typeface="+mj-cs"/>
              <a:sym typeface="Calibri"/>
            </a:endParaRPr>
          </a:p>
        </p:txBody>
      </p:sp>
    </p:spTree>
    <p:extLst>
      <p:ext uri="{BB962C8B-B14F-4D97-AF65-F5344CB8AC3E}">
        <p14:creationId xmlns:p14="http://schemas.microsoft.com/office/powerpoint/2010/main" val="2574614643"/>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856C3-A806-C7E5-41DD-09C240778AC9}"/>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D1B3CF48-54FF-ADD1-B719-5E776B11AC56}"/>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26</a:t>
            </a:fld>
            <a:endParaRPr dirty="0"/>
          </a:p>
        </p:txBody>
      </p:sp>
      <p:sp>
        <p:nvSpPr>
          <p:cNvPr id="207" name="TextBox 17">
            <a:extLst>
              <a:ext uri="{FF2B5EF4-FFF2-40B4-BE49-F238E27FC236}">
                <a16:creationId xmlns:a16="http://schemas.microsoft.com/office/drawing/2014/main" id="{47E6153F-8413-9A69-84E3-DDCCDBB760D6}"/>
              </a:ext>
            </a:extLst>
          </p:cNvPr>
          <p:cNvSpPr txBox="1"/>
          <p:nvPr/>
        </p:nvSpPr>
        <p:spPr>
          <a:xfrm>
            <a:off x="103695" y="357542"/>
            <a:ext cx="11190857"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Features - Table Partitioning(Contd.) </a:t>
            </a:r>
          </a:p>
        </p:txBody>
      </p:sp>
      <p:sp>
        <p:nvSpPr>
          <p:cNvPr id="208" name="Straight Connector 18">
            <a:extLst>
              <a:ext uri="{FF2B5EF4-FFF2-40B4-BE49-F238E27FC236}">
                <a16:creationId xmlns:a16="http://schemas.microsoft.com/office/drawing/2014/main" id="{2BBEAE1D-71A6-24AD-435E-B1506F354B5E}"/>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47B49B01-41F4-4D3A-DE37-8EFC4AE0FEC3}"/>
              </a:ext>
            </a:extLst>
          </p:cNvPr>
          <p:cNvSpPr txBox="1"/>
          <p:nvPr/>
        </p:nvSpPr>
        <p:spPr>
          <a:xfrm>
            <a:off x="14244" y="1263042"/>
            <a:ext cx="11935565" cy="58982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There are several strategies available for specifying how the rows are assigned to the partitions of a table.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The various table partitioning strategies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HASH partitioning</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ROUNDROBIN partitioning</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RANGE partitioning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b="1" dirty="0">
              <a:solidFill>
                <a:srgbClr val="3B3838"/>
              </a:solidFill>
              <a:latin typeface="Calibri" panose="020F0502020204030204" pitchFamily="34" charset="0"/>
              <a:cs typeface="Calibri" panose="020F0502020204030204" pitchFamily="34" charset="0"/>
              <a:sym typeface="Trebuchet MS"/>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sym typeface="Trebuchet MS"/>
            </a:endParaRPr>
          </a:p>
        </p:txBody>
      </p:sp>
    </p:spTree>
    <p:extLst>
      <p:ext uri="{BB962C8B-B14F-4D97-AF65-F5344CB8AC3E}">
        <p14:creationId xmlns:p14="http://schemas.microsoft.com/office/powerpoint/2010/main" val="2244295201"/>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2D996-A668-D485-AB18-D82F21C6BC1B}"/>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CC65F9F9-89A6-AA28-B99C-B411896790B5}"/>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27</a:t>
            </a:fld>
            <a:endParaRPr dirty="0"/>
          </a:p>
        </p:txBody>
      </p:sp>
      <p:sp>
        <p:nvSpPr>
          <p:cNvPr id="207" name="TextBox 17">
            <a:extLst>
              <a:ext uri="{FF2B5EF4-FFF2-40B4-BE49-F238E27FC236}">
                <a16:creationId xmlns:a16="http://schemas.microsoft.com/office/drawing/2014/main" id="{5AEE5E77-A0B7-6DFA-96B6-D6F9EA11E8D9}"/>
              </a:ext>
            </a:extLst>
          </p:cNvPr>
          <p:cNvSpPr txBox="1"/>
          <p:nvPr/>
        </p:nvSpPr>
        <p:spPr>
          <a:xfrm>
            <a:off x="103695" y="357542"/>
            <a:ext cx="11190857"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Features - Table Partitioning(Contd.) </a:t>
            </a:r>
          </a:p>
        </p:txBody>
      </p:sp>
      <p:sp>
        <p:nvSpPr>
          <p:cNvPr id="208" name="Straight Connector 18">
            <a:extLst>
              <a:ext uri="{FF2B5EF4-FFF2-40B4-BE49-F238E27FC236}">
                <a16:creationId xmlns:a16="http://schemas.microsoft.com/office/drawing/2014/main" id="{B4F92BDE-1E72-156D-4ADF-66CEE62BBC5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C617012C-88F2-980C-40FE-E0DBB272137E}"/>
              </a:ext>
            </a:extLst>
          </p:cNvPr>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sym typeface="Trebuchet MS"/>
              </a:rPr>
              <a:t>HASH partitioning </a:t>
            </a:r>
            <a:r>
              <a:rPr lang="en-US" altLang="en-US" sz="2400" dirty="0">
                <a:solidFill>
                  <a:srgbClr val="3B3838"/>
                </a:solidFill>
                <a:latin typeface="Calibri" panose="020F0502020204030204" pitchFamily="34" charset="0"/>
                <a:cs typeface="Calibri" panose="020F0502020204030204" pitchFamily="34" charset="0"/>
                <a:sym typeface="Trebuchet MS"/>
              </a:rPr>
              <a:t>- In Hash partitioning, records are assigned to the partition based upon hash algorithm applied on the specified column.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       </a:t>
            </a:r>
            <a:r>
              <a:rPr lang="en-US" altLang="en-US" sz="2400" b="1" dirty="0">
                <a:solidFill>
                  <a:srgbClr val="3B3838"/>
                </a:solidFill>
                <a:latin typeface="Calibri" panose="020F0502020204030204" pitchFamily="34" charset="0"/>
                <a:cs typeface="Calibri" panose="020F0502020204030204" pitchFamily="34" charset="0"/>
                <a:sym typeface="Trebuchet MS"/>
              </a:rPr>
              <a:t>Working</a:t>
            </a:r>
            <a:r>
              <a:rPr lang="en-US" altLang="en-US" sz="2400" dirty="0">
                <a:solidFill>
                  <a:srgbClr val="3B3838"/>
                </a:solidFill>
                <a:latin typeface="Calibri" panose="020F0502020204030204" pitchFamily="34" charset="0"/>
                <a:cs typeface="Calibri" panose="020F0502020204030204" pitchFamily="34" charset="0"/>
                <a:sym typeface="Trebuchet MS"/>
              </a:rPr>
              <a:t> : We define one or more columns as partitioning columns. SAP HANA applies a</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       hash function to the values of the specified partitioning columns. Based on the</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       calculated hash value and the total number of partitions defined, the system</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       determines which partition a particular row belongs to.</a:t>
            </a:r>
          </a:p>
        </p:txBody>
      </p:sp>
    </p:spTree>
    <p:extLst>
      <p:ext uri="{BB962C8B-B14F-4D97-AF65-F5344CB8AC3E}">
        <p14:creationId xmlns:p14="http://schemas.microsoft.com/office/powerpoint/2010/main" val="3502917729"/>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CEE3E-63A4-C40B-3135-63BD9ED9DA01}"/>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8AA8C9E0-7755-2996-30C7-0D5ADCA54162}"/>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28</a:t>
            </a:fld>
            <a:endParaRPr dirty="0"/>
          </a:p>
        </p:txBody>
      </p:sp>
      <p:sp>
        <p:nvSpPr>
          <p:cNvPr id="207" name="TextBox 17">
            <a:extLst>
              <a:ext uri="{FF2B5EF4-FFF2-40B4-BE49-F238E27FC236}">
                <a16:creationId xmlns:a16="http://schemas.microsoft.com/office/drawing/2014/main" id="{FF9A159C-16F7-9964-A519-7B99B44D31F3}"/>
              </a:ext>
            </a:extLst>
          </p:cNvPr>
          <p:cNvSpPr txBox="1"/>
          <p:nvPr/>
        </p:nvSpPr>
        <p:spPr>
          <a:xfrm>
            <a:off x="103695" y="357542"/>
            <a:ext cx="11190857"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Features - Table Partitioning(Contd.) </a:t>
            </a:r>
          </a:p>
        </p:txBody>
      </p:sp>
      <p:sp>
        <p:nvSpPr>
          <p:cNvPr id="208" name="Straight Connector 18">
            <a:extLst>
              <a:ext uri="{FF2B5EF4-FFF2-40B4-BE49-F238E27FC236}">
                <a16:creationId xmlns:a16="http://schemas.microsoft.com/office/drawing/2014/main" id="{CF8F2834-966B-F2FF-9265-320C1B20986A}"/>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5F1A6E1E-BB3A-8A1F-7288-1D3C5E11FDD6}"/>
              </a:ext>
            </a:extLst>
          </p:cNvPr>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sym typeface="Trebuchet MS"/>
              </a:rPr>
              <a:t>ROUNDROBIN partitioning </a:t>
            </a:r>
            <a:r>
              <a:rPr kumimoji="0" lang="en-US" altLang="en-US" sz="2400" b="0" i="0" u="none" strike="noStrike" kern="0" cap="none" spc="0" normalizeH="0" baseline="0" noProof="0" dirty="0">
                <a:ln>
                  <a:noFill/>
                </a:ln>
                <a:solidFill>
                  <a:srgbClr val="3B3838"/>
                </a:solidFill>
                <a:effectLst/>
                <a:uLnTx/>
                <a:uFillTx/>
                <a:latin typeface="Calibri" panose="020F0502020204030204" pitchFamily="34" charset="0"/>
                <a:cs typeface="Calibri" panose="020F0502020204030204" pitchFamily="34" charset="0"/>
                <a:sym typeface="Trebuchet MS"/>
              </a:rPr>
              <a:t>- </a:t>
            </a:r>
            <a:r>
              <a:rPr lang="en-US" altLang="en-US" sz="2400" dirty="0">
                <a:solidFill>
                  <a:srgbClr val="3B3838"/>
                </a:solidFill>
                <a:latin typeface="Calibri" panose="020F0502020204030204" pitchFamily="34" charset="0"/>
                <a:cs typeface="Calibri" panose="020F0502020204030204" pitchFamily="34" charset="0"/>
                <a:sym typeface="Trebuchet MS"/>
              </a:rPr>
              <a:t>It is called as round robin partitioning because the system rotates through all the partitions. In roundrobin partitioning, records are assigned in a round robin manner to the available partitions. There is no need to specify any partitioning column. With round-robin partitioning, new rows are assigned to partitions on a rotation basis. </a:t>
            </a:r>
          </a:p>
        </p:txBody>
      </p:sp>
    </p:spTree>
    <p:extLst>
      <p:ext uri="{BB962C8B-B14F-4D97-AF65-F5344CB8AC3E}">
        <p14:creationId xmlns:p14="http://schemas.microsoft.com/office/powerpoint/2010/main" val="3077082836"/>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FE120-E687-AE90-84D7-D65F9CB46608}"/>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AFA96B43-E74C-1745-D641-49B1C61A0E67}"/>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29</a:t>
            </a:fld>
            <a:endParaRPr dirty="0"/>
          </a:p>
        </p:txBody>
      </p:sp>
      <p:sp>
        <p:nvSpPr>
          <p:cNvPr id="207" name="TextBox 17">
            <a:extLst>
              <a:ext uri="{FF2B5EF4-FFF2-40B4-BE49-F238E27FC236}">
                <a16:creationId xmlns:a16="http://schemas.microsoft.com/office/drawing/2014/main" id="{51E9A68D-A0FC-A7A4-AB33-4EE923EA8B00}"/>
              </a:ext>
            </a:extLst>
          </p:cNvPr>
          <p:cNvSpPr txBox="1"/>
          <p:nvPr/>
        </p:nvSpPr>
        <p:spPr>
          <a:xfrm>
            <a:off x="103695" y="357542"/>
            <a:ext cx="11190857"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Features - Table Partitioning(Contd.) </a:t>
            </a:r>
          </a:p>
        </p:txBody>
      </p:sp>
      <p:sp>
        <p:nvSpPr>
          <p:cNvPr id="208" name="Straight Connector 18">
            <a:extLst>
              <a:ext uri="{FF2B5EF4-FFF2-40B4-BE49-F238E27FC236}">
                <a16:creationId xmlns:a16="http://schemas.microsoft.com/office/drawing/2014/main" id="{F30F6373-9F9A-FE8E-C989-5875F67A4D7A}"/>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6A7DBB69-E56E-E55B-D131-485DDF1E5DCF}"/>
              </a:ext>
            </a:extLst>
          </p:cNvPr>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sym typeface="Trebuchet MS"/>
              </a:rPr>
              <a:t>Range partitioning </a:t>
            </a:r>
            <a:r>
              <a:rPr kumimoji="0" lang="en-US" altLang="en-US" sz="2400" b="0" i="0" u="none" strike="noStrike" kern="0" cap="none" spc="0" normalizeH="0" baseline="0" noProof="0" dirty="0">
                <a:ln>
                  <a:noFill/>
                </a:ln>
                <a:solidFill>
                  <a:srgbClr val="3B3838"/>
                </a:solidFill>
                <a:effectLst/>
                <a:uLnTx/>
                <a:uFillTx/>
                <a:latin typeface="Calibri" panose="020F0502020204030204" pitchFamily="34" charset="0"/>
                <a:cs typeface="Calibri" panose="020F0502020204030204" pitchFamily="34" charset="0"/>
                <a:sym typeface="Trebuchet MS"/>
              </a:rPr>
              <a:t>- </a:t>
            </a:r>
            <a:r>
              <a:rPr lang="en-US" altLang="en-US" sz="2400" dirty="0">
                <a:solidFill>
                  <a:srgbClr val="3B3838"/>
                </a:solidFill>
                <a:latin typeface="Calibri" panose="020F0502020204030204" pitchFamily="34" charset="0"/>
                <a:cs typeface="Calibri" panose="020F0502020204030204" pitchFamily="34" charset="0"/>
                <a:sym typeface="Trebuchet MS"/>
              </a:rPr>
              <a:t>Records are assigned to the partitions using defined ranges. Example - Records having company code value 1000-2000 belongs to one partition. Records having company code value 2001-3000 belongs to another partition.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sym typeface="Trebuchet MS"/>
            </a:endParaRPr>
          </a:p>
        </p:txBody>
      </p:sp>
    </p:spTree>
    <p:extLst>
      <p:ext uri="{BB962C8B-B14F-4D97-AF65-F5344CB8AC3E}">
        <p14:creationId xmlns:p14="http://schemas.microsoft.com/office/powerpoint/2010/main" val="525225471"/>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E21E8-0BC0-B3BE-89D2-81B78226A7B0}"/>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13D24283-0766-7265-51FA-7AD17EB552E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30</a:t>
            </a:fld>
            <a:endParaRPr dirty="0"/>
          </a:p>
        </p:txBody>
      </p:sp>
      <p:sp>
        <p:nvSpPr>
          <p:cNvPr id="207" name="TextBox 17">
            <a:extLst>
              <a:ext uri="{FF2B5EF4-FFF2-40B4-BE49-F238E27FC236}">
                <a16:creationId xmlns:a16="http://schemas.microsoft.com/office/drawing/2014/main" id="{C7395619-FBFD-620D-C815-DCFCAEEF2C27}"/>
              </a:ext>
            </a:extLst>
          </p:cNvPr>
          <p:cNvSpPr txBox="1"/>
          <p:nvPr/>
        </p:nvSpPr>
        <p:spPr>
          <a:xfrm>
            <a:off x="103695" y="357542"/>
            <a:ext cx="11190857"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Features - Table Partitioning(Contd.) </a:t>
            </a:r>
          </a:p>
        </p:txBody>
      </p:sp>
      <p:sp>
        <p:nvSpPr>
          <p:cNvPr id="208" name="Straight Connector 18">
            <a:extLst>
              <a:ext uri="{FF2B5EF4-FFF2-40B4-BE49-F238E27FC236}">
                <a16:creationId xmlns:a16="http://schemas.microsoft.com/office/drawing/2014/main" id="{82D78067-C24A-D1C8-40EB-3ACB9F6B09E1}"/>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AA27F845-5E4D-1278-F132-375A19DD9EA8}"/>
              </a:ext>
            </a:extLst>
          </p:cNvPr>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 </a:t>
            </a:r>
            <a:r>
              <a:rPr lang="en-US" altLang="en-US" sz="2400" b="1" dirty="0">
                <a:solidFill>
                  <a:srgbClr val="3B3838"/>
                </a:solidFill>
                <a:latin typeface="Calibri" panose="020F0502020204030204" pitchFamily="34" charset="0"/>
                <a:cs typeface="Calibri" panose="020F0502020204030204" pitchFamily="34" charset="0"/>
                <a:sym typeface="Trebuchet MS"/>
              </a:rPr>
              <a:t>When to use HASH partitioning</a:t>
            </a:r>
            <a:r>
              <a:rPr lang="en-US" altLang="en-US" sz="2400" dirty="0">
                <a:solidFill>
                  <a:srgbClr val="3B3838"/>
                </a:solidFill>
                <a:latin typeface="Calibri" panose="020F0502020204030204" pitchFamily="34" charset="0"/>
                <a:cs typeface="Calibri" panose="020F0502020204030204" pitchFamily="34" charset="0"/>
                <a:sym typeface="Trebuchet MS"/>
              </a:rPr>
              <a:t>: </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When a table has large number of records and we want to look up for the data, based upon partition column. In that case it directly searches in the correct partition without scanning all the partitions.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sym typeface="Trebuchet MS"/>
              </a:rPr>
              <a:t>When to use ROUNDROBIN partitioning</a:t>
            </a:r>
            <a:r>
              <a:rPr lang="en-US" altLang="en-US" sz="2400" dirty="0">
                <a:solidFill>
                  <a:srgbClr val="3B3838"/>
                </a:solidFill>
                <a:latin typeface="Calibri" panose="020F0502020204030204" pitchFamily="34" charset="0"/>
                <a:cs typeface="Calibri" panose="020F0502020204030204" pitchFamily="34" charset="0"/>
                <a:sym typeface="Trebuchet MS"/>
              </a:rPr>
              <a:t>: </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When we want to distribute the load as even as possible across all the partitions as in ROUNDROBIN partitioning, system rotates through all partitions.</a:t>
            </a:r>
          </a:p>
        </p:txBody>
      </p:sp>
    </p:spTree>
    <p:extLst>
      <p:ext uri="{BB962C8B-B14F-4D97-AF65-F5344CB8AC3E}">
        <p14:creationId xmlns:p14="http://schemas.microsoft.com/office/powerpoint/2010/main" val="2981698753"/>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4111F-B24B-E69C-9B54-CD7739010505}"/>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DEFE7E4F-2EA7-6A24-6B22-9B18B69694BA}"/>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31</a:t>
            </a:fld>
            <a:endParaRPr dirty="0"/>
          </a:p>
        </p:txBody>
      </p:sp>
      <p:sp>
        <p:nvSpPr>
          <p:cNvPr id="207" name="TextBox 17">
            <a:extLst>
              <a:ext uri="{FF2B5EF4-FFF2-40B4-BE49-F238E27FC236}">
                <a16:creationId xmlns:a16="http://schemas.microsoft.com/office/drawing/2014/main" id="{A001D00F-1C62-6348-747A-DEEDDC64692A}"/>
              </a:ext>
            </a:extLst>
          </p:cNvPr>
          <p:cNvSpPr txBox="1"/>
          <p:nvPr/>
        </p:nvSpPr>
        <p:spPr>
          <a:xfrm>
            <a:off x="103695" y="357542"/>
            <a:ext cx="11190857"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Features - Table Partitioning(Contd.) </a:t>
            </a:r>
          </a:p>
        </p:txBody>
      </p:sp>
      <p:sp>
        <p:nvSpPr>
          <p:cNvPr id="208" name="Straight Connector 18">
            <a:extLst>
              <a:ext uri="{FF2B5EF4-FFF2-40B4-BE49-F238E27FC236}">
                <a16:creationId xmlns:a16="http://schemas.microsoft.com/office/drawing/2014/main" id="{7B2B5D2B-7211-429C-355F-6F83C4826EE1}"/>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126B0EAD-95F1-5A74-2B34-0B786859B8AB}"/>
              </a:ext>
            </a:extLst>
          </p:cNvPr>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sym typeface="Trebuchet MS"/>
              </a:rPr>
              <a:t>When to use RANGE partitioning</a:t>
            </a:r>
            <a:r>
              <a:rPr lang="en-US" altLang="en-US" sz="2400" dirty="0">
                <a:solidFill>
                  <a:srgbClr val="3B3838"/>
                </a:solidFill>
                <a:latin typeface="Calibri" panose="020F0502020204030204" pitchFamily="34" charset="0"/>
                <a:cs typeface="Calibri" panose="020F0502020204030204" pitchFamily="34" charset="0"/>
                <a:sym typeface="Trebuchet MS"/>
              </a:rPr>
              <a:t>: </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When there is a need for logical grouping of data.</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sym typeface="Trebuchet MS"/>
            </a:endParaRPr>
          </a:p>
        </p:txBody>
      </p:sp>
    </p:spTree>
    <p:extLst>
      <p:ext uri="{BB962C8B-B14F-4D97-AF65-F5344CB8AC3E}">
        <p14:creationId xmlns:p14="http://schemas.microsoft.com/office/powerpoint/2010/main" val="588063937"/>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472B6-7DD7-7971-E8B2-E6EBB35C4839}"/>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C133C91C-41B1-E498-8BC5-D9121B74CA55}"/>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32</a:t>
            </a:fld>
            <a:endParaRPr dirty="0"/>
          </a:p>
        </p:txBody>
      </p:sp>
      <p:sp>
        <p:nvSpPr>
          <p:cNvPr id="207" name="TextBox 17">
            <a:extLst>
              <a:ext uri="{FF2B5EF4-FFF2-40B4-BE49-F238E27FC236}">
                <a16:creationId xmlns:a16="http://schemas.microsoft.com/office/drawing/2014/main" id="{8CF77263-B30B-8C10-A2F5-649A26A334EE}"/>
              </a:ext>
            </a:extLst>
          </p:cNvPr>
          <p:cNvSpPr txBox="1"/>
          <p:nvPr/>
        </p:nvSpPr>
        <p:spPr>
          <a:xfrm>
            <a:off x="103695" y="357542"/>
            <a:ext cx="11190857"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Features - Table Partitioning(Contd.) </a:t>
            </a:r>
          </a:p>
        </p:txBody>
      </p:sp>
      <p:sp>
        <p:nvSpPr>
          <p:cNvPr id="208" name="Straight Connector 18">
            <a:extLst>
              <a:ext uri="{FF2B5EF4-FFF2-40B4-BE49-F238E27FC236}">
                <a16:creationId xmlns:a16="http://schemas.microsoft.com/office/drawing/2014/main" id="{2F21701A-7E87-E365-E087-03B666632107}"/>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5C85DFB3-5BC7-E7D1-C21A-98D49042C047}"/>
              </a:ext>
            </a:extLst>
          </p:cNvPr>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The various advantages of partitioning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sym typeface="Trebuchet MS"/>
              </a:rPr>
              <a:t>Overcoming the size limitation of column-store tables </a:t>
            </a:r>
            <a:r>
              <a:rPr lang="en-US" altLang="en-US" sz="2400" dirty="0">
                <a:solidFill>
                  <a:srgbClr val="3B3838"/>
                </a:solidFill>
                <a:latin typeface="Calibri" panose="020F0502020204030204" pitchFamily="34" charset="0"/>
                <a:cs typeface="Calibri" panose="020F0502020204030204" pitchFamily="34" charset="0"/>
                <a:sym typeface="Trebuchet MS"/>
              </a:rPr>
              <a:t>: A non-partitioned table cannot store more than 2 billion rows. It is possible to overcome this limit by distributing the rows across several partitions. Each partition must not contain more than 2 billion rows.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sym typeface="Trebuchet MS"/>
              </a:rPr>
              <a:t>Load balancing in a distributed system </a:t>
            </a:r>
            <a:r>
              <a:rPr lang="en-US" altLang="en-US" sz="2400" dirty="0">
                <a:solidFill>
                  <a:srgbClr val="3B3838"/>
                </a:solidFill>
                <a:latin typeface="Calibri" panose="020F0502020204030204" pitchFamily="34" charset="0"/>
                <a:cs typeface="Calibri" panose="020F0502020204030204" pitchFamily="34" charset="0"/>
                <a:sym typeface="Trebuchet MS"/>
              </a:rPr>
              <a:t>: Individual partitions can be distributed across multiple hosts. This means that a query on a table is not processed by a single server but by all the servers.</a:t>
            </a:r>
          </a:p>
        </p:txBody>
      </p:sp>
    </p:spTree>
    <p:extLst>
      <p:ext uri="{BB962C8B-B14F-4D97-AF65-F5344CB8AC3E}">
        <p14:creationId xmlns:p14="http://schemas.microsoft.com/office/powerpoint/2010/main" val="2784774401"/>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7EFF4-0870-9C2C-6FF5-51862E220575}"/>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4D46C063-0C48-89BD-8CCA-42E467C55574}"/>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33</a:t>
            </a:fld>
            <a:endParaRPr dirty="0"/>
          </a:p>
        </p:txBody>
      </p:sp>
      <p:sp>
        <p:nvSpPr>
          <p:cNvPr id="207" name="TextBox 17">
            <a:extLst>
              <a:ext uri="{FF2B5EF4-FFF2-40B4-BE49-F238E27FC236}">
                <a16:creationId xmlns:a16="http://schemas.microsoft.com/office/drawing/2014/main" id="{8AB9A61D-B758-BF89-649B-6A54D73C68B7}"/>
              </a:ext>
            </a:extLst>
          </p:cNvPr>
          <p:cNvSpPr txBox="1"/>
          <p:nvPr/>
        </p:nvSpPr>
        <p:spPr>
          <a:xfrm>
            <a:off x="103695" y="357542"/>
            <a:ext cx="11190857"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Features - Table Partitioning(Contd.) </a:t>
            </a:r>
          </a:p>
        </p:txBody>
      </p:sp>
      <p:sp>
        <p:nvSpPr>
          <p:cNvPr id="208" name="Straight Connector 18">
            <a:extLst>
              <a:ext uri="{FF2B5EF4-FFF2-40B4-BE49-F238E27FC236}">
                <a16:creationId xmlns:a16="http://schemas.microsoft.com/office/drawing/2014/main" id="{3B198467-1DEE-1A34-CCA9-43F14E13CBA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778F6DB-42D6-560D-3803-17260FEFDB23}"/>
              </a:ext>
            </a:extLst>
          </p:cNvPr>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sym typeface="Trebuchet MS"/>
              </a:rPr>
              <a:t>Parallelization</a:t>
            </a:r>
            <a:r>
              <a:rPr lang="en-US" altLang="en-US" sz="2400" dirty="0">
                <a:solidFill>
                  <a:srgbClr val="3B3838"/>
                </a:solidFill>
                <a:latin typeface="Calibri" panose="020F0502020204030204" pitchFamily="34" charset="0"/>
                <a:cs typeface="Calibri" panose="020F0502020204030204" pitchFamily="34" charset="0"/>
                <a:sym typeface="Trebuchet MS"/>
              </a:rPr>
              <a:t> : Partitioning allows the various operations on the table to be parallelized. </a:t>
            </a:r>
          </a:p>
        </p:txBody>
      </p:sp>
    </p:spTree>
    <p:extLst>
      <p:ext uri="{BB962C8B-B14F-4D97-AF65-F5344CB8AC3E}">
        <p14:creationId xmlns:p14="http://schemas.microsoft.com/office/powerpoint/2010/main" val="1806261424"/>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B8DB1-B20B-7FCF-7D8D-C896230B5DDC}"/>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44C14209-4930-8CCF-8135-63E425E4AE49}"/>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34</a:t>
            </a:fld>
            <a:endParaRPr dirty="0"/>
          </a:p>
        </p:txBody>
      </p:sp>
      <p:sp>
        <p:nvSpPr>
          <p:cNvPr id="207" name="TextBox 17">
            <a:extLst>
              <a:ext uri="{FF2B5EF4-FFF2-40B4-BE49-F238E27FC236}">
                <a16:creationId xmlns:a16="http://schemas.microsoft.com/office/drawing/2014/main" id="{CED396D3-B8D3-83ED-E11E-A976834318C8}"/>
              </a:ext>
            </a:extLst>
          </p:cNvPr>
          <p:cNvSpPr txBox="1"/>
          <p:nvPr/>
        </p:nvSpPr>
        <p:spPr>
          <a:xfrm>
            <a:off x="103695" y="357542"/>
            <a:ext cx="11190857"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Features - Insert only on Delta </a:t>
            </a:r>
          </a:p>
        </p:txBody>
      </p:sp>
      <p:sp>
        <p:nvSpPr>
          <p:cNvPr id="208" name="Straight Connector 18">
            <a:extLst>
              <a:ext uri="{FF2B5EF4-FFF2-40B4-BE49-F238E27FC236}">
                <a16:creationId xmlns:a16="http://schemas.microsoft.com/office/drawing/2014/main" id="{C8A71E46-4503-43E5-138B-98A8178CFBD3}"/>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51390449-9199-21DC-A3F4-5F651DB54CC4}"/>
              </a:ext>
            </a:extLst>
          </p:cNvPr>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marR="0" lvl="1" indent="-457200" algn="l" defTabSz="914400" rtl="0" eaLnBrk="1" fontAlgn="auto" latinLnBrk="0" hangingPunct="0">
              <a:lnSpc>
                <a:spcPct val="200000"/>
              </a:lnSpc>
              <a:spcBef>
                <a:spcPts val="0"/>
              </a:spcBef>
              <a:spcAft>
                <a:spcPts val="0"/>
              </a:spcAft>
              <a:buClr>
                <a:srgbClr val="73C96C"/>
              </a:buClr>
              <a:buSzPct val="100000"/>
              <a:buFontTx/>
              <a:buChar char="▪"/>
              <a:tabLst/>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This is another key feature of SAP HANA which is also called as ‘Insert only approach’.</a:t>
            </a:r>
          </a:p>
          <a:p>
            <a:pPr marL="914400" marR="0" lvl="1" indent="-457200" algn="l" defTabSz="914400" rtl="0" eaLnBrk="1" fontAlgn="auto" latinLnBrk="0" hangingPunct="0">
              <a:lnSpc>
                <a:spcPct val="200000"/>
              </a:lnSpc>
              <a:spcBef>
                <a:spcPts val="0"/>
              </a:spcBef>
              <a:spcAft>
                <a:spcPts val="0"/>
              </a:spcAft>
              <a:buClr>
                <a:srgbClr val="73C96C"/>
              </a:buClr>
              <a:buSzPct val="100000"/>
              <a:buFontTx/>
              <a:buChar char="▪"/>
              <a:tabLst/>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In SAP HANA, for column storage tables, it only inserts the data.</a:t>
            </a:r>
          </a:p>
          <a:p>
            <a:pPr marL="914400" marR="0" lvl="1" indent="-457200" algn="l" defTabSz="914400" rtl="0" eaLnBrk="1" fontAlgn="auto" latinLnBrk="0" hangingPunct="0">
              <a:lnSpc>
                <a:spcPct val="200000"/>
              </a:lnSpc>
              <a:spcBef>
                <a:spcPts val="0"/>
              </a:spcBef>
              <a:spcAft>
                <a:spcPts val="0"/>
              </a:spcAft>
              <a:buClr>
                <a:srgbClr val="73C96C"/>
              </a:buClr>
              <a:buSzPct val="100000"/>
              <a:buFontTx/>
              <a:buChar char="▪"/>
              <a:tabLst/>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It means, whether we go for update or delete data also, SAP HANA just inserts the data.</a:t>
            </a:r>
          </a:p>
          <a:p>
            <a:pPr marL="914400" marR="0" lvl="1" indent="-457200" algn="l" defTabSz="914400" rtl="0" eaLnBrk="1" fontAlgn="auto" latinLnBrk="0" hangingPunct="0">
              <a:lnSpc>
                <a:spcPct val="200000"/>
              </a:lnSpc>
              <a:spcBef>
                <a:spcPts val="0"/>
              </a:spcBef>
              <a:spcAft>
                <a:spcPts val="0"/>
              </a:spcAft>
              <a:buClr>
                <a:srgbClr val="73C96C"/>
              </a:buClr>
              <a:buSzPct val="100000"/>
              <a:buFontTx/>
              <a:buChar char="▪"/>
              <a:tabLst/>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In SAP HANA, each column storage table has two distinct parts.</a:t>
            </a:r>
          </a:p>
          <a:p>
            <a:pPr marL="914400" marR="0" lvl="1" indent="-457200" algn="l" defTabSz="914400" rtl="0" eaLnBrk="1" fontAlgn="auto" latinLnBrk="0" hangingPunct="0">
              <a:lnSpc>
                <a:spcPct val="200000"/>
              </a:lnSpc>
              <a:spcBef>
                <a:spcPts val="0"/>
              </a:spcBef>
              <a:spcAft>
                <a:spcPts val="0"/>
              </a:spcAft>
              <a:buClr>
                <a:srgbClr val="73C96C"/>
              </a:buClr>
              <a:buSzPct val="100000"/>
              <a:buFont typeface="+mj-lt"/>
              <a:buAutoNum type="arabicPeriod"/>
              <a:tabLst/>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sym typeface="Trebuchet MS"/>
              </a:rPr>
              <a:t>Main table(Main part) </a:t>
            </a:r>
            <a:r>
              <a:rPr lang="en-US" altLang="en-US" sz="2400" dirty="0">
                <a:solidFill>
                  <a:srgbClr val="3B3838"/>
                </a:solidFill>
                <a:latin typeface="Calibri" panose="020F0502020204030204" pitchFamily="34" charset="0"/>
                <a:cs typeface="Calibri" panose="020F0502020204030204" pitchFamily="34" charset="0"/>
                <a:sym typeface="Trebuchet MS"/>
              </a:rPr>
              <a:t>- The main table is read only and compressed.</a:t>
            </a:r>
          </a:p>
          <a:p>
            <a:pPr marL="914400" marR="0" lvl="1" indent="-457200" algn="l" defTabSz="914400" rtl="0" eaLnBrk="1" fontAlgn="auto" latinLnBrk="0" hangingPunct="0">
              <a:lnSpc>
                <a:spcPct val="200000"/>
              </a:lnSpc>
              <a:spcBef>
                <a:spcPts val="0"/>
              </a:spcBef>
              <a:spcAft>
                <a:spcPts val="0"/>
              </a:spcAft>
              <a:buClr>
                <a:srgbClr val="73C96C"/>
              </a:buClr>
              <a:buSzPct val="100000"/>
              <a:buFont typeface="+mj-lt"/>
              <a:buAutoNum type="arabicPeriod"/>
              <a:tabLst/>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sym typeface="Trebuchet MS"/>
              </a:rPr>
              <a:t>Delta table(Delta part) </a:t>
            </a:r>
            <a:r>
              <a:rPr lang="en-US" altLang="en-US" sz="2400" dirty="0">
                <a:solidFill>
                  <a:srgbClr val="3B3838"/>
                </a:solidFill>
                <a:latin typeface="Calibri" panose="020F0502020204030204" pitchFamily="34" charset="0"/>
                <a:cs typeface="Calibri" panose="020F0502020204030204" pitchFamily="34" charset="0"/>
                <a:sym typeface="Trebuchet MS"/>
              </a:rPr>
              <a:t>- The delta table is for reflecting the changes made by DML operations like INSERT, UPDATE, DELETE and uncompressed.</a:t>
            </a:r>
          </a:p>
        </p:txBody>
      </p:sp>
    </p:spTree>
    <p:extLst>
      <p:ext uri="{BB962C8B-B14F-4D97-AF65-F5344CB8AC3E}">
        <p14:creationId xmlns:p14="http://schemas.microsoft.com/office/powerpoint/2010/main" val="1066110498"/>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79814-34CC-35F6-4785-ABA7B923882F}"/>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C2CC0F89-E22E-69DA-3860-2F2F7E7E8A2E}"/>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35</a:t>
            </a:fld>
            <a:endParaRPr dirty="0"/>
          </a:p>
        </p:txBody>
      </p:sp>
      <p:sp>
        <p:nvSpPr>
          <p:cNvPr id="207" name="TextBox 17">
            <a:extLst>
              <a:ext uri="{FF2B5EF4-FFF2-40B4-BE49-F238E27FC236}">
                <a16:creationId xmlns:a16="http://schemas.microsoft.com/office/drawing/2014/main" id="{9B5F2777-BC98-8A6F-674A-17639BD1631E}"/>
              </a:ext>
            </a:extLst>
          </p:cNvPr>
          <p:cNvSpPr txBox="1"/>
          <p:nvPr/>
        </p:nvSpPr>
        <p:spPr>
          <a:xfrm>
            <a:off x="103695" y="357542"/>
            <a:ext cx="11190857"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Features - Insert only on Delta(Contd.) </a:t>
            </a:r>
          </a:p>
        </p:txBody>
      </p:sp>
      <p:sp>
        <p:nvSpPr>
          <p:cNvPr id="208" name="Straight Connector 18">
            <a:extLst>
              <a:ext uri="{FF2B5EF4-FFF2-40B4-BE49-F238E27FC236}">
                <a16:creationId xmlns:a16="http://schemas.microsoft.com/office/drawing/2014/main" id="{B1E81E66-74A4-FA68-90BC-C0D2AC3548ED}"/>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FC844B56-8584-1D96-B048-86F5192409C7}"/>
              </a:ext>
            </a:extLst>
          </p:cNvPr>
          <p:cNvSpPr txBox="1"/>
          <p:nvPr/>
        </p:nvSpPr>
        <p:spPr>
          <a:xfrm>
            <a:off x="14244" y="1263042"/>
            <a:ext cx="11935565" cy="58982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One important terminology used in this whole process is called as delta merge process.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sym typeface="Trebuchet MS"/>
              </a:rPr>
              <a:t>Delta merge process</a:t>
            </a:r>
            <a:r>
              <a:rPr lang="en-US" altLang="en-US" sz="2400" dirty="0">
                <a:solidFill>
                  <a:srgbClr val="3B3838"/>
                </a:solidFill>
                <a:latin typeface="Calibri" panose="020F0502020204030204" pitchFamily="34" charset="0"/>
                <a:cs typeface="Calibri" panose="020F0502020204030204" pitchFamily="34" charset="0"/>
                <a:sym typeface="Trebuchet MS"/>
              </a:rPr>
              <a:t>: It is also called as merge process. In this, system automatically merges the changes of delta table to main table.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The working of INSERT , UPDATE and DELETE statements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sym typeface="Trebuchet MS"/>
              </a:rPr>
              <a:t>INSERT</a:t>
            </a:r>
            <a:r>
              <a:rPr lang="en-US" altLang="en-US" sz="2400" dirty="0">
                <a:solidFill>
                  <a:srgbClr val="3B3838"/>
                </a:solidFill>
                <a:latin typeface="Calibri" panose="020F0502020204030204" pitchFamily="34" charset="0"/>
                <a:cs typeface="Calibri" panose="020F0502020204030204" pitchFamily="34" charset="0"/>
                <a:sym typeface="Trebuchet MS"/>
              </a:rPr>
              <a:t> : INSERT statement inserts a new record to the delta part. The delta merge process merges the changes of delta part to main part and the new record is inserted to main part.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sym typeface="Trebuchet MS"/>
            </a:endParaRPr>
          </a:p>
        </p:txBody>
      </p:sp>
    </p:spTree>
    <p:extLst>
      <p:ext uri="{BB962C8B-B14F-4D97-AF65-F5344CB8AC3E}">
        <p14:creationId xmlns:p14="http://schemas.microsoft.com/office/powerpoint/2010/main" val="1474877936"/>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1CA35-0591-ECA3-D33F-58B1BC8717B5}"/>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B8E28692-D097-10EB-196B-7F4721524A02}"/>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36</a:t>
            </a:fld>
            <a:endParaRPr dirty="0"/>
          </a:p>
        </p:txBody>
      </p:sp>
      <p:sp>
        <p:nvSpPr>
          <p:cNvPr id="207" name="TextBox 17">
            <a:extLst>
              <a:ext uri="{FF2B5EF4-FFF2-40B4-BE49-F238E27FC236}">
                <a16:creationId xmlns:a16="http://schemas.microsoft.com/office/drawing/2014/main" id="{484BF3FB-3E18-3B08-DF0B-E99C7D2D289F}"/>
              </a:ext>
            </a:extLst>
          </p:cNvPr>
          <p:cNvSpPr txBox="1"/>
          <p:nvPr/>
        </p:nvSpPr>
        <p:spPr>
          <a:xfrm>
            <a:off x="103695" y="357542"/>
            <a:ext cx="11190857"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Features - Insert only on Delta(Contd.) </a:t>
            </a:r>
          </a:p>
        </p:txBody>
      </p:sp>
      <p:sp>
        <p:nvSpPr>
          <p:cNvPr id="208" name="Straight Connector 18">
            <a:extLst>
              <a:ext uri="{FF2B5EF4-FFF2-40B4-BE49-F238E27FC236}">
                <a16:creationId xmlns:a16="http://schemas.microsoft.com/office/drawing/2014/main" id="{3C1DC5BE-F625-8FB2-6A5B-D14CBFA09627}"/>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BA13A38F-4457-FA8D-28F4-809A09DBF828}"/>
              </a:ext>
            </a:extLst>
          </p:cNvPr>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marR="0" lvl="1" indent="-457200" algn="l" defTabSz="914400" rtl="0" eaLnBrk="1" fontAlgn="auto" latinLnBrk="0" hangingPunct="0">
              <a:lnSpc>
                <a:spcPct val="200000"/>
              </a:lnSpc>
              <a:spcBef>
                <a:spcPts val="0"/>
              </a:spcBef>
              <a:spcAft>
                <a:spcPts val="0"/>
              </a:spcAft>
              <a:buClr>
                <a:srgbClr val="73C96C"/>
              </a:buClr>
              <a:buSzPct val="100000"/>
              <a:buFont typeface="Wingdings" panose="05000000000000000000" pitchFamily="2" charset="2"/>
              <a:buChar char="Ø"/>
              <a:tabLst/>
              <a:defRPr sz="2400">
                <a:solidFill>
                  <a:srgbClr val="3B3838"/>
                </a:solidFill>
                <a:latin typeface="Trebuchet MS"/>
                <a:ea typeface="Trebuchet MS"/>
                <a:cs typeface="Trebuchet MS"/>
                <a:sym typeface="Trebuchet MS"/>
              </a:defRPr>
            </a:pPr>
            <a:r>
              <a:rPr kumimoji="0" lang="en-US" altLang="en-US" sz="2400" b="1" i="0" u="none" strike="noStrike" kern="0" cap="none" spc="0" normalizeH="0" baseline="0" noProof="0" dirty="0">
                <a:ln>
                  <a:noFill/>
                </a:ln>
                <a:solidFill>
                  <a:srgbClr val="3B3838"/>
                </a:solidFill>
                <a:effectLst/>
                <a:uLnTx/>
                <a:uFillTx/>
                <a:latin typeface="Calibri" panose="020F0502020204030204" pitchFamily="34" charset="0"/>
                <a:cs typeface="Calibri" panose="020F0502020204030204" pitchFamily="34" charset="0"/>
                <a:sym typeface="Trebuchet MS"/>
              </a:rPr>
              <a:t>UPDATE</a:t>
            </a:r>
            <a:r>
              <a:rPr kumimoji="0" lang="en-US" altLang="en-US" sz="2400" b="0" i="0" u="none" strike="noStrike" kern="0" cap="none" spc="0" normalizeH="0" baseline="0" noProof="0" dirty="0">
                <a:ln>
                  <a:noFill/>
                </a:ln>
                <a:solidFill>
                  <a:srgbClr val="3B3838"/>
                </a:solidFill>
                <a:effectLst/>
                <a:uLnTx/>
                <a:uFillTx/>
                <a:latin typeface="Calibri" panose="020F0502020204030204" pitchFamily="34" charset="0"/>
                <a:cs typeface="Calibri" panose="020F0502020204030204" pitchFamily="34" charset="0"/>
                <a:sym typeface="Trebuchet MS"/>
              </a:rPr>
              <a:t> : An UPDATE statement inserts a new version of the record to the delta part and the old version of the record is marked as invalid in the delta part. The delta merge process merges the changes of delta part to main part and the new version of the record is available in main part. Old versions </a:t>
            </a:r>
            <a:r>
              <a:rPr lang="en-US" altLang="en-US" sz="2400" dirty="0">
                <a:solidFill>
                  <a:srgbClr val="3B3838"/>
                </a:solidFill>
                <a:latin typeface="Calibri" panose="020F0502020204030204" pitchFamily="34" charset="0"/>
                <a:cs typeface="Calibri" panose="020F0502020204030204" pitchFamily="34" charset="0"/>
                <a:sym typeface="Trebuchet MS"/>
              </a:rPr>
              <a:t>are </a:t>
            </a:r>
            <a:r>
              <a:rPr kumimoji="0" lang="en-US" altLang="en-US" sz="2400" b="0" i="0" u="none" strike="noStrike" kern="0" cap="none" spc="0" normalizeH="0" baseline="0" noProof="0" dirty="0">
                <a:ln>
                  <a:noFill/>
                </a:ln>
                <a:solidFill>
                  <a:srgbClr val="3B3838"/>
                </a:solidFill>
                <a:effectLst/>
                <a:uLnTx/>
                <a:uFillTx/>
                <a:latin typeface="Calibri" panose="020F0502020204030204" pitchFamily="34" charset="0"/>
                <a:cs typeface="Calibri" panose="020F0502020204030204" pitchFamily="34" charset="0"/>
                <a:sym typeface="Trebuchet MS"/>
              </a:rPr>
              <a:t>deleted when there is no open transaction active for them.</a:t>
            </a:r>
            <a:r>
              <a:rPr lang="en-US" altLang="en-US" sz="2400" dirty="0">
                <a:solidFill>
                  <a:srgbClr val="3B3838"/>
                </a:solidFill>
                <a:latin typeface="Calibri" panose="020F0502020204030204" pitchFamily="34" charset="0"/>
                <a:cs typeface="Calibri" panose="020F0502020204030204" pitchFamily="34" charset="0"/>
                <a:sym typeface="Trebuchet MS"/>
              </a:rPr>
              <a:t>Therefore, update internally performs INSERT + DELETE.</a:t>
            </a:r>
          </a:p>
        </p:txBody>
      </p:sp>
    </p:spTree>
    <p:extLst>
      <p:ext uri="{BB962C8B-B14F-4D97-AF65-F5344CB8AC3E}">
        <p14:creationId xmlns:p14="http://schemas.microsoft.com/office/powerpoint/2010/main" val="2238445337"/>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F1ADD-A4FD-26B3-7F90-AD7F8B36BA77}"/>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BA87105A-6BFE-F5D2-DC14-0B7836E6C158}"/>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37</a:t>
            </a:fld>
            <a:endParaRPr dirty="0"/>
          </a:p>
        </p:txBody>
      </p:sp>
      <p:sp>
        <p:nvSpPr>
          <p:cNvPr id="207" name="TextBox 17">
            <a:extLst>
              <a:ext uri="{FF2B5EF4-FFF2-40B4-BE49-F238E27FC236}">
                <a16:creationId xmlns:a16="http://schemas.microsoft.com/office/drawing/2014/main" id="{8148F8EB-7497-4D84-952B-53760D10B812}"/>
              </a:ext>
            </a:extLst>
          </p:cNvPr>
          <p:cNvSpPr txBox="1"/>
          <p:nvPr/>
        </p:nvSpPr>
        <p:spPr>
          <a:xfrm>
            <a:off x="103695" y="357542"/>
            <a:ext cx="11190857"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Features - Insert only on Delta(Contd.) </a:t>
            </a:r>
          </a:p>
        </p:txBody>
      </p:sp>
      <p:sp>
        <p:nvSpPr>
          <p:cNvPr id="208" name="Straight Connector 18">
            <a:extLst>
              <a:ext uri="{FF2B5EF4-FFF2-40B4-BE49-F238E27FC236}">
                <a16:creationId xmlns:a16="http://schemas.microsoft.com/office/drawing/2014/main" id="{4FBE1A3C-D36B-1789-8D15-7119C3862F6B}"/>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8827FCF5-D5B7-2252-84EF-A4EEF203E4AD}"/>
              </a:ext>
            </a:extLst>
          </p:cNvPr>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sym typeface="Trebuchet MS"/>
              </a:rPr>
              <a:t>DELETE</a:t>
            </a:r>
            <a:r>
              <a:rPr lang="en-US" altLang="en-US" sz="2400" dirty="0">
                <a:solidFill>
                  <a:srgbClr val="3B3838"/>
                </a:solidFill>
                <a:latin typeface="Calibri" panose="020F0502020204030204" pitchFamily="34" charset="0"/>
                <a:cs typeface="Calibri" panose="020F0502020204030204" pitchFamily="34" charset="0"/>
                <a:sym typeface="Trebuchet MS"/>
              </a:rPr>
              <a:t> : A DELETE statement select the records and mark it as invalid in the delta part. The delta merge process merges the changes of delta part to main part. Records are deleted when there is no open transaction active for them. </a:t>
            </a:r>
          </a:p>
        </p:txBody>
      </p:sp>
    </p:spTree>
    <p:extLst>
      <p:ext uri="{BB962C8B-B14F-4D97-AF65-F5344CB8AC3E}">
        <p14:creationId xmlns:p14="http://schemas.microsoft.com/office/powerpoint/2010/main" val="3931953755"/>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4B70B-94B2-75F6-3C6D-73EDF4FCC2BC}"/>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5BB95DDF-E17F-F26D-E9E7-41C752BBA479}"/>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38</a:t>
            </a:fld>
            <a:endParaRPr dirty="0"/>
          </a:p>
        </p:txBody>
      </p:sp>
      <p:sp>
        <p:nvSpPr>
          <p:cNvPr id="207" name="TextBox 17">
            <a:extLst>
              <a:ext uri="{FF2B5EF4-FFF2-40B4-BE49-F238E27FC236}">
                <a16:creationId xmlns:a16="http://schemas.microsoft.com/office/drawing/2014/main" id="{D358AF9B-68A2-9BA1-4F38-2B4277122DB5}"/>
              </a:ext>
            </a:extLst>
          </p:cNvPr>
          <p:cNvSpPr txBox="1"/>
          <p:nvPr/>
        </p:nvSpPr>
        <p:spPr>
          <a:xfrm>
            <a:off x="103695" y="357542"/>
            <a:ext cx="11190857"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Features - Insert only on Delta(Contd.) </a:t>
            </a:r>
          </a:p>
        </p:txBody>
      </p:sp>
      <p:sp>
        <p:nvSpPr>
          <p:cNvPr id="208" name="Straight Connector 18">
            <a:extLst>
              <a:ext uri="{FF2B5EF4-FFF2-40B4-BE49-F238E27FC236}">
                <a16:creationId xmlns:a16="http://schemas.microsoft.com/office/drawing/2014/main" id="{8B5EA8FB-0924-AFD3-9ADA-8A4FC33E8ECE}"/>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92301779-0E39-2B64-3CA6-C0EF3EA54BF2}"/>
              </a:ext>
            </a:extLst>
          </p:cNvPr>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marR="0" lvl="1" indent="-457200" algn="l" defTabSz="914400" rtl="0" eaLnBrk="1" fontAlgn="auto" latinLnBrk="0" hangingPunct="0">
              <a:lnSpc>
                <a:spcPct val="200000"/>
              </a:lnSpc>
              <a:spcBef>
                <a:spcPts val="0"/>
              </a:spcBef>
              <a:spcAft>
                <a:spcPts val="0"/>
              </a:spcAft>
              <a:buClr>
                <a:srgbClr val="73C96C"/>
              </a:buClr>
              <a:buSzPct val="100000"/>
              <a:buFontTx/>
              <a:buChar char="▪"/>
              <a:tabLst/>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The reason or benefit behind insert only approach is as follows:</a:t>
            </a:r>
          </a:p>
          <a:p>
            <a:pPr marL="914400" marR="0" lvl="1" indent="-457200" algn="l" defTabSz="914400" rtl="0" eaLnBrk="1" fontAlgn="auto" latinLnBrk="0" hangingPunct="0">
              <a:lnSpc>
                <a:spcPct val="200000"/>
              </a:lnSpc>
              <a:spcBef>
                <a:spcPts val="0"/>
              </a:spcBef>
              <a:spcAft>
                <a:spcPts val="0"/>
              </a:spcAft>
              <a:buClr>
                <a:srgbClr val="73C96C"/>
              </a:buClr>
              <a:buSzPct val="100000"/>
              <a:buFont typeface="Wingdings" panose="05000000000000000000" pitchFamily="2" charset="2"/>
              <a:buChar char="Ø"/>
              <a:tabLst/>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 As the main table is compressed and changes to compressed data is more expensive. Example - For any DML operation, firstly we need to uncompress the data, make the changes and compress again. For this reason, data is only appended to the uncompressed delta table where the DML operations are much cheaper. Then the delta merge process merges </a:t>
            </a:r>
            <a:r>
              <a:rPr lang="en-US" altLang="en-US" sz="2400">
                <a:solidFill>
                  <a:srgbClr val="3B3838"/>
                </a:solidFill>
                <a:latin typeface="Calibri" panose="020F0502020204030204" pitchFamily="34" charset="0"/>
                <a:cs typeface="Calibri" panose="020F0502020204030204" pitchFamily="34" charset="0"/>
                <a:sym typeface="Trebuchet MS"/>
              </a:rPr>
              <a:t>the changes from </a:t>
            </a:r>
            <a:r>
              <a:rPr lang="en-US" altLang="en-US" sz="2400" dirty="0">
                <a:solidFill>
                  <a:srgbClr val="3B3838"/>
                </a:solidFill>
                <a:latin typeface="Calibri" panose="020F0502020204030204" pitchFamily="34" charset="0"/>
                <a:cs typeface="Calibri" panose="020F0502020204030204" pitchFamily="34" charset="0"/>
                <a:sym typeface="Trebuchet MS"/>
              </a:rPr>
              <a:t>delta part to main part.</a:t>
            </a:r>
          </a:p>
        </p:txBody>
      </p:sp>
    </p:spTree>
    <p:extLst>
      <p:ext uri="{BB962C8B-B14F-4D97-AF65-F5344CB8AC3E}">
        <p14:creationId xmlns:p14="http://schemas.microsoft.com/office/powerpoint/2010/main" val="3365920552"/>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BED15-2D54-E36F-F5C0-E9CEE0598068}"/>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3D16C402-09FA-1DDA-6587-526FE55275F8}"/>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39</a:t>
            </a:fld>
            <a:endParaRPr dirty="0"/>
          </a:p>
        </p:txBody>
      </p:sp>
      <p:sp>
        <p:nvSpPr>
          <p:cNvPr id="207" name="TextBox 17">
            <a:extLst>
              <a:ext uri="{FF2B5EF4-FFF2-40B4-BE49-F238E27FC236}">
                <a16:creationId xmlns:a16="http://schemas.microsoft.com/office/drawing/2014/main" id="{79D821DC-5787-E10B-3E2D-09B6D133906F}"/>
              </a:ext>
            </a:extLst>
          </p:cNvPr>
          <p:cNvSpPr txBox="1"/>
          <p:nvPr/>
        </p:nvSpPr>
        <p:spPr>
          <a:xfrm>
            <a:off x="103695" y="357542"/>
            <a:ext cx="11190857"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Features - Simplified Data Models</a:t>
            </a:r>
          </a:p>
        </p:txBody>
      </p:sp>
      <p:sp>
        <p:nvSpPr>
          <p:cNvPr id="208" name="Straight Connector 18">
            <a:extLst>
              <a:ext uri="{FF2B5EF4-FFF2-40B4-BE49-F238E27FC236}">
                <a16:creationId xmlns:a16="http://schemas.microsoft.com/office/drawing/2014/main" id="{FADECC6C-0B8B-5F6A-CAF0-88FC1115D52D}"/>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55A2E2F9-1D18-ED77-B030-497BB8907AEF}"/>
              </a:ext>
            </a:extLst>
          </p:cNvPr>
          <p:cNvSpPr txBox="1"/>
          <p:nvPr/>
        </p:nvSpPr>
        <p:spPr>
          <a:xfrm>
            <a:off x="14244" y="1263042"/>
            <a:ext cx="11935565" cy="44208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marR="0" lvl="1" indent="-457200" algn="l" defTabSz="914400" rtl="0" eaLnBrk="1" fontAlgn="auto" latinLnBrk="0" hangingPunct="0">
              <a:lnSpc>
                <a:spcPct val="200000"/>
              </a:lnSpc>
              <a:spcBef>
                <a:spcPts val="0"/>
              </a:spcBef>
              <a:spcAft>
                <a:spcPts val="0"/>
              </a:spcAft>
              <a:buClr>
                <a:srgbClr val="73C96C"/>
              </a:buClr>
              <a:buSzPct val="100000"/>
              <a:buFontTx/>
              <a:buChar char="▪"/>
              <a:tabLst/>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Simplified data models is another key feature of SAP HANA which covers the redesigning of the structure of the data.</a:t>
            </a:r>
          </a:p>
          <a:p>
            <a:pPr marL="914400" marR="0" lvl="1" indent="-457200" algn="l" defTabSz="914400" rtl="0" eaLnBrk="1" fontAlgn="auto" latinLnBrk="0" hangingPunct="0">
              <a:lnSpc>
                <a:spcPct val="200000"/>
              </a:lnSpc>
              <a:spcBef>
                <a:spcPts val="0"/>
              </a:spcBef>
              <a:spcAft>
                <a:spcPts val="0"/>
              </a:spcAft>
              <a:buClr>
                <a:srgbClr val="73C96C"/>
              </a:buClr>
              <a:buSzPct val="100000"/>
              <a:buFontTx/>
              <a:buChar char="▪"/>
              <a:tabLst/>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The simplified data model is achieved in SAP HANA by focusing on below aspects or points: </a:t>
            </a:r>
          </a:p>
          <a:p>
            <a:pPr marL="914400" marR="0" lvl="1" indent="-457200" algn="l" defTabSz="914400" rtl="0" eaLnBrk="1" fontAlgn="auto" latinLnBrk="0" hangingPunct="0">
              <a:lnSpc>
                <a:spcPct val="200000"/>
              </a:lnSpc>
              <a:spcBef>
                <a:spcPts val="0"/>
              </a:spcBef>
              <a:spcAft>
                <a:spcPts val="0"/>
              </a:spcAft>
              <a:buClr>
                <a:srgbClr val="73C96C"/>
              </a:buClr>
              <a:buSzPct val="100000"/>
              <a:buFont typeface="Wingdings" panose="05000000000000000000" pitchFamily="2" charset="2"/>
              <a:buChar char="Ø"/>
              <a:tabLst/>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Merging of tables.</a:t>
            </a:r>
          </a:p>
          <a:p>
            <a:pPr marL="914400" marR="0" lvl="1" indent="-457200" algn="l" defTabSz="914400" rtl="0" eaLnBrk="1" fontAlgn="auto" latinLnBrk="0" hangingPunct="0">
              <a:lnSpc>
                <a:spcPct val="200000"/>
              </a:lnSpc>
              <a:spcBef>
                <a:spcPts val="0"/>
              </a:spcBef>
              <a:spcAft>
                <a:spcPts val="0"/>
              </a:spcAft>
              <a:buClr>
                <a:srgbClr val="73C96C"/>
              </a:buClr>
              <a:buSzPct val="100000"/>
              <a:buFont typeface="Wingdings" panose="05000000000000000000" pitchFamily="2" charset="2"/>
              <a:buChar char="Ø"/>
              <a:tabLst/>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Avoidance of aggregate tables.</a:t>
            </a:r>
          </a:p>
        </p:txBody>
      </p:sp>
    </p:spTree>
    <p:extLst>
      <p:ext uri="{BB962C8B-B14F-4D97-AF65-F5344CB8AC3E}">
        <p14:creationId xmlns:p14="http://schemas.microsoft.com/office/powerpoint/2010/main" val="3212556881"/>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5FC8B-9EEA-5F8F-4657-A992E14E5417}"/>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988D03FC-5087-F848-D8B2-A7103AF826D1}"/>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40</a:t>
            </a:fld>
            <a:endParaRPr dirty="0"/>
          </a:p>
        </p:txBody>
      </p:sp>
      <p:sp>
        <p:nvSpPr>
          <p:cNvPr id="207" name="TextBox 17">
            <a:extLst>
              <a:ext uri="{FF2B5EF4-FFF2-40B4-BE49-F238E27FC236}">
                <a16:creationId xmlns:a16="http://schemas.microsoft.com/office/drawing/2014/main" id="{C230AC96-FA3C-1952-814A-03D15ECEF661}"/>
              </a:ext>
            </a:extLst>
          </p:cNvPr>
          <p:cNvSpPr txBox="1"/>
          <p:nvPr/>
        </p:nvSpPr>
        <p:spPr>
          <a:xfrm>
            <a:off x="103695" y="357542"/>
            <a:ext cx="11190857"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Features - Simplified Data Models(Contd.)</a:t>
            </a:r>
          </a:p>
        </p:txBody>
      </p:sp>
      <p:sp>
        <p:nvSpPr>
          <p:cNvPr id="208" name="Straight Connector 18">
            <a:extLst>
              <a:ext uri="{FF2B5EF4-FFF2-40B4-BE49-F238E27FC236}">
                <a16:creationId xmlns:a16="http://schemas.microsoft.com/office/drawing/2014/main" id="{A2C30968-DA6A-EECD-FFF7-A5ACD83A630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39FB7B5E-91A2-7C20-55A4-DA879F479050}"/>
              </a:ext>
            </a:extLst>
          </p:cNvPr>
          <p:cNvSpPr txBox="1"/>
          <p:nvPr/>
        </p:nvSpPr>
        <p:spPr>
          <a:xfrm>
            <a:off x="14244" y="1263042"/>
            <a:ext cx="11935565" cy="44208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sym typeface="Trebuchet MS"/>
              </a:rPr>
              <a:t>Merging of tables - </a:t>
            </a:r>
            <a:r>
              <a:rPr lang="en-US" altLang="en-US" sz="2400" dirty="0">
                <a:solidFill>
                  <a:srgbClr val="3B3838"/>
                </a:solidFill>
                <a:latin typeface="Calibri" panose="020F0502020204030204" pitchFamily="34" charset="0"/>
                <a:cs typeface="Calibri" panose="020F0502020204030204" pitchFamily="34" charset="0"/>
                <a:sym typeface="Trebuchet MS"/>
              </a:rPr>
              <a:t>In this aspect, SAP added the fields of one table into another table or created a new table and added the fields of multiple tables to that new table.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The various examples for the merging of tables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sym typeface="Trebuchet MS"/>
              </a:rPr>
              <a:t>VBUK and VBUP Tables </a:t>
            </a:r>
            <a:r>
              <a:rPr lang="en-US" altLang="en-US" sz="2400" dirty="0">
                <a:solidFill>
                  <a:srgbClr val="3B3838"/>
                </a:solidFill>
                <a:latin typeface="Calibri" panose="020F0502020204030204" pitchFamily="34" charset="0"/>
                <a:cs typeface="Calibri" panose="020F0502020204030204" pitchFamily="34" charset="0"/>
                <a:sym typeface="Trebuchet MS"/>
              </a:rPr>
              <a:t>:  The sales order status tables VBUK and VBUP are no longer in use in SAP S/4 HANA and the status fields has been added to VBAK and VBAP tables.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sym typeface="Trebuchet MS"/>
            </a:endParaRPr>
          </a:p>
        </p:txBody>
      </p:sp>
    </p:spTree>
    <p:extLst>
      <p:ext uri="{BB962C8B-B14F-4D97-AF65-F5344CB8AC3E}">
        <p14:creationId xmlns:p14="http://schemas.microsoft.com/office/powerpoint/2010/main" val="879197716"/>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17704-1DE7-9B47-E9CD-C44AE486047F}"/>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3C28CC12-17C7-0596-C048-1FD78290D8C8}"/>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41</a:t>
            </a:fld>
            <a:endParaRPr dirty="0"/>
          </a:p>
        </p:txBody>
      </p:sp>
      <p:sp>
        <p:nvSpPr>
          <p:cNvPr id="207" name="TextBox 17">
            <a:extLst>
              <a:ext uri="{FF2B5EF4-FFF2-40B4-BE49-F238E27FC236}">
                <a16:creationId xmlns:a16="http://schemas.microsoft.com/office/drawing/2014/main" id="{B49C455D-B944-A58D-871B-EB74F591F3DB}"/>
              </a:ext>
            </a:extLst>
          </p:cNvPr>
          <p:cNvSpPr txBox="1"/>
          <p:nvPr/>
        </p:nvSpPr>
        <p:spPr>
          <a:xfrm>
            <a:off x="103695" y="357542"/>
            <a:ext cx="11190857"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Features - Simplified Data Models(Contd.)</a:t>
            </a:r>
          </a:p>
        </p:txBody>
      </p:sp>
      <p:sp>
        <p:nvSpPr>
          <p:cNvPr id="208" name="Straight Connector 18">
            <a:extLst>
              <a:ext uri="{FF2B5EF4-FFF2-40B4-BE49-F238E27FC236}">
                <a16:creationId xmlns:a16="http://schemas.microsoft.com/office/drawing/2014/main" id="{534051F3-B49C-8E38-7647-0FDA80583F78}"/>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9CF38CBC-3AB3-E0D6-A76C-A9D9FD16E10D}"/>
              </a:ext>
            </a:extLst>
          </p:cNvPr>
          <p:cNvSpPr txBox="1"/>
          <p:nvPr/>
        </p:nvSpPr>
        <p:spPr>
          <a:xfrm>
            <a:off x="14244" y="1263042"/>
            <a:ext cx="11935565" cy="44208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800100" lvl="1" indent="-3429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sym typeface="Trebuchet MS"/>
              </a:rPr>
              <a:t>Introduction to MATDOC Table</a:t>
            </a:r>
            <a:r>
              <a:rPr lang="en-US" altLang="en-US" sz="2400" dirty="0">
                <a:solidFill>
                  <a:srgbClr val="3B3838"/>
                </a:solidFill>
                <a:latin typeface="Calibri" panose="020F0502020204030204" pitchFamily="34" charset="0"/>
                <a:cs typeface="Calibri" panose="020F0502020204030204" pitchFamily="34" charset="0"/>
                <a:sym typeface="Trebuchet MS"/>
              </a:rPr>
              <a:t> :  The MATDOC(Material Documents) table in SAP S/4HANA is the central inventory table for all material movements. It replaces the older MKPF and MSEG tables. It helps in real time inventory reporting.</a:t>
            </a:r>
          </a:p>
          <a:p>
            <a:pPr marL="800100" lvl="1" indent="-3429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sym typeface="Trebuchet MS"/>
              </a:rPr>
              <a:t>Introduction to ACDOCA Table </a:t>
            </a:r>
            <a:r>
              <a:rPr lang="en-US" altLang="en-US" sz="2400" dirty="0">
                <a:solidFill>
                  <a:srgbClr val="3B3838"/>
                </a:solidFill>
                <a:latin typeface="Calibri" panose="020F0502020204030204" pitchFamily="34" charset="0"/>
                <a:cs typeface="Calibri" panose="020F0502020204030204" pitchFamily="34" charset="0"/>
                <a:sym typeface="Trebuchet MS"/>
              </a:rPr>
              <a:t>: The ACDOCA(Universal Journal Entry Line Items) table in SAP S/4HANA consolidates all financial(FI), controlling(CO), asset data in to a single table. It replaces various tables like BSEG, COEP, ANEP etc.  It helps in real time reporting.</a:t>
            </a:r>
          </a:p>
        </p:txBody>
      </p:sp>
    </p:spTree>
    <p:extLst>
      <p:ext uri="{BB962C8B-B14F-4D97-AF65-F5344CB8AC3E}">
        <p14:creationId xmlns:p14="http://schemas.microsoft.com/office/powerpoint/2010/main" val="4109281811"/>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72A3B-991C-056F-2F63-10D9FFA11AEA}"/>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1BCA42E5-119F-C8C0-EF77-85E8A60C7468}"/>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42</a:t>
            </a:fld>
            <a:endParaRPr dirty="0"/>
          </a:p>
        </p:txBody>
      </p:sp>
      <p:sp>
        <p:nvSpPr>
          <p:cNvPr id="207" name="TextBox 17">
            <a:extLst>
              <a:ext uri="{FF2B5EF4-FFF2-40B4-BE49-F238E27FC236}">
                <a16:creationId xmlns:a16="http://schemas.microsoft.com/office/drawing/2014/main" id="{FE02EB9E-C49F-C070-ABB7-9298B35245FB}"/>
              </a:ext>
            </a:extLst>
          </p:cNvPr>
          <p:cNvSpPr txBox="1"/>
          <p:nvPr/>
        </p:nvSpPr>
        <p:spPr>
          <a:xfrm>
            <a:off x="103695" y="357542"/>
            <a:ext cx="11190857"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Features - Simplified Data Models(Contd.)</a:t>
            </a:r>
          </a:p>
        </p:txBody>
      </p:sp>
      <p:sp>
        <p:nvSpPr>
          <p:cNvPr id="208" name="Straight Connector 18">
            <a:extLst>
              <a:ext uri="{FF2B5EF4-FFF2-40B4-BE49-F238E27FC236}">
                <a16:creationId xmlns:a16="http://schemas.microsoft.com/office/drawing/2014/main" id="{CAD7E51F-0640-A050-6331-4CFEBBA6F9AB}"/>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365E941E-F4F6-58D9-47AA-3AE2A45CF70D}"/>
              </a:ext>
            </a:extLst>
          </p:cNvPr>
          <p:cNvSpPr txBox="1"/>
          <p:nvPr/>
        </p:nvSpPr>
        <p:spPr>
          <a:xfrm>
            <a:off x="14244" y="1263042"/>
            <a:ext cx="11935565" cy="589821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sym typeface="Trebuchet MS"/>
              </a:rPr>
              <a:t>Avoidance of aggregate tables  - </a:t>
            </a:r>
            <a:r>
              <a:rPr lang="en-US" altLang="en-US" sz="2400" dirty="0">
                <a:solidFill>
                  <a:srgbClr val="3B3838"/>
                </a:solidFill>
                <a:latin typeface="Calibri" panose="020F0502020204030204" pitchFamily="34" charset="0"/>
                <a:cs typeface="Calibri" panose="020F0502020204030204" pitchFamily="34" charset="0"/>
                <a:sym typeface="Trebuchet MS"/>
              </a:rPr>
              <a:t>In this aspect, SAP strictly prohibited the creation and use of aggregate tables. </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sym typeface="Trebuchet MS"/>
              </a:rPr>
              <a:t>Traditional approach </a:t>
            </a:r>
            <a:r>
              <a:rPr lang="en-US" altLang="en-US" sz="2400" dirty="0">
                <a:solidFill>
                  <a:srgbClr val="3B3838"/>
                </a:solidFill>
                <a:latin typeface="Calibri" panose="020F0502020204030204" pitchFamily="34" charset="0"/>
                <a:cs typeface="Calibri" panose="020F0502020204030204" pitchFamily="34" charset="0"/>
                <a:sym typeface="Trebuchet MS"/>
              </a:rPr>
              <a:t>: This approach </a:t>
            </a:r>
            <a:r>
              <a:rPr lang="en-US" sz="2400" dirty="0">
                <a:solidFill>
                  <a:srgbClr val="3B3838"/>
                </a:solidFill>
                <a:latin typeface="Calibri" panose="020F0502020204030204" pitchFamily="34" charset="0"/>
                <a:cs typeface="Calibri" panose="020F0502020204030204" pitchFamily="34" charset="0"/>
                <a:sym typeface="Trebuchet MS"/>
              </a:rPr>
              <a:t>says that the data should be stored at whatever level is required by the application to ensure maximum performance.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sym typeface="Trebuchet MS"/>
              </a:rPr>
              <a:t>HANA approach </a:t>
            </a:r>
            <a:r>
              <a:rPr lang="en-US" altLang="en-US" sz="2400" dirty="0">
                <a:solidFill>
                  <a:srgbClr val="3B3838"/>
                </a:solidFill>
                <a:latin typeface="Calibri" panose="020F0502020204030204" pitchFamily="34" charset="0"/>
                <a:cs typeface="Calibri" panose="020F0502020204030204" pitchFamily="34" charset="0"/>
                <a:sym typeface="Trebuchet MS"/>
              </a:rPr>
              <a:t>:  This approach says that data should be stored at the highest possible level. All aggregates required by any application can now be computed from the source data on-the-fly.</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sym typeface="Trebuchet MS"/>
            </a:endParaRPr>
          </a:p>
        </p:txBody>
      </p:sp>
      <p:sp>
        <p:nvSpPr>
          <p:cNvPr id="3" name="TextBox 2">
            <a:extLst>
              <a:ext uri="{FF2B5EF4-FFF2-40B4-BE49-F238E27FC236}">
                <a16:creationId xmlns:a16="http://schemas.microsoft.com/office/drawing/2014/main" id="{7471363B-4100-9EE7-EA8F-85D6D828FD3D}"/>
              </a:ext>
            </a:extLst>
          </p:cNvPr>
          <p:cNvSpPr txBox="1"/>
          <p:nvPr/>
        </p:nvSpPr>
        <p:spPr>
          <a:xfrm>
            <a:off x="3047215" y="3259020"/>
            <a:ext cx="6094428"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endParaRPr lang="en-IN" dirty="0"/>
          </a:p>
          <a:p>
            <a:endParaRPr lang="en-IN" dirty="0"/>
          </a:p>
        </p:txBody>
      </p:sp>
    </p:spTree>
    <p:extLst>
      <p:ext uri="{BB962C8B-B14F-4D97-AF65-F5344CB8AC3E}">
        <p14:creationId xmlns:p14="http://schemas.microsoft.com/office/powerpoint/2010/main" val="1442049254"/>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031F6-28E3-210D-CE46-0794CD0E8F85}"/>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434B5C73-8C40-106F-6C35-570EA9D9BC74}"/>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43</a:t>
            </a:fld>
            <a:endParaRPr dirty="0"/>
          </a:p>
        </p:txBody>
      </p:sp>
      <p:sp>
        <p:nvSpPr>
          <p:cNvPr id="207" name="TextBox 17">
            <a:extLst>
              <a:ext uri="{FF2B5EF4-FFF2-40B4-BE49-F238E27FC236}">
                <a16:creationId xmlns:a16="http://schemas.microsoft.com/office/drawing/2014/main" id="{CF921723-A26F-5C0A-8345-8AFD92A13F1F}"/>
              </a:ext>
            </a:extLst>
          </p:cNvPr>
          <p:cNvSpPr txBox="1"/>
          <p:nvPr/>
        </p:nvSpPr>
        <p:spPr>
          <a:xfrm>
            <a:off x="103695" y="357542"/>
            <a:ext cx="11190857"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Features - Simplified Data Models(Contd.)</a:t>
            </a:r>
          </a:p>
        </p:txBody>
      </p:sp>
      <p:sp>
        <p:nvSpPr>
          <p:cNvPr id="208" name="Straight Connector 18">
            <a:extLst>
              <a:ext uri="{FF2B5EF4-FFF2-40B4-BE49-F238E27FC236}">
                <a16:creationId xmlns:a16="http://schemas.microsoft.com/office/drawing/2014/main" id="{01DCF2F1-ECE8-FB09-22C1-4B461FDAFEE1}"/>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C0B84370-BB1F-A1F9-4FF1-B11A74F3AC2D}"/>
              </a:ext>
            </a:extLst>
          </p:cNvPr>
          <p:cNvSpPr txBox="1"/>
          <p:nvPr/>
        </p:nvSpPr>
        <p:spPr>
          <a:xfrm>
            <a:off x="14244" y="1263042"/>
            <a:ext cx="11935565" cy="44208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sym typeface="Trebuchet MS"/>
              </a:rPr>
              <a:t>Question : </a:t>
            </a:r>
            <a:r>
              <a:rPr lang="en-US" altLang="en-US" sz="2400" dirty="0">
                <a:solidFill>
                  <a:srgbClr val="3B3838"/>
                </a:solidFill>
                <a:latin typeface="Calibri" panose="020F0502020204030204" pitchFamily="34" charset="0"/>
                <a:cs typeface="Calibri" panose="020F0502020204030204" pitchFamily="34" charset="0"/>
                <a:sym typeface="Trebuchet MS"/>
              </a:rPr>
              <a:t>Why SAP has not deleted the tables in S/4 HANA system which are not in use?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sym typeface="Trebuchet MS"/>
              </a:rPr>
              <a:t>Answer :  </a:t>
            </a:r>
            <a:r>
              <a:rPr lang="en-US" altLang="en-US" sz="2400" dirty="0">
                <a:solidFill>
                  <a:srgbClr val="3B3838"/>
                </a:solidFill>
                <a:latin typeface="Calibri" panose="020F0502020204030204" pitchFamily="34" charset="0"/>
                <a:cs typeface="Calibri" panose="020F0502020204030204" pitchFamily="34" charset="0"/>
                <a:sym typeface="Trebuchet MS"/>
              </a:rPr>
              <a:t>It will create problems during migration from ECC to S/4 HANA. As the existing programs of ECC system will throw compilation error/runtime error in S/4 HANA system due to non-existent of tables. Therefore, SAP has not deleted those tables or provided the DDL SQL view with the same name.</a:t>
            </a:r>
          </a:p>
        </p:txBody>
      </p:sp>
      <p:sp>
        <p:nvSpPr>
          <p:cNvPr id="3" name="TextBox 2">
            <a:extLst>
              <a:ext uri="{FF2B5EF4-FFF2-40B4-BE49-F238E27FC236}">
                <a16:creationId xmlns:a16="http://schemas.microsoft.com/office/drawing/2014/main" id="{8C19F950-7F88-BD33-54BA-1C71147D8C65}"/>
              </a:ext>
            </a:extLst>
          </p:cNvPr>
          <p:cNvSpPr txBox="1"/>
          <p:nvPr/>
        </p:nvSpPr>
        <p:spPr>
          <a:xfrm>
            <a:off x="3047215" y="3259020"/>
            <a:ext cx="6094428"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endParaRPr lang="en-IN" dirty="0"/>
          </a:p>
          <a:p>
            <a:endParaRPr lang="en-IN" dirty="0"/>
          </a:p>
        </p:txBody>
      </p:sp>
    </p:spTree>
    <p:extLst>
      <p:ext uri="{BB962C8B-B14F-4D97-AF65-F5344CB8AC3E}">
        <p14:creationId xmlns:p14="http://schemas.microsoft.com/office/powerpoint/2010/main" val="965522880"/>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7246A-1C54-BC3C-6198-80BD22015352}"/>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87EBE328-661E-1595-C9E1-C904C0631B12}"/>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44</a:t>
            </a:fld>
            <a:endParaRPr dirty="0"/>
          </a:p>
        </p:txBody>
      </p:sp>
      <p:sp>
        <p:nvSpPr>
          <p:cNvPr id="207" name="TextBox 17">
            <a:extLst>
              <a:ext uri="{FF2B5EF4-FFF2-40B4-BE49-F238E27FC236}">
                <a16:creationId xmlns:a16="http://schemas.microsoft.com/office/drawing/2014/main" id="{F9164533-7EB6-22D8-95A5-0253C968F920}"/>
              </a:ext>
            </a:extLst>
          </p:cNvPr>
          <p:cNvSpPr txBox="1"/>
          <p:nvPr/>
        </p:nvSpPr>
        <p:spPr>
          <a:xfrm>
            <a:off x="103695" y="357542"/>
            <a:ext cx="11190857"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HANA DB Architecture</a:t>
            </a:r>
          </a:p>
        </p:txBody>
      </p:sp>
      <p:sp>
        <p:nvSpPr>
          <p:cNvPr id="208" name="Straight Connector 18">
            <a:extLst>
              <a:ext uri="{FF2B5EF4-FFF2-40B4-BE49-F238E27FC236}">
                <a16:creationId xmlns:a16="http://schemas.microsoft.com/office/drawing/2014/main" id="{17A062AD-A626-0E68-D95D-963337F69529}"/>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D8C56F4B-FBC1-EA3F-4A10-5626E8B7DAED}"/>
              </a:ext>
            </a:extLst>
          </p:cNvPr>
          <p:cNvSpPr txBox="1"/>
          <p:nvPr/>
        </p:nvSpPr>
        <p:spPr>
          <a:xfrm>
            <a:off x="0" y="1219677"/>
            <a:ext cx="11935565" cy="5159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marR="0" lvl="1" indent="-457200" algn="l" defTabSz="914400" rtl="0" eaLnBrk="1" fontAlgn="auto" latinLnBrk="0" hangingPunct="0">
              <a:lnSpc>
                <a:spcPct val="200000"/>
              </a:lnSpc>
              <a:spcBef>
                <a:spcPts val="0"/>
              </a:spcBef>
              <a:spcAft>
                <a:spcPts val="0"/>
              </a:spcAft>
              <a:buClr>
                <a:srgbClr val="73C96C"/>
              </a:buClr>
              <a:buSzPct val="100000"/>
              <a:buFontTx/>
              <a:buChar char="▪"/>
              <a:tabLst/>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SAP HANA database consists of multiple components.</a:t>
            </a:r>
          </a:p>
          <a:p>
            <a:pPr marL="914400" marR="0" lvl="1" indent="-457200" algn="l" defTabSz="914400" rtl="0" eaLnBrk="1" fontAlgn="auto" latinLnBrk="0" hangingPunct="0">
              <a:lnSpc>
                <a:spcPct val="200000"/>
              </a:lnSpc>
              <a:spcBef>
                <a:spcPts val="0"/>
              </a:spcBef>
              <a:spcAft>
                <a:spcPts val="0"/>
              </a:spcAft>
              <a:buClr>
                <a:srgbClr val="73C96C"/>
              </a:buClr>
              <a:buSzPct val="100000"/>
              <a:buFontTx/>
              <a:buChar char="▪"/>
              <a:tabLst/>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The most important component of SAP HANA database is index server.</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The various components of SAP HANA database are as follows: </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sym typeface="Trebuchet MS"/>
              </a:rPr>
              <a:t>Index server </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sym typeface="Trebuchet MS"/>
              </a:rPr>
              <a:t>Preprocessor server</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sym typeface="Trebuchet MS"/>
              </a:rPr>
              <a:t>Name server</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sym typeface="Trebuchet MS"/>
              </a:rPr>
              <a:t>Statistics server</a:t>
            </a:r>
          </a:p>
        </p:txBody>
      </p:sp>
      <p:sp>
        <p:nvSpPr>
          <p:cNvPr id="6" name="Rectangle 5">
            <a:extLst>
              <a:ext uri="{FF2B5EF4-FFF2-40B4-BE49-F238E27FC236}">
                <a16:creationId xmlns:a16="http://schemas.microsoft.com/office/drawing/2014/main" id="{FA969E06-7029-5DA1-A057-B8563A471BEB}"/>
              </a:ext>
            </a:extLst>
          </p:cNvPr>
          <p:cNvSpPr/>
          <p:nvPr/>
        </p:nvSpPr>
        <p:spPr>
          <a:xfrm>
            <a:off x="6193409" y="3429000"/>
            <a:ext cx="3082566" cy="2712163"/>
          </a:xfrm>
          <a:prstGeom prst="rect">
            <a:avLst/>
          </a:prstGeom>
          <a:solidFill>
            <a:srgbClr val="FFFFFF"/>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IN" sz="1800" b="0" i="0" u="none" strike="noStrike" cap="none" spc="0" normalizeH="0" baseline="0" dirty="0">
              <a:ln>
                <a:noFill/>
              </a:ln>
              <a:solidFill>
                <a:srgbClr val="000000"/>
              </a:solidFill>
              <a:effectLst/>
              <a:uFillTx/>
              <a:latin typeface="+mj-lt"/>
              <a:ea typeface="+mj-ea"/>
              <a:cs typeface="+mj-cs"/>
              <a:sym typeface="Calibri"/>
            </a:endParaRPr>
          </a:p>
        </p:txBody>
      </p:sp>
      <p:sp>
        <p:nvSpPr>
          <p:cNvPr id="7" name="Rectangle 6">
            <a:extLst>
              <a:ext uri="{FF2B5EF4-FFF2-40B4-BE49-F238E27FC236}">
                <a16:creationId xmlns:a16="http://schemas.microsoft.com/office/drawing/2014/main" id="{44F0C1B4-1B80-F8AB-1B1B-4FF1BAD4BBBE}"/>
              </a:ext>
            </a:extLst>
          </p:cNvPr>
          <p:cNvSpPr/>
          <p:nvPr/>
        </p:nvSpPr>
        <p:spPr>
          <a:xfrm>
            <a:off x="6551629" y="3765165"/>
            <a:ext cx="2366127" cy="369330"/>
          </a:xfrm>
          <a:prstGeom prst="rect">
            <a:avLst/>
          </a:prstGeom>
          <a:solidFill>
            <a:srgbClr val="FFFFFF"/>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IN" sz="1800" b="0" i="0" u="none" strike="noStrike" cap="none" spc="0" normalizeH="0" baseline="0" dirty="0">
                <a:ln>
                  <a:noFill/>
                </a:ln>
                <a:solidFill>
                  <a:srgbClr val="000000"/>
                </a:solidFill>
                <a:effectLst/>
                <a:uFillTx/>
                <a:latin typeface="+mj-lt"/>
                <a:ea typeface="+mj-ea"/>
                <a:cs typeface="+mj-cs"/>
                <a:sym typeface="Calibri"/>
              </a:rPr>
              <a:t>       Index server</a:t>
            </a:r>
          </a:p>
        </p:txBody>
      </p:sp>
      <p:sp>
        <p:nvSpPr>
          <p:cNvPr id="8" name="Rectangle 7">
            <a:extLst>
              <a:ext uri="{FF2B5EF4-FFF2-40B4-BE49-F238E27FC236}">
                <a16:creationId xmlns:a16="http://schemas.microsoft.com/office/drawing/2014/main" id="{6C4893FB-9952-E0FA-10A6-4A1528D7C2C2}"/>
              </a:ext>
            </a:extLst>
          </p:cNvPr>
          <p:cNvSpPr/>
          <p:nvPr/>
        </p:nvSpPr>
        <p:spPr>
          <a:xfrm>
            <a:off x="6551629" y="4286628"/>
            <a:ext cx="2366127" cy="369330"/>
          </a:xfrm>
          <a:prstGeom prst="rect">
            <a:avLst/>
          </a:prstGeom>
          <a:solidFill>
            <a:srgbClr val="FFFFFF"/>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IN" sz="1800" b="0" i="0" u="none" strike="noStrike" cap="none" spc="0" normalizeH="0" baseline="0" dirty="0">
                <a:ln>
                  <a:noFill/>
                </a:ln>
                <a:solidFill>
                  <a:srgbClr val="000000"/>
                </a:solidFill>
                <a:effectLst/>
                <a:uFillTx/>
                <a:latin typeface="+mj-lt"/>
                <a:ea typeface="+mj-ea"/>
                <a:cs typeface="+mj-cs"/>
                <a:sym typeface="Calibri"/>
              </a:rPr>
              <a:t>       Preprocessor server</a:t>
            </a:r>
          </a:p>
        </p:txBody>
      </p:sp>
      <p:sp>
        <p:nvSpPr>
          <p:cNvPr id="9" name="Rectangle 8">
            <a:extLst>
              <a:ext uri="{FF2B5EF4-FFF2-40B4-BE49-F238E27FC236}">
                <a16:creationId xmlns:a16="http://schemas.microsoft.com/office/drawing/2014/main" id="{09E26073-1005-EEAB-9764-9578615FAFB5}"/>
              </a:ext>
            </a:extLst>
          </p:cNvPr>
          <p:cNvSpPr/>
          <p:nvPr/>
        </p:nvSpPr>
        <p:spPr>
          <a:xfrm>
            <a:off x="6551629" y="4873761"/>
            <a:ext cx="2366127" cy="369330"/>
          </a:xfrm>
          <a:prstGeom prst="rect">
            <a:avLst/>
          </a:prstGeom>
          <a:solidFill>
            <a:srgbClr val="FFFFFF"/>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IN" sz="1800" b="0" i="0" u="none" strike="noStrike" cap="none" spc="0" normalizeH="0" baseline="0" dirty="0">
                <a:ln>
                  <a:noFill/>
                </a:ln>
                <a:solidFill>
                  <a:srgbClr val="000000"/>
                </a:solidFill>
                <a:effectLst/>
                <a:uFillTx/>
                <a:latin typeface="+mj-lt"/>
                <a:ea typeface="+mj-ea"/>
                <a:cs typeface="+mj-cs"/>
                <a:sym typeface="Calibri"/>
              </a:rPr>
              <a:t>       Name server</a:t>
            </a:r>
          </a:p>
        </p:txBody>
      </p:sp>
      <p:sp>
        <p:nvSpPr>
          <p:cNvPr id="10" name="Rectangle 9">
            <a:extLst>
              <a:ext uri="{FF2B5EF4-FFF2-40B4-BE49-F238E27FC236}">
                <a16:creationId xmlns:a16="http://schemas.microsoft.com/office/drawing/2014/main" id="{B048EAEE-90EB-74FF-809B-B2ED46DB5FEC}"/>
              </a:ext>
            </a:extLst>
          </p:cNvPr>
          <p:cNvSpPr/>
          <p:nvPr/>
        </p:nvSpPr>
        <p:spPr>
          <a:xfrm>
            <a:off x="6551629" y="5479143"/>
            <a:ext cx="2366127" cy="369330"/>
          </a:xfrm>
          <a:prstGeom prst="rect">
            <a:avLst/>
          </a:prstGeom>
          <a:solidFill>
            <a:srgbClr val="FFFFFF"/>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IN" sz="1800" b="0" i="0" u="none" strike="noStrike" cap="none" spc="0" normalizeH="0" baseline="0" dirty="0">
                <a:ln>
                  <a:noFill/>
                </a:ln>
                <a:solidFill>
                  <a:srgbClr val="000000"/>
                </a:solidFill>
                <a:effectLst/>
                <a:uFillTx/>
                <a:latin typeface="+mj-lt"/>
                <a:ea typeface="+mj-ea"/>
                <a:cs typeface="+mj-cs"/>
                <a:sym typeface="Calibri"/>
              </a:rPr>
              <a:t>       Statistics server</a:t>
            </a:r>
          </a:p>
        </p:txBody>
      </p:sp>
      <p:sp>
        <p:nvSpPr>
          <p:cNvPr id="11" name="TextBox 10">
            <a:extLst>
              <a:ext uri="{FF2B5EF4-FFF2-40B4-BE49-F238E27FC236}">
                <a16:creationId xmlns:a16="http://schemas.microsoft.com/office/drawing/2014/main" id="{874C8C19-BC44-11EE-989F-C63B2E987403}"/>
              </a:ext>
            </a:extLst>
          </p:cNvPr>
          <p:cNvSpPr txBox="1"/>
          <p:nvPr/>
        </p:nvSpPr>
        <p:spPr>
          <a:xfrm>
            <a:off x="6193409" y="6300753"/>
            <a:ext cx="3256961"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IN" sz="1800" b="0" i="0" u="none" strike="noStrike" cap="none" spc="0" normalizeH="0" baseline="0" dirty="0">
                <a:ln>
                  <a:noFill/>
                </a:ln>
                <a:solidFill>
                  <a:srgbClr val="000000"/>
                </a:solidFill>
                <a:effectLst/>
                <a:uFillTx/>
                <a:latin typeface="+mj-lt"/>
                <a:ea typeface="+mj-ea"/>
                <a:cs typeface="+mj-cs"/>
                <a:sym typeface="Calibri"/>
              </a:rPr>
              <a:t>SAP HANA database components</a:t>
            </a:r>
          </a:p>
        </p:txBody>
      </p:sp>
    </p:spTree>
    <p:extLst>
      <p:ext uri="{BB962C8B-B14F-4D97-AF65-F5344CB8AC3E}">
        <p14:creationId xmlns:p14="http://schemas.microsoft.com/office/powerpoint/2010/main" val="2420030261"/>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54C8D-5479-36AC-1C21-DB6FDBF54980}"/>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CD22646F-ACE3-4CC1-1EEC-BDA5D5BAAE87}"/>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45</a:t>
            </a:fld>
            <a:endParaRPr dirty="0"/>
          </a:p>
        </p:txBody>
      </p:sp>
      <p:sp>
        <p:nvSpPr>
          <p:cNvPr id="207" name="TextBox 17">
            <a:extLst>
              <a:ext uri="{FF2B5EF4-FFF2-40B4-BE49-F238E27FC236}">
                <a16:creationId xmlns:a16="http://schemas.microsoft.com/office/drawing/2014/main" id="{A2A9E289-B169-F4A4-27E1-527DB212E733}"/>
              </a:ext>
            </a:extLst>
          </p:cNvPr>
          <p:cNvSpPr txBox="1"/>
          <p:nvPr/>
        </p:nvSpPr>
        <p:spPr>
          <a:xfrm>
            <a:off x="103695" y="357542"/>
            <a:ext cx="11190857"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HANA DB Architecture - Index Server </a:t>
            </a:r>
          </a:p>
        </p:txBody>
      </p:sp>
      <p:sp>
        <p:nvSpPr>
          <p:cNvPr id="208" name="Straight Connector 18">
            <a:extLst>
              <a:ext uri="{FF2B5EF4-FFF2-40B4-BE49-F238E27FC236}">
                <a16:creationId xmlns:a16="http://schemas.microsoft.com/office/drawing/2014/main" id="{EE0EBBB6-4C10-6E00-0227-CEC945C8C958}"/>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762DF47A-46C5-474A-F934-89C732009961}"/>
              </a:ext>
            </a:extLst>
          </p:cNvPr>
          <p:cNvSpPr txBox="1"/>
          <p:nvPr/>
        </p:nvSpPr>
        <p:spPr>
          <a:xfrm>
            <a:off x="0" y="1219677"/>
            <a:ext cx="11935565" cy="5159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marR="0" lvl="1" indent="-457200" algn="l" defTabSz="914400" rtl="0" eaLnBrk="1" fontAlgn="auto" latinLnBrk="0" hangingPunct="0">
              <a:lnSpc>
                <a:spcPct val="200000"/>
              </a:lnSpc>
              <a:spcBef>
                <a:spcPts val="0"/>
              </a:spcBef>
              <a:spcAft>
                <a:spcPts val="0"/>
              </a:spcAft>
              <a:buClr>
                <a:srgbClr val="73C96C"/>
              </a:buClr>
              <a:buSzPct val="100000"/>
              <a:buFontTx/>
              <a:buChar char="▪"/>
              <a:tabLst/>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Index Server is heart of SAP HANA database system.</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All HANA processing takes place in index server.</a:t>
            </a:r>
          </a:p>
          <a:p>
            <a:pPr marL="914400" marR="0" lvl="1" indent="-457200" algn="l" defTabSz="914400" rtl="0" eaLnBrk="1" fontAlgn="auto" latinLnBrk="0" hangingPunct="0">
              <a:lnSpc>
                <a:spcPct val="200000"/>
              </a:lnSpc>
              <a:spcBef>
                <a:spcPts val="0"/>
              </a:spcBef>
              <a:spcAft>
                <a:spcPts val="0"/>
              </a:spcAft>
              <a:buClr>
                <a:srgbClr val="73C96C"/>
              </a:buClr>
              <a:buSzPct val="100000"/>
              <a:buFontTx/>
              <a:buChar char="▪"/>
              <a:tabLst/>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It contains the actual data and the engines for processing the data.</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When SQL or MDX(Multi-Dimensional Expressions) is fired for SAP HANA system, an index server takes care of all these requests and processes them.</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MDX is a query language for OLAP systems like SQL is for relational database.</a:t>
            </a:r>
          </a:p>
          <a:p>
            <a:pPr marL="914400" marR="0" lvl="1" indent="-457200" algn="l" defTabSz="914400" rtl="0" eaLnBrk="1" fontAlgn="auto" latinLnBrk="0" hangingPunct="0">
              <a:lnSpc>
                <a:spcPct val="200000"/>
              </a:lnSpc>
              <a:spcBef>
                <a:spcPts val="0"/>
              </a:spcBef>
              <a:spcAft>
                <a:spcPts val="0"/>
              </a:spcAft>
              <a:buClr>
                <a:srgbClr val="73C96C"/>
              </a:buClr>
              <a:buSzPct val="100000"/>
              <a:buFont typeface="Wingdings" panose="05000000000000000000" pitchFamily="2" charset="2"/>
              <a:buChar char="Ø"/>
              <a:tabLst/>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sym typeface="Trebuchet MS"/>
            </a:endParaRPr>
          </a:p>
        </p:txBody>
      </p:sp>
    </p:spTree>
    <p:extLst>
      <p:ext uri="{BB962C8B-B14F-4D97-AF65-F5344CB8AC3E}">
        <p14:creationId xmlns:p14="http://schemas.microsoft.com/office/powerpoint/2010/main" val="1291654383"/>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7A9E4-AB19-3269-9DFC-72E9B6844604}"/>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40CFC855-276F-8146-E20D-492856EF626C}"/>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46</a:t>
            </a:fld>
            <a:endParaRPr dirty="0"/>
          </a:p>
        </p:txBody>
      </p:sp>
      <p:sp>
        <p:nvSpPr>
          <p:cNvPr id="207" name="TextBox 17">
            <a:extLst>
              <a:ext uri="{FF2B5EF4-FFF2-40B4-BE49-F238E27FC236}">
                <a16:creationId xmlns:a16="http://schemas.microsoft.com/office/drawing/2014/main" id="{3C79423B-ED55-968B-0381-1D4BC1F00693}"/>
              </a:ext>
            </a:extLst>
          </p:cNvPr>
          <p:cNvSpPr txBox="1"/>
          <p:nvPr/>
        </p:nvSpPr>
        <p:spPr>
          <a:xfrm>
            <a:off x="103695" y="357542"/>
            <a:ext cx="11190857"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HANA DB Architecture - Preprocessor Server </a:t>
            </a:r>
          </a:p>
        </p:txBody>
      </p:sp>
      <p:sp>
        <p:nvSpPr>
          <p:cNvPr id="208" name="Straight Connector 18">
            <a:extLst>
              <a:ext uri="{FF2B5EF4-FFF2-40B4-BE49-F238E27FC236}">
                <a16:creationId xmlns:a16="http://schemas.microsoft.com/office/drawing/2014/main" id="{60C3BE1F-5B88-15FE-765A-DABA7A3ADCD7}"/>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4BE1990-0718-56E8-0D0F-62B5DA937752}"/>
              </a:ext>
            </a:extLst>
          </p:cNvPr>
          <p:cNvSpPr txBox="1"/>
          <p:nvPr/>
        </p:nvSpPr>
        <p:spPr>
          <a:xfrm>
            <a:off x="0" y="1219677"/>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marR="0" lvl="1" indent="-457200" algn="l" defTabSz="914400" rtl="0" eaLnBrk="1" fontAlgn="auto" latinLnBrk="0" hangingPunct="0">
              <a:lnSpc>
                <a:spcPct val="200000"/>
              </a:lnSpc>
              <a:spcBef>
                <a:spcPts val="0"/>
              </a:spcBef>
              <a:spcAft>
                <a:spcPts val="0"/>
              </a:spcAft>
              <a:buClr>
                <a:srgbClr val="73C96C"/>
              </a:buClr>
              <a:buSzPct val="100000"/>
              <a:buFontTx/>
              <a:buChar char="▪"/>
              <a:tabLst/>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Preprocessor server in SAP HANA system is used for text data analysis.</a:t>
            </a:r>
          </a:p>
          <a:p>
            <a:pPr marL="914400" marR="0" lvl="1" indent="-457200" algn="l" defTabSz="914400" rtl="0" eaLnBrk="1" fontAlgn="auto" latinLnBrk="0" hangingPunct="0">
              <a:lnSpc>
                <a:spcPct val="200000"/>
              </a:lnSpc>
              <a:spcBef>
                <a:spcPts val="0"/>
              </a:spcBef>
              <a:spcAft>
                <a:spcPts val="0"/>
              </a:spcAft>
              <a:buClr>
                <a:srgbClr val="73C96C"/>
              </a:buClr>
              <a:buSzPct val="100000"/>
              <a:buFontTx/>
              <a:buChar char="▪"/>
              <a:tabLst/>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The index server uses the preprocessor server for analyzing text data and extracting the information from text data.</a:t>
            </a:r>
          </a:p>
        </p:txBody>
      </p:sp>
    </p:spTree>
    <p:extLst>
      <p:ext uri="{BB962C8B-B14F-4D97-AF65-F5344CB8AC3E}">
        <p14:creationId xmlns:p14="http://schemas.microsoft.com/office/powerpoint/2010/main" val="1281030408"/>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391BD-B8C0-8135-CBA9-AA03DF832C18}"/>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71420794-3367-1A43-A5D9-4E492DE60D02}"/>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47</a:t>
            </a:fld>
            <a:endParaRPr dirty="0"/>
          </a:p>
        </p:txBody>
      </p:sp>
      <p:sp>
        <p:nvSpPr>
          <p:cNvPr id="207" name="TextBox 17">
            <a:extLst>
              <a:ext uri="{FF2B5EF4-FFF2-40B4-BE49-F238E27FC236}">
                <a16:creationId xmlns:a16="http://schemas.microsoft.com/office/drawing/2014/main" id="{37E49EEC-65DD-F28B-18D3-F5A8358E0645}"/>
              </a:ext>
            </a:extLst>
          </p:cNvPr>
          <p:cNvSpPr txBox="1"/>
          <p:nvPr/>
        </p:nvSpPr>
        <p:spPr>
          <a:xfrm>
            <a:off x="103695" y="357542"/>
            <a:ext cx="11190857"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HANA DB Architecture - Name Server </a:t>
            </a:r>
          </a:p>
        </p:txBody>
      </p:sp>
      <p:sp>
        <p:nvSpPr>
          <p:cNvPr id="208" name="Straight Connector 18">
            <a:extLst>
              <a:ext uri="{FF2B5EF4-FFF2-40B4-BE49-F238E27FC236}">
                <a16:creationId xmlns:a16="http://schemas.microsoft.com/office/drawing/2014/main" id="{7FA4A9A3-7977-54E8-ABF0-8B88E5B0E329}"/>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5A689EBC-EE98-82D8-D03B-5FDBA0E2738A}"/>
              </a:ext>
            </a:extLst>
          </p:cNvPr>
          <p:cNvSpPr txBox="1"/>
          <p:nvPr/>
        </p:nvSpPr>
        <p:spPr>
          <a:xfrm>
            <a:off x="0" y="1219677"/>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marR="0" lvl="1" indent="-457200" algn="l" defTabSz="914400" rtl="0" eaLnBrk="1" fontAlgn="auto" latinLnBrk="0" hangingPunct="0">
              <a:lnSpc>
                <a:spcPct val="200000"/>
              </a:lnSpc>
              <a:spcBef>
                <a:spcPts val="0"/>
              </a:spcBef>
              <a:spcAft>
                <a:spcPts val="0"/>
              </a:spcAft>
              <a:buClr>
                <a:srgbClr val="73C96C"/>
              </a:buClr>
              <a:buSzPct val="100000"/>
              <a:buFontTx/>
              <a:buChar char="▪"/>
              <a:tabLst/>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Name server contains the information about the topology or landscape of the SAP HANA system.</a:t>
            </a:r>
          </a:p>
          <a:p>
            <a:pPr marL="914400" marR="0" lvl="1" indent="-457200" algn="l" defTabSz="914400" rtl="0" eaLnBrk="1" fontAlgn="auto" latinLnBrk="0" hangingPunct="0">
              <a:lnSpc>
                <a:spcPct val="200000"/>
              </a:lnSpc>
              <a:spcBef>
                <a:spcPts val="0"/>
              </a:spcBef>
              <a:spcAft>
                <a:spcPts val="0"/>
              </a:spcAft>
              <a:buClr>
                <a:srgbClr val="73C96C"/>
              </a:buClr>
              <a:buSzPct val="100000"/>
              <a:buFontTx/>
              <a:buChar char="▪"/>
              <a:tabLst/>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In a distributed environment, name server manages the topology of all the distributed servers.</a:t>
            </a:r>
          </a:p>
          <a:p>
            <a:pPr marL="914400" marR="0" lvl="1" indent="-457200" algn="l" defTabSz="914400" rtl="0" eaLnBrk="1" fontAlgn="auto" latinLnBrk="0" hangingPunct="0">
              <a:lnSpc>
                <a:spcPct val="200000"/>
              </a:lnSpc>
              <a:spcBef>
                <a:spcPts val="0"/>
              </a:spcBef>
              <a:spcAft>
                <a:spcPts val="0"/>
              </a:spcAft>
              <a:buClr>
                <a:srgbClr val="73C96C"/>
              </a:buClr>
              <a:buSzPct val="100000"/>
              <a:buFontTx/>
              <a:buChar char="▪"/>
              <a:tabLst/>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In a distributed environment, the name server knows where the components are running and which data is located on which server.</a:t>
            </a:r>
          </a:p>
        </p:txBody>
      </p:sp>
    </p:spTree>
    <p:extLst>
      <p:ext uri="{BB962C8B-B14F-4D97-AF65-F5344CB8AC3E}">
        <p14:creationId xmlns:p14="http://schemas.microsoft.com/office/powerpoint/2010/main" val="504544770"/>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2782E-E6F4-D56A-70C0-CF39EA0E38BB}"/>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5C9A5624-BBE7-A1F5-A20F-B9DEDC202A46}"/>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48</a:t>
            </a:fld>
            <a:endParaRPr dirty="0"/>
          </a:p>
        </p:txBody>
      </p:sp>
      <p:sp>
        <p:nvSpPr>
          <p:cNvPr id="207" name="TextBox 17">
            <a:extLst>
              <a:ext uri="{FF2B5EF4-FFF2-40B4-BE49-F238E27FC236}">
                <a16:creationId xmlns:a16="http://schemas.microsoft.com/office/drawing/2014/main" id="{7A6F20E8-92CB-9822-2D63-1A87F499E19E}"/>
              </a:ext>
            </a:extLst>
          </p:cNvPr>
          <p:cNvSpPr txBox="1"/>
          <p:nvPr/>
        </p:nvSpPr>
        <p:spPr>
          <a:xfrm>
            <a:off x="103695" y="357542"/>
            <a:ext cx="11190857"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HANA DB Architecture - Statistics Server </a:t>
            </a:r>
          </a:p>
        </p:txBody>
      </p:sp>
      <p:sp>
        <p:nvSpPr>
          <p:cNvPr id="208" name="Straight Connector 18">
            <a:extLst>
              <a:ext uri="{FF2B5EF4-FFF2-40B4-BE49-F238E27FC236}">
                <a16:creationId xmlns:a16="http://schemas.microsoft.com/office/drawing/2014/main" id="{444F45AD-74B6-CC9D-C78D-1C355297C077}"/>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7CCBC1E7-E428-1970-D7F0-DAA11AE74142}"/>
              </a:ext>
            </a:extLst>
          </p:cNvPr>
          <p:cNvSpPr txBox="1"/>
          <p:nvPr/>
        </p:nvSpPr>
        <p:spPr>
          <a:xfrm>
            <a:off x="0" y="1219677"/>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marR="0" lvl="1" indent="-457200" algn="l" defTabSz="914400" rtl="0" eaLnBrk="1" fontAlgn="auto" latinLnBrk="0" hangingPunct="0">
              <a:lnSpc>
                <a:spcPct val="200000"/>
              </a:lnSpc>
              <a:spcBef>
                <a:spcPts val="0"/>
              </a:spcBef>
              <a:spcAft>
                <a:spcPts val="0"/>
              </a:spcAft>
              <a:buClr>
                <a:srgbClr val="73C96C"/>
              </a:buClr>
              <a:buSzPct val="100000"/>
              <a:buFontTx/>
              <a:buChar char="▪"/>
              <a:tabLst/>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Statistical server is responsible for collecting the data related to system resources, their allocation and consumption of the resources.</a:t>
            </a:r>
          </a:p>
          <a:p>
            <a:pPr marL="914400" marR="0" lvl="1" indent="-457200" algn="l" defTabSz="914400" rtl="0" eaLnBrk="1" fontAlgn="auto" latinLnBrk="0" hangingPunct="0">
              <a:lnSpc>
                <a:spcPct val="200000"/>
              </a:lnSpc>
              <a:spcBef>
                <a:spcPts val="0"/>
              </a:spcBef>
              <a:spcAft>
                <a:spcPts val="0"/>
              </a:spcAft>
              <a:buClr>
                <a:srgbClr val="73C96C"/>
              </a:buClr>
              <a:buSzPct val="100000"/>
              <a:buFontTx/>
              <a:buChar char="▪"/>
              <a:tabLst/>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It also tells us about the overall performance of HANA system.</a:t>
            </a:r>
          </a:p>
          <a:p>
            <a:pPr marL="914400" marR="0" lvl="1" indent="-457200" algn="l" defTabSz="914400" rtl="0" eaLnBrk="1" fontAlgn="auto" latinLnBrk="0" hangingPunct="0">
              <a:lnSpc>
                <a:spcPct val="200000"/>
              </a:lnSpc>
              <a:spcBef>
                <a:spcPts val="0"/>
              </a:spcBef>
              <a:spcAft>
                <a:spcPts val="0"/>
              </a:spcAft>
              <a:buClr>
                <a:srgbClr val="73C96C"/>
              </a:buClr>
              <a:buSzPct val="100000"/>
              <a:buFontTx/>
              <a:buChar char="▪"/>
              <a:tabLst/>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It also provides historical data related to system performance for analysis purpose. This analysis helps to check and fix performance related issues in HANA system.</a:t>
            </a:r>
          </a:p>
        </p:txBody>
      </p:sp>
    </p:spTree>
    <p:extLst>
      <p:ext uri="{BB962C8B-B14F-4D97-AF65-F5344CB8AC3E}">
        <p14:creationId xmlns:p14="http://schemas.microsoft.com/office/powerpoint/2010/main" val="3110355493"/>
      </p:ext>
    </p:ext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1293C-EA7E-38D0-9FE7-51B529400515}"/>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B9689975-5C97-73CF-01D2-7D7C583CA096}"/>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49</a:t>
            </a:fld>
            <a:endParaRPr dirty="0"/>
          </a:p>
        </p:txBody>
      </p:sp>
      <p:sp>
        <p:nvSpPr>
          <p:cNvPr id="207" name="TextBox 17">
            <a:extLst>
              <a:ext uri="{FF2B5EF4-FFF2-40B4-BE49-F238E27FC236}">
                <a16:creationId xmlns:a16="http://schemas.microsoft.com/office/drawing/2014/main" id="{03E79F4F-DC44-2A9E-BA8C-7652D8D46019}"/>
              </a:ext>
            </a:extLst>
          </p:cNvPr>
          <p:cNvSpPr txBox="1"/>
          <p:nvPr/>
        </p:nvSpPr>
        <p:spPr>
          <a:xfrm>
            <a:off x="103695" y="357542"/>
            <a:ext cx="11190857"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HANA DB Architecture - Components of Index Server </a:t>
            </a:r>
          </a:p>
        </p:txBody>
      </p:sp>
      <p:sp>
        <p:nvSpPr>
          <p:cNvPr id="208" name="Straight Connector 18">
            <a:extLst>
              <a:ext uri="{FF2B5EF4-FFF2-40B4-BE49-F238E27FC236}">
                <a16:creationId xmlns:a16="http://schemas.microsoft.com/office/drawing/2014/main" id="{E18A04DD-C8DC-C2F8-43F8-612D129E9523}"/>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D07257CA-6E8E-900A-7137-6B934A0EDC6B}"/>
              </a:ext>
            </a:extLst>
          </p:cNvPr>
          <p:cNvSpPr txBox="1"/>
          <p:nvPr/>
        </p:nvSpPr>
        <p:spPr>
          <a:xfrm>
            <a:off x="0" y="1219677"/>
            <a:ext cx="11935565" cy="5159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marR="0" lvl="1" indent="-457200" algn="l" defTabSz="914400" rtl="0" eaLnBrk="1" fontAlgn="auto" latinLnBrk="0" hangingPunct="0">
              <a:lnSpc>
                <a:spcPct val="200000"/>
              </a:lnSpc>
              <a:spcBef>
                <a:spcPts val="0"/>
              </a:spcBef>
              <a:spcAft>
                <a:spcPts val="0"/>
              </a:spcAft>
              <a:buClr>
                <a:srgbClr val="73C96C"/>
              </a:buClr>
              <a:buSzPct val="100000"/>
              <a:buFontTx/>
              <a:buChar char="▪"/>
              <a:tabLst/>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The various components of index server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Session and transaction manager</a:t>
            </a:r>
          </a:p>
          <a:p>
            <a:pPr marL="914400" marR="0" lvl="1" indent="-457200" algn="l" defTabSz="914400" rtl="0" eaLnBrk="1" fontAlgn="auto" latinLnBrk="0" hangingPunct="0">
              <a:lnSpc>
                <a:spcPct val="200000"/>
              </a:lnSpc>
              <a:spcBef>
                <a:spcPts val="0"/>
              </a:spcBef>
              <a:spcAft>
                <a:spcPts val="0"/>
              </a:spcAft>
              <a:buClr>
                <a:srgbClr val="73C96C"/>
              </a:buClr>
              <a:buSzPct val="100000"/>
              <a:buFont typeface="Wingdings" panose="05000000000000000000" pitchFamily="2" charset="2"/>
              <a:buChar char="Ø"/>
              <a:tabLst/>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SQL/MDX processor</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Data engines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Repository</a:t>
            </a:r>
          </a:p>
          <a:p>
            <a:pPr marL="914400" marR="0" lvl="1" indent="-457200" algn="l" defTabSz="914400" rtl="0" eaLnBrk="1" fontAlgn="auto" latinLnBrk="0" hangingPunct="0">
              <a:lnSpc>
                <a:spcPct val="200000"/>
              </a:lnSpc>
              <a:spcBef>
                <a:spcPts val="0"/>
              </a:spcBef>
              <a:spcAft>
                <a:spcPts val="0"/>
              </a:spcAft>
              <a:buClr>
                <a:srgbClr val="73C96C"/>
              </a:buClr>
              <a:buSzPct val="100000"/>
              <a:buFont typeface="Wingdings" panose="05000000000000000000" pitchFamily="2" charset="2"/>
              <a:buChar char="Ø"/>
              <a:tabLst/>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Persistence layer</a:t>
            </a:r>
          </a:p>
          <a:p>
            <a:pPr marL="914400" marR="0" lvl="1" indent="-457200" algn="l" defTabSz="914400" rtl="0" eaLnBrk="1" fontAlgn="auto" latinLnBrk="0" hangingPunct="0">
              <a:lnSpc>
                <a:spcPct val="200000"/>
              </a:lnSpc>
              <a:spcBef>
                <a:spcPts val="0"/>
              </a:spcBef>
              <a:spcAft>
                <a:spcPts val="0"/>
              </a:spcAft>
              <a:buClr>
                <a:srgbClr val="73C96C"/>
              </a:buClr>
              <a:buSzPct val="100000"/>
              <a:buFont typeface="Wingdings" panose="05000000000000000000" pitchFamily="2" charset="2"/>
              <a:buChar char="Ø"/>
              <a:tabLst/>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sym typeface="Trebuchet MS"/>
            </a:endParaRPr>
          </a:p>
        </p:txBody>
      </p:sp>
      <p:pic>
        <p:nvPicPr>
          <p:cNvPr id="3" name="Picture 2">
            <a:extLst>
              <a:ext uri="{FF2B5EF4-FFF2-40B4-BE49-F238E27FC236}">
                <a16:creationId xmlns:a16="http://schemas.microsoft.com/office/drawing/2014/main" id="{6092100C-137E-8B96-8B8E-9E0ACBFB93A5}"/>
              </a:ext>
            </a:extLst>
          </p:cNvPr>
          <p:cNvPicPr>
            <a:picLocks noChangeAspect="1"/>
          </p:cNvPicPr>
          <p:nvPr/>
        </p:nvPicPr>
        <p:blipFill>
          <a:blip r:embed="rId3"/>
          <a:stretch>
            <a:fillRect/>
          </a:stretch>
        </p:blipFill>
        <p:spPr>
          <a:xfrm>
            <a:off x="5967782" y="1990724"/>
            <a:ext cx="4991533" cy="3215919"/>
          </a:xfrm>
          <a:prstGeom prst="rect">
            <a:avLst/>
          </a:prstGeom>
        </p:spPr>
      </p:pic>
      <p:sp>
        <p:nvSpPr>
          <p:cNvPr id="4" name="TextBox 3">
            <a:extLst>
              <a:ext uri="{FF2B5EF4-FFF2-40B4-BE49-F238E27FC236}">
                <a16:creationId xmlns:a16="http://schemas.microsoft.com/office/drawing/2014/main" id="{F13B0367-EB99-0F13-8184-065BA355FE5F}"/>
              </a:ext>
            </a:extLst>
          </p:cNvPr>
          <p:cNvSpPr txBox="1"/>
          <p:nvPr/>
        </p:nvSpPr>
        <p:spPr>
          <a:xfrm>
            <a:off x="7030673" y="5423607"/>
            <a:ext cx="3037153"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IN" sz="1800" b="0" i="0" u="none" strike="noStrike" cap="none" spc="0" normalizeH="0" baseline="0" dirty="0">
                <a:ln>
                  <a:noFill/>
                </a:ln>
                <a:solidFill>
                  <a:srgbClr val="000000"/>
                </a:solidFill>
                <a:effectLst/>
                <a:uFillTx/>
                <a:latin typeface="+mj-lt"/>
                <a:ea typeface="+mj-ea"/>
                <a:cs typeface="+mj-cs"/>
                <a:sym typeface="Calibri"/>
              </a:rPr>
              <a:t>   Components of Index Server</a:t>
            </a:r>
          </a:p>
        </p:txBody>
      </p:sp>
    </p:spTree>
    <p:extLst>
      <p:ext uri="{BB962C8B-B14F-4D97-AF65-F5344CB8AC3E}">
        <p14:creationId xmlns:p14="http://schemas.microsoft.com/office/powerpoint/2010/main" val="3780358061"/>
      </p:ext>
    </p:ext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56F56-AAB9-D05B-50B6-676F9FCF3A03}"/>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88B7FCB9-F83F-85EF-9812-5EB741045096}"/>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50</a:t>
            </a:fld>
            <a:endParaRPr dirty="0"/>
          </a:p>
        </p:txBody>
      </p:sp>
      <p:sp>
        <p:nvSpPr>
          <p:cNvPr id="207" name="TextBox 17">
            <a:extLst>
              <a:ext uri="{FF2B5EF4-FFF2-40B4-BE49-F238E27FC236}">
                <a16:creationId xmlns:a16="http://schemas.microsoft.com/office/drawing/2014/main" id="{380FDD31-0185-4A16-F4FE-B8D5F723E161}"/>
              </a:ext>
            </a:extLst>
          </p:cNvPr>
          <p:cNvSpPr txBox="1"/>
          <p:nvPr/>
        </p:nvSpPr>
        <p:spPr>
          <a:xfrm>
            <a:off x="103695" y="357542"/>
            <a:ext cx="11718885"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Components of Index Server - Session and Transaction Manager </a:t>
            </a:r>
          </a:p>
        </p:txBody>
      </p:sp>
      <p:sp>
        <p:nvSpPr>
          <p:cNvPr id="208" name="Straight Connector 18">
            <a:extLst>
              <a:ext uri="{FF2B5EF4-FFF2-40B4-BE49-F238E27FC236}">
                <a16:creationId xmlns:a16="http://schemas.microsoft.com/office/drawing/2014/main" id="{99B7DBCC-7DA3-9004-0EF9-367E3932A7A1}"/>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854A5F2B-A424-6425-D770-E3AABA654B69}"/>
              </a:ext>
            </a:extLst>
          </p:cNvPr>
          <p:cNvSpPr txBox="1"/>
          <p:nvPr/>
        </p:nvSpPr>
        <p:spPr>
          <a:xfrm>
            <a:off x="0" y="1219677"/>
            <a:ext cx="11935565" cy="5159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marR="0" lvl="1" indent="-457200" algn="l" defTabSz="914400" rtl="0" eaLnBrk="1" fontAlgn="auto" latinLnBrk="0" hangingPunct="0">
              <a:lnSpc>
                <a:spcPct val="200000"/>
              </a:lnSpc>
              <a:spcBef>
                <a:spcPts val="0"/>
              </a:spcBef>
              <a:spcAft>
                <a:spcPts val="0"/>
              </a:spcAft>
              <a:buClr>
                <a:srgbClr val="73C96C"/>
              </a:buClr>
              <a:buSzPct val="100000"/>
              <a:buFontTx/>
              <a:buChar char="▪"/>
              <a:tabLst/>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Session manager is also called as connection and session manager.</a:t>
            </a:r>
          </a:p>
          <a:p>
            <a:pPr marL="914400" marR="0" lvl="1" indent="-457200" algn="l" defTabSz="914400" rtl="0" eaLnBrk="1" fontAlgn="auto" latinLnBrk="0" hangingPunct="0">
              <a:lnSpc>
                <a:spcPct val="200000"/>
              </a:lnSpc>
              <a:spcBef>
                <a:spcPts val="0"/>
              </a:spcBef>
              <a:spcAft>
                <a:spcPts val="0"/>
              </a:spcAft>
              <a:buClr>
                <a:srgbClr val="73C96C"/>
              </a:buClr>
              <a:buSzPct val="100000"/>
              <a:buFontTx/>
              <a:buChar char="▪"/>
              <a:tabLst/>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The session manager is responsible for initializing, managing the connections and the sessions between the client applications and the HANA database.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The transaction manager is responsible to coordinate all database transactions.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Transaction manager keeps track of running and closed transactions.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When a transaction is executed or failed, transaction manager notifies relevant data engine to take necessary actions.</a:t>
            </a:r>
          </a:p>
        </p:txBody>
      </p:sp>
    </p:spTree>
    <p:extLst>
      <p:ext uri="{BB962C8B-B14F-4D97-AF65-F5344CB8AC3E}">
        <p14:creationId xmlns:p14="http://schemas.microsoft.com/office/powerpoint/2010/main" val="711269697"/>
      </p:ext>
    </p:ext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8BFDB-C337-E642-8911-F59C51E51BB0}"/>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5F2153D7-EF1D-253A-48A2-9BA3DBB8358C}"/>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51</a:t>
            </a:fld>
            <a:endParaRPr dirty="0"/>
          </a:p>
        </p:txBody>
      </p:sp>
      <p:sp>
        <p:nvSpPr>
          <p:cNvPr id="207" name="TextBox 17">
            <a:extLst>
              <a:ext uri="{FF2B5EF4-FFF2-40B4-BE49-F238E27FC236}">
                <a16:creationId xmlns:a16="http://schemas.microsoft.com/office/drawing/2014/main" id="{26DE37EA-6B40-9B1B-3C60-8A4E69F65420}"/>
              </a:ext>
            </a:extLst>
          </p:cNvPr>
          <p:cNvSpPr txBox="1"/>
          <p:nvPr/>
        </p:nvSpPr>
        <p:spPr>
          <a:xfrm>
            <a:off x="103695" y="357542"/>
            <a:ext cx="11718885"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Components of Index Server - SQL/MDX Processor </a:t>
            </a:r>
          </a:p>
        </p:txBody>
      </p:sp>
      <p:sp>
        <p:nvSpPr>
          <p:cNvPr id="208" name="Straight Connector 18">
            <a:extLst>
              <a:ext uri="{FF2B5EF4-FFF2-40B4-BE49-F238E27FC236}">
                <a16:creationId xmlns:a16="http://schemas.microsoft.com/office/drawing/2014/main" id="{109AB712-CCDC-D672-3614-022EA21E8469}"/>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1DBB5AA2-3BE9-D677-A89B-EC4DF78EACE6}"/>
              </a:ext>
            </a:extLst>
          </p:cNvPr>
          <p:cNvSpPr txBox="1"/>
          <p:nvPr/>
        </p:nvSpPr>
        <p:spPr>
          <a:xfrm>
            <a:off x="0" y="1219677"/>
            <a:ext cx="11935565" cy="36822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The SQL/MDX processor is responsible to process all SQL and MDX queries.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SQL is a query language for relational database whereas MDX is a query language for OLAP systems.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It direct the requests to data engine which fetches data as per the user requirement.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sym typeface="Trebuchet MS"/>
            </a:endParaRPr>
          </a:p>
        </p:txBody>
      </p:sp>
    </p:spTree>
    <p:extLst>
      <p:ext uri="{BB962C8B-B14F-4D97-AF65-F5344CB8AC3E}">
        <p14:creationId xmlns:p14="http://schemas.microsoft.com/office/powerpoint/2010/main" val="3874056717"/>
      </p:ext>
    </p:ext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D1DB5-789C-5D4C-7E00-AB2131E94AAB}"/>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0E2DE0E8-2074-2FF3-6F9E-643F9A4A8C2C}"/>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52</a:t>
            </a:fld>
            <a:endParaRPr dirty="0"/>
          </a:p>
        </p:txBody>
      </p:sp>
      <p:sp>
        <p:nvSpPr>
          <p:cNvPr id="207" name="TextBox 17">
            <a:extLst>
              <a:ext uri="{FF2B5EF4-FFF2-40B4-BE49-F238E27FC236}">
                <a16:creationId xmlns:a16="http://schemas.microsoft.com/office/drawing/2014/main" id="{582F73C4-187F-D0C5-C50B-09B60C1597CB}"/>
              </a:ext>
            </a:extLst>
          </p:cNvPr>
          <p:cNvSpPr txBox="1"/>
          <p:nvPr/>
        </p:nvSpPr>
        <p:spPr>
          <a:xfrm>
            <a:off x="103695" y="357542"/>
            <a:ext cx="11718885"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Components of Index Server - Data Engines </a:t>
            </a:r>
          </a:p>
        </p:txBody>
      </p:sp>
      <p:sp>
        <p:nvSpPr>
          <p:cNvPr id="208" name="Straight Connector 18">
            <a:extLst>
              <a:ext uri="{FF2B5EF4-FFF2-40B4-BE49-F238E27FC236}">
                <a16:creationId xmlns:a16="http://schemas.microsoft.com/office/drawing/2014/main" id="{7135A464-822F-9406-D5EF-B151584C6FC8}"/>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067705E-9511-5C30-2064-0FD903C18129}"/>
              </a:ext>
            </a:extLst>
          </p:cNvPr>
          <p:cNvSpPr txBox="1"/>
          <p:nvPr/>
        </p:nvSpPr>
        <p:spPr>
          <a:xfrm>
            <a:off x="0" y="1219677"/>
            <a:ext cx="11935565" cy="146623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Data engines receive the request from SQL/MDX processor</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It fetches data as per the user requirement from the in-memory database or repository.   </a:t>
            </a:r>
          </a:p>
        </p:txBody>
      </p:sp>
    </p:spTree>
    <p:extLst>
      <p:ext uri="{BB962C8B-B14F-4D97-AF65-F5344CB8AC3E}">
        <p14:creationId xmlns:p14="http://schemas.microsoft.com/office/powerpoint/2010/main" val="2315882615"/>
      </p:ext>
    </p:extLst>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F6AB2-0D11-BB63-67A9-3EC12F938856}"/>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C800DB85-432A-F2F7-6108-63B19677D5A6}"/>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53</a:t>
            </a:fld>
            <a:endParaRPr dirty="0"/>
          </a:p>
        </p:txBody>
      </p:sp>
      <p:sp>
        <p:nvSpPr>
          <p:cNvPr id="207" name="TextBox 17">
            <a:extLst>
              <a:ext uri="{FF2B5EF4-FFF2-40B4-BE49-F238E27FC236}">
                <a16:creationId xmlns:a16="http://schemas.microsoft.com/office/drawing/2014/main" id="{6C69F414-11D4-2B3C-507E-D87FCB6C1583}"/>
              </a:ext>
            </a:extLst>
          </p:cNvPr>
          <p:cNvSpPr txBox="1"/>
          <p:nvPr/>
        </p:nvSpPr>
        <p:spPr>
          <a:xfrm>
            <a:off x="103695" y="357542"/>
            <a:ext cx="11718885"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Components of Index Server - Repository </a:t>
            </a:r>
          </a:p>
        </p:txBody>
      </p:sp>
      <p:sp>
        <p:nvSpPr>
          <p:cNvPr id="208" name="Straight Connector 18">
            <a:extLst>
              <a:ext uri="{FF2B5EF4-FFF2-40B4-BE49-F238E27FC236}">
                <a16:creationId xmlns:a16="http://schemas.microsoft.com/office/drawing/2014/main" id="{CB648B05-9DF9-5DA1-8C62-A293B769748D}"/>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7B7F7EA2-C2DE-20BE-7D3F-00B222B0EEE7}"/>
              </a:ext>
            </a:extLst>
          </p:cNvPr>
          <p:cNvSpPr txBox="1"/>
          <p:nvPr/>
        </p:nvSpPr>
        <p:spPr>
          <a:xfrm>
            <a:off x="0" y="1219677"/>
            <a:ext cx="11935565" cy="146623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It contains the actual data.</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Data engines fetch the data from the repository as per the user requirement.</a:t>
            </a:r>
          </a:p>
        </p:txBody>
      </p:sp>
    </p:spTree>
    <p:extLst>
      <p:ext uri="{BB962C8B-B14F-4D97-AF65-F5344CB8AC3E}">
        <p14:creationId xmlns:p14="http://schemas.microsoft.com/office/powerpoint/2010/main" val="3465051956"/>
      </p:ext>
    </p:extLst>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A3EDD-636E-A8BF-AA17-61999859B244}"/>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84921CE7-131F-C9FA-BE09-9F1E16E9D6F9}"/>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54</a:t>
            </a:fld>
            <a:endParaRPr dirty="0"/>
          </a:p>
        </p:txBody>
      </p:sp>
      <p:sp>
        <p:nvSpPr>
          <p:cNvPr id="207" name="TextBox 17">
            <a:extLst>
              <a:ext uri="{FF2B5EF4-FFF2-40B4-BE49-F238E27FC236}">
                <a16:creationId xmlns:a16="http://schemas.microsoft.com/office/drawing/2014/main" id="{91EEB240-26F7-465A-D7CC-4C004FFB39B4}"/>
              </a:ext>
            </a:extLst>
          </p:cNvPr>
          <p:cNvSpPr txBox="1"/>
          <p:nvPr/>
        </p:nvSpPr>
        <p:spPr>
          <a:xfrm>
            <a:off x="103695" y="357542"/>
            <a:ext cx="11718885"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Components of Index Server - Persistence Layer </a:t>
            </a:r>
          </a:p>
        </p:txBody>
      </p:sp>
      <p:sp>
        <p:nvSpPr>
          <p:cNvPr id="208" name="Straight Connector 18">
            <a:extLst>
              <a:ext uri="{FF2B5EF4-FFF2-40B4-BE49-F238E27FC236}">
                <a16:creationId xmlns:a16="http://schemas.microsoft.com/office/drawing/2014/main" id="{47DD6DF9-BD75-CD37-C2BA-ECB365B44884}"/>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A0DF3D9-3340-DBD2-E5C1-8F379B56D62B}"/>
              </a:ext>
            </a:extLst>
          </p:cNvPr>
          <p:cNvSpPr txBox="1"/>
          <p:nvPr/>
        </p:nvSpPr>
        <p:spPr>
          <a:xfrm>
            <a:off x="0" y="1219677"/>
            <a:ext cx="11935565" cy="36822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The persistence layer is responsible for durability and atomicity of transactions.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Persistence layer provides built in disaster recovery system for HANA database.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It ensures database is restored to most recent state and ensures that all the transactions are completed or undone in case of a system failure or restart.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sym typeface="Trebuchet MS"/>
              </a:rPr>
              <a:t>It contains the data backup, log backup of the HANA system.</a:t>
            </a:r>
          </a:p>
        </p:txBody>
      </p:sp>
    </p:spTree>
    <p:extLst>
      <p:ext uri="{BB962C8B-B14F-4D97-AF65-F5344CB8AC3E}">
        <p14:creationId xmlns:p14="http://schemas.microsoft.com/office/powerpoint/2010/main" val="367051819"/>
      </p:ext>
    </p:ext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4C909-B1FE-CE39-AE37-E5E077656A51}"/>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B6F252AB-1786-A50A-8526-CB7F7F6D07AF}"/>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55</a:t>
            </a:fld>
            <a:endParaRPr dirty="0"/>
          </a:p>
        </p:txBody>
      </p:sp>
      <p:sp>
        <p:nvSpPr>
          <p:cNvPr id="207" name="TextBox 17">
            <a:extLst>
              <a:ext uri="{FF2B5EF4-FFF2-40B4-BE49-F238E27FC236}">
                <a16:creationId xmlns:a16="http://schemas.microsoft.com/office/drawing/2014/main" id="{DC30A433-53A9-F8BE-F89C-52BF5F6285B1}"/>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Programming Approaches - Data-to-Code Vs. Code-to-Data</a:t>
            </a:r>
          </a:p>
        </p:txBody>
      </p:sp>
      <p:sp>
        <p:nvSpPr>
          <p:cNvPr id="208" name="Straight Connector 18">
            <a:extLst>
              <a:ext uri="{FF2B5EF4-FFF2-40B4-BE49-F238E27FC236}">
                <a16:creationId xmlns:a16="http://schemas.microsoft.com/office/drawing/2014/main" id="{2290B071-90C8-BD81-700E-D63884892F1D}"/>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4D6F3200-CB9C-B9AF-D5AC-6C7DE05123CE}"/>
              </a:ext>
            </a:extLst>
          </p:cNvPr>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There are 2 programming approaches or styles or paradigm in ABAP.</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Data-to-Code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Code-to-Data</a:t>
            </a:r>
          </a:p>
        </p:txBody>
      </p:sp>
    </p:spTree>
    <p:extLst>
      <p:ext uri="{BB962C8B-B14F-4D97-AF65-F5344CB8AC3E}">
        <p14:creationId xmlns:p14="http://schemas.microsoft.com/office/powerpoint/2010/main" val="2020316210"/>
      </p:ext>
    </p:extLst>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62DDC-095C-33F2-A779-8ECC60840FF9}"/>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B27BC6D6-2B33-4B83-1B71-C3B6064CD35E}"/>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56</a:t>
            </a:fld>
            <a:endParaRPr dirty="0"/>
          </a:p>
        </p:txBody>
      </p:sp>
      <p:sp>
        <p:nvSpPr>
          <p:cNvPr id="207" name="TextBox 17">
            <a:extLst>
              <a:ext uri="{FF2B5EF4-FFF2-40B4-BE49-F238E27FC236}">
                <a16:creationId xmlns:a16="http://schemas.microsoft.com/office/drawing/2014/main" id="{5DC5B57A-8F9D-17FD-0CF5-173B050369A8}"/>
              </a:ext>
            </a:extLst>
          </p:cNvPr>
          <p:cNvSpPr txBox="1"/>
          <p:nvPr/>
        </p:nvSpPr>
        <p:spPr>
          <a:xfrm>
            <a:off x="443160" y="357542"/>
            <a:ext cx="11379420"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Programming Approaches - Data-to-Code Vs. Code-to-Data(Contd.)</a:t>
            </a:r>
          </a:p>
        </p:txBody>
      </p:sp>
      <p:sp>
        <p:nvSpPr>
          <p:cNvPr id="208" name="Straight Connector 18">
            <a:extLst>
              <a:ext uri="{FF2B5EF4-FFF2-40B4-BE49-F238E27FC236}">
                <a16:creationId xmlns:a16="http://schemas.microsoft.com/office/drawing/2014/main" id="{4F225ED1-53CF-C1A4-2D05-7032300A35F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FE494115-D6A6-0F26-3A27-F495282C64EC}"/>
              </a:ext>
            </a:extLst>
          </p:cNvPr>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rPr>
              <a:t>Data-to-Code: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is a classical approach or traditional approach of programming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this programming approach, we bring all the required data on the application layer.</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Then we perform computations and calculations with that data on the application layer.</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Example - Suppose we want to calculate sum of amount column, then we firstly bring the required data on the application layer and then apply the various statements like COLLECT to calculate sum of amount values. </a:t>
            </a:r>
          </a:p>
        </p:txBody>
      </p:sp>
    </p:spTree>
    <p:extLst>
      <p:ext uri="{BB962C8B-B14F-4D97-AF65-F5344CB8AC3E}">
        <p14:creationId xmlns:p14="http://schemas.microsoft.com/office/powerpoint/2010/main" val="49412894"/>
      </p:ext>
    </p:extLst>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BFC4C-40C0-6503-9A46-9F7B390E5247}"/>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EF4182CA-B900-66D1-8D8F-B49E381FD1DE}"/>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57</a:t>
            </a:fld>
            <a:endParaRPr dirty="0"/>
          </a:p>
        </p:txBody>
      </p:sp>
      <p:sp>
        <p:nvSpPr>
          <p:cNvPr id="207" name="TextBox 17">
            <a:extLst>
              <a:ext uri="{FF2B5EF4-FFF2-40B4-BE49-F238E27FC236}">
                <a16:creationId xmlns:a16="http://schemas.microsoft.com/office/drawing/2014/main" id="{448AE698-928A-5FA3-B5BA-5195D7C6FA8A}"/>
              </a:ext>
            </a:extLst>
          </p:cNvPr>
          <p:cNvSpPr txBox="1"/>
          <p:nvPr/>
        </p:nvSpPr>
        <p:spPr>
          <a:xfrm>
            <a:off x="443160" y="357542"/>
            <a:ext cx="11379420"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Programming Approaches - Data-to-Code Vs. Code-to-Data(Contd.)</a:t>
            </a:r>
          </a:p>
        </p:txBody>
      </p:sp>
      <p:sp>
        <p:nvSpPr>
          <p:cNvPr id="208" name="Straight Connector 18">
            <a:extLst>
              <a:ext uri="{FF2B5EF4-FFF2-40B4-BE49-F238E27FC236}">
                <a16:creationId xmlns:a16="http://schemas.microsoft.com/office/drawing/2014/main" id="{2605EB78-CF95-B5F3-8AA4-F33A25AB8BAB}"/>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D212569F-12E2-4040-4A9A-7B5D6DEE659A}"/>
              </a:ext>
            </a:extLst>
          </p:cNvPr>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rPr>
              <a:t>Code-to-Data:</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is a new programming approach.</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is also called as ‘</a:t>
            </a:r>
            <a:r>
              <a:rPr lang="en-US" altLang="en-US" sz="2400" b="1" dirty="0">
                <a:solidFill>
                  <a:srgbClr val="3B3838"/>
                </a:solidFill>
                <a:latin typeface="Calibri" panose="020F0502020204030204" pitchFamily="34" charset="0"/>
                <a:cs typeface="Calibri" panose="020F0502020204030204" pitchFamily="34" charset="0"/>
              </a:rPr>
              <a:t>Code Pushdown</a:t>
            </a:r>
            <a:r>
              <a:rPr lang="en-US" altLang="en-US" sz="2400" dirty="0">
                <a:solidFill>
                  <a:srgbClr val="3B3838"/>
                </a:solidFill>
                <a:latin typeface="Calibri" panose="020F0502020204030204" pitchFamily="34" charset="0"/>
                <a:cs typeface="Calibri" panose="020F0502020204030204" pitchFamily="34" charset="0"/>
              </a:rPr>
              <a:t>’ approach.</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this programming approach, we write the code to push down data intensive calculations and computations to the HANA DB layer.</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Only results are transferred to the application layer.</a:t>
            </a:r>
          </a:p>
        </p:txBody>
      </p:sp>
    </p:spTree>
    <p:extLst>
      <p:ext uri="{BB962C8B-B14F-4D97-AF65-F5344CB8AC3E}">
        <p14:creationId xmlns:p14="http://schemas.microsoft.com/office/powerpoint/2010/main" val="2669967509"/>
      </p:ext>
    </p:extLst>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6586A-78DE-D6B2-36FA-E2CD0D7CA3A8}"/>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E384BF7A-EE65-4135-1DC9-2725C67CB705}"/>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58</a:t>
            </a:fld>
            <a:endParaRPr dirty="0"/>
          </a:p>
        </p:txBody>
      </p:sp>
      <p:sp>
        <p:nvSpPr>
          <p:cNvPr id="207" name="TextBox 17">
            <a:extLst>
              <a:ext uri="{FF2B5EF4-FFF2-40B4-BE49-F238E27FC236}">
                <a16:creationId xmlns:a16="http://schemas.microsoft.com/office/drawing/2014/main" id="{8F00420B-CCA6-8D74-98EC-FF99B632F240}"/>
              </a:ext>
            </a:extLst>
          </p:cNvPr>
          <p:cNvSpPr txBox="1"/>
          <p:nvPr/>
        </p:nvSpPr>
        <p:spPr>
          <a:xfrm>
            <a:off x="443160" y="357542"/>
            <a:ext cx="11379420"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Programming Approaches - Data-to-Code Vs. Code-to-Data(Contd.)</a:t>
            </a:r>
          </a:p>
        </p:txBody>
      </p:sp>
      <p:sp>
        <p:nvSpPr>
          <p:cNvPr id="208" name="Straight Connector 18">
            <a:extLst>
              <a:ext uri="{FF2B5EF4-FFF2-40B4-BE49-F238E27FC236}">
                <a16:creationId xmlns:a16="http://schemas.microsoft.com/office/drawing/2014/main" id="{4E2C13AD-E725-7668-033F-1D772F9DE77C}"/>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B79D9DDE-1B18-0275-D986-A57732E6EB71}"/>
              </a:ext>
            </a:extLst>
          </p:cNvPr>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Example - Suppose we want to calculate sum of amount column, then in the open SQL query itself, we use the SUM function and brings the calculated sum on the application layer.</a:t>
            </a:r>
          </a:p>
        </p:txBody>
      </p:sp>
      <p:pic>
        <p:nvPicPr>
          <p:cNvPr id="2" name="Picture 1">
            <a:extLst>
              <a:ext uri="{FF2B5EF4-FFF2-40B4-BE49-F238E27FC236}">
                <a16:creationId xmlns:a16="http://schemas.microsoft.com/office/drawing/2014/main" id="{B1369D86-0F3F-7B09-DDAE-ADC00CCE041E}"/>
              </a:ext>
            </a:extLst>
          </p:cNvPr>
          <p:cNvPicPr>
            <a:picLocks noChangeAspect="1"/>
          </p:cNvPicPr>
          <p:nvPr/>
        </p:nvPicPr>
        <p:blipFill>
          <a:blip r:embed="rId3"/>
          <a:stretch>
            <a:fillRect/>
          </a:stretch>
        </p:blipFill>
        <p:spPr>
          <a:xfrm>
            <a:off x="1615387" y="3671770"/>
            <a:ext cx="8733277" cy="2453853"/>
          </a:xfrm>
          <a:prstGeom prst="rect">
            <a:avLst/>
          </a:prstGeom>
          <a:ln>
            <a:solidFill>
              <a:schemeClr val="accent1"/>
            </a:solidFill>
          </a:ln>
        </p:spPr>
      </p:pic>
      <p:sp>
        <p:nvSpPr>
          <p:cNvPr id="4" name="TextBox 3">
            <a:extLst>
              <a:ext uri="{FF2B5EF4-FFF2-40B4-BE49-F238E27FC236}">
                <a16:creationId xmlns:a16="http://schemas.microsoft.com/office/drawing/2014/main" id="{B07CA166-A396-3E12-C097-88CC9481DD8B}"/>
              </a:ext>
            </a:extLst>
          </p:cNvPr>
          <p:cNvSpPr txBox="1"/>
          <p:nvPr/>
        </p:nvSpPr>
        <p:spPr>
          <a:xfrm>
            <a:off x="3575116" y="6315792"/>
            <a:ext cx="3315878"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IN" sz="1800" b="0" i="0" u="none" strike="noStrike" cap="none" spc="0" normalizeH="0" baseline="0" dirty="0">
                <a:ln>
                  <a:noFill/>
                </a:ln>
                <a:solidFill>
                  <a:srgbClr val="000000"/>
                </a:solidFill>
                <a:effectLst/>
                <a:uFillTx/>
                <a:latin typeface="Calibri" panose="020F0502020204030204" pitchFamily="34" charset="0"/>
                <a:ea typeface="Calibri" panose="020F0502020204030204" pitchFamily="34" charset="0"/>
                <a:cs typeface="Calibri" panose="020F0502020204030204" pitchFamily="34" charset="0"/>
                <a:sym typeface="Calibri"/>
              </a:rPr>
              <a:t>Data-to-Code Vs. Code-to-Data </a:t>
            </a:r>
            <a:endParaRPr lang="en-IN" dirty="0"/>
          </a:p>
        </p:txBody>
      </p:sp>
    </p:spTree>
    <p:extLst>
      <p:ext uri="{BB962C8B-B14F-4D97-AF65-F5344CB8AC3E}">
        <p14:creationId xmlns:p14="http://schemas.microsoft.com/office/powerpoint/2010/main" val="2100029636"/>
      </p:ext>
    </p:extLst>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F95A6-FD3B-29C9-6249-CA4DD35E4E73}"/>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41547AE2-1545-A0B8-80D9-6D7E7B9C4D9A}"/>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59</a:t>
            </a:fld>
            <a:endParaRPr dirty="0"/>
          </a:p>
        </p:txBody>
      </p:sp>
      <p:sp>
        <p:nvSpPr>
          <p:cNvPr id="207" name="TextBox 17">
            <a:extLst>
              <a:ext uri="{FF2B5EF4-FFF2-40B4-BE49-F238E27FC236}">
                <a16:creationId xmlns:a16="http://schemas.microsoft.com/office/drawing/2014/main" id="{B6F3985F-0798-6EEE-BBF7-EB8481EFF0F0}"/>
              </a:ext>
            </a:extLst>
          </p:cNvPr>
          <p:cNvSpPr txBox="1"/>
          <p:nvPr/>
        </p:nvSpPr>
        <p:spPr>
          <a:xfrm>
            <a:off x="443160" y="357542"/>
            <a:ext cx="11453160"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Programming Approaches - Data-to-Code Vs. Code-to-Data(Contd.)</a:t>
            </a:r>
          </a:p>
        </p:txBody>
      </p:sp>
      <p:sp>
        <p:nvSpPr>
          <p:cNvPr id="208" name="Straight Connector 18">
            <a:extLst>
              <a:ext uri="{FF2B5EF4-FFF2-40B4-BE49-F238E27FC236}">
                <a16:creationId xmlns:a16="http://schemas.microsoft.com/office/drawing/2014/main" id="{AB2298D8-1078-E025-3BC5-79D5195BC272}"/>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5C5D1E95-4B29-36D3-9930-232075A895A3}"/>
              </a:ext>
            </a:extLst>
          </p:cNvPr>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rPr>
              <a:t>Imp point </a:t>
            </a:r>
            <a:r>
              <a:rPr lang="en-US" altLang="en-US" sz="2400" dirty="0">
                <a:solidFill>
                  <a:srgbClr val="3B3838"/>
                </a:solidFill>
                <a:latin typeface="Calibri" panose="020F0502020204030204" pitchFamily="34" charset="0"/>
                <a:cs typeface="Calibri" panose="020F0502020204030204" pitchFamily="34" charset="0"/>
              </a:rPr>
              <a:t>: To develop applications in ABAP for HANA, we use Code-to-Data approach. Open SQL enhancements, CDS views, AMDP follows Code-to-Data approach. </a:t>
            </a:r>
          </a:p>
        </p:txBody>
      </p:sp>
    </p:spTree>
    <p:extLst>
      <p:ext uri="{BB962C8B-B14F-4D97-AF65-F5344CB8AC3E}">
        <p14:creationId xmlns:p14="http://schemas.microsoft.com/office/powerpoint/2010/main" val="3798050833"/>
      </p:ext>
    </p:extLst>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CB973-1561-321C-3BFB-1D893171C5B9}"/>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CFEE8C1F-8A4E-81BE-8A70-2D570FCBA66E}"/>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60</a:t>
            </a:fld>
            <a:endParaRPr dirty="0"/>
          </a:p>
        </p:txBody>
      </p:sp>
      <p:sp>
        <p:nvSpPr>
          <p:cNvPr id="207" name="TextBox 17">
            <a:extLst>
              <a:ext uri="{FF2B5EF4-FFF2-40B4-BE49-F238E27FC236}">
                <a16:creationId xmlns:a16="http://schemas.microsoft.com/office/drawing/2014/main" id="{ED2DF075-F8F4-2903-22BC-759FAB4592C7}"/>
              </a:ext>
            </a:extLst>
          </p:cNvPr>
          <p:cNvSpPr txBox="1"/>
          <p:nvPr/>
        </p:nvSpPr>
        <p:spPr>
          <a:xfrm>
            <a:off x="103695" y="357542"/>
            <a:ext cx="11190857"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HANA Approaches - Save Data to Disk</a:t>
            </a:r>
          </a:p>
        </p:txBody>
      </p:sp>
      <p:sp>
        <p:nvSpPr>
          <p:cNvPr id="208" name="Straight Connector 18">
            <a:extLst>
              <a:ext uri="{FF2B5EF4-FFF2-40B4-BE49-F238E27FC236}">
                <a16:creationId xmlns:a16="http://schemas.microsoft.com/office/drawing/2014/main" id="{247CE6C8-1319-ECB2-8B2C-FB72DCE1EF7B}"/>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F143374B-26E7-5077-8FC0-CD8392763697}"/>
              </a:ext>
            </a:extLst>
          </p:cNvPr>
          <p:cNvSpPr txBox="1"/>
          <p:nvPr/>
        </p:nvSpPr>
        <p:spPr>
          <a:xfrm>
            <a:off x="14244" y="1263042"/>
            <a:ext cx="11935565" cy="589821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sym typeface="Trebuchet MS"/>
              </a:rPr>
              <a:t>Question </a:t>
            </a:r>
            <a:r>
              <a:rPr lang="en-US" altLang="en-US" sz="2400" dirty="0">
                <a:solidFill>
                  <a:srgbClr val="3B3838"/>
                </a:solidFill>
                <a:latin typeface="Calibri" panose="020F0502020204030204" pitchFamily="34" charset="0"/>
                <a:cs typeface="Calibri" panose="020F0502020204030204" pitchFamily="34" charset="0"/>
                <a:sym typeface="Trebuchet MS"/>
              </a:rPr>
              <a:t>:  HANA means In-memory. In-memory means RAM. We all know, RAM is volatile temporary memory. Does it mean all data would be lost when power goes down or there is  reboot or there is hard or soft failure?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sym typeface="Trebuchet MS"/>
              </a:rPr>
              <a:t>Answer :  </a:t>
            </a:r>
            <a:r>
              <a:rPr lang="en-US" altLang="en-US" sz="2400" dirty="0">
                <a:solidFill>
                  <a:srgbClr val="3B3838"/>
                </a:solidFill>
                <a:latin typeface="Calibri" panose="020F0502020204030204" pitchFamily="34" charset="0"/>
                <a:cs typeface="Calibri" panose="020F0502020204030204" pitchFamily="34" charset="0"/>
                <a:sym typeface="Trebuchet MS"/>
              </a:rPr>
              <a:t>To ensure data is not lost in case of a power failure or system crash, SAP HANA uses these 2 approaches to write data to the disk.</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sym typeface="Trebuchet MS"/>
              </a:rPr>
              <a:t>Save data at regular savepoints</a:t>
            </a:r>
            <a:r>
              <a:rPr lang="en-US" altLang="en-US" sz="2400" dirty="0">
                <a:solidFill>
                  <a:srgbClr val="3B3838"/>
                </a:solidFill>
                <a:latin typeface="Calibri" panose="020F0502020204030204" pitchFamily="34" charset="0"/>
                <a:cs typeface="Calibri" panose="020F0502020204030204" pitchFamily="34" charset="0"/>
                <a:sym typeface="Trebuchet MS"/>
              </a:rPr>
              <a:t> - Data is automatically saved from memory to disk(data volume) at regular intervals.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sym typeface="Trebuchet MS"/>
            </a:endParaRPr>
          </a:p>
        </p:txBody>
      </p:sp>
      <p:sp>
        <p:nvSpPr>
          <p:cNvPr id="3" name="TextBox 2">
            <a:extLst>
              <a:ext uri="{FF2B5EF4-FFF2-40B4-BE49-F238E27FC236}">
                <a16:creationId xmlns:a16="http://schemas.microsoft.com/office/drawing/2014/main" id="{9D336875-E127-6EC7-306A-9DF9AC63F5D1}"/>
              </a:ext>
            </a:extLst>
          </p:cNvPr>
          <p:cNvSpPr txBox="1"/>
          <p:nvPr/>
        </p:nvSpPr>
        <p:spPr>
          <a:xfrm>
            <a:off x="3999322" y="3230740"/>
            <a:ext cx="6094428"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endParaRPr lang="en-IN" dirty="0"/>
          </a:p>
          <a:p>
            <a:endParaRPr lang="en-IN" dirty="0"/>
          </a:p>
        </p:txBody>
      </p:sp>
    </p:spTree>
    <p:extLst>
      <p:ext uri="{BB962C8B-B14F-4D97-AF65-F5344CB8AC3E}">
        <p14:creationId xmlns:p14="http://schemas.microsoft.com/office/powerpoint/2010/main" val="3060283577"/>
      </p:ext>
    </p:extLst>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DF5D3-6E22-2F4D-7A27-1F8C92065377}"/>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32426B0E-D0BF-A2D5-5E71-3A269C4ED307}"/>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61</a:t>
            </a:fld>
            <a:endParaRPr dirty="0"/>
          </a:p>
        </p:txBody>
      </p:sp>
      <p:sp>
        <p:nvSpPr>
          <p:cNvPr id="207" name="TextBox 17">
            <a:extLst>
              <a:ext uri="{FF2B5EF4-FFF2-40B4-BE49-F238E27FC236}">
                <a16:creationId xmlns:a16="http://schemas.microsoft.com/office/drawing/2014/main" id="{49E110BD-3715-A646-CEB4-C4E27D437DDF}"/>
              </a:ext>
            </a:extLst>
          </p:cNvPr>
          <p:cNvSpPr txBox="1"/>
          <p:nvPr/>
        </p:nvSpPr>
        <p:spPr>
          <a:xfrm>
            <a:off x="103695" y="357542"/>
            <a:ext cx="11190857"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HANA Approaches - Save Data to Disk(Contd.)</a:t>
            </a:r>
          </a:p>
        </p:txBody>
      </p:sp>
      <p:sp>
        <p:nvSpPr>
          <p:cNvPr id="208" name="Straight Connector 18">
            <a:extLst>
              <a:ext uri="{FF2B5EF4-FFF2-40B4-BE49-F238E27FC236}">
                <a16:creationId xmlns:a16="http://schemas.microsoft.com/office/drawing/2014/main" id="{91FC6221-5648-8F7E-2FD9-FBD704E00644}"/>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F9FA59D6-B938-6D8D-7776-48465A450E40}"/>
              </a:ext>
            </a:extLst>
          </p:cNvPr>
          <p:cNvSpPr txBox="1"/>
          <p:nvPr/>
        </p:nvSpPr>
        <p:spPr>
          <a:xfrm>
            <a:off x="14244" y="1263042"/>
            <a:ext cx="11601207" cy="22048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mj-lt"/>
              <a:buAutoNum type="arabicPeriod" startAt="2"/>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sym typeface="Trebuchet MS"/>
              </a:rPr>
              <a:t>Save data changes on commit - </a:t>
            </a:r>
            <a:r>
              <a:rPr lang="en-US" altLang="en-US" sz="2400" dirty="0">
                <a:solidFill>
                  <a:srgbClr val="3B3838"/>
                </a:solidFill>
                <a:latin typeface="Calibri" panose="020F0502020204030204" pitchFamily="34" charset="0"/>
                <a:cs typeface="Calibri" panose="020F0502020204030204" pitchFamily="34" charset="0"/>
                <a:sym typeface="Trebuchet MS"/>
              </a:rPr>
              <a:t>All data changes are saved from memory to disk(log volume) for each committed database transaction.</a:t>
            </a:r>
          </a:p>
          <a:p>
            <a:pPr marL="914400" lvl="1" indent="-457200">
              <a:lnSpc>
                <a:spcPct val="200000"/>
              </a:lnSpc>
              <a:buClr>
                <a:srgbClr val="73C96C"/>
              </a:buClr>
              <a:buSzPct val="100000"/>
              <a:buFont typeface="+mj-lt"/>
              <a:buAutoNum type="arabicPeriod" startAt="2"/>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sym typeface="Trebuchet MS"/>
            </a:endParaRPr>
          </a:p>
        </p:txBody>
      </p:sp>
      <p:pic>
        <p:nvPicPr>
          <p:cNvPr id="4" name="Picture 3">
            <a:extLst>
              <a:ext uri="{FF2B5EF4-FFF2-40B4-BE49-F238E27FC236}">
                <a16:creationId xmlns:a16="http://schemas.microsoft.com/office/drawing/2014/main" id="{00000000-0008-0000-0000-00000B000000}"/>
              </a:ext>
            </a:extLst>
          </p:cNvPr>
          <p:cNvPicPr>
            <a:picLocks noChangeAspect="1"/>
          </p:cNvPicPr>
          <p:nvPr/>
        </p:nvPicPr>
        <p:blipFill>
          <a:blip r:embed="rId3"/>
          <a:stretch>
            <a:fillRect/>
          </a:stretch>
        </p:blipFill>
        <p:spPr>
          <a:xfrm>
            <a:off x="2644839" y="2802095"/>
            <a:ext cx="5355690" cy="3412502"/>
          </a:xfrm>
          <a:prstGeom prst="rect">
            <a:avLst/>
          </a:prstGeom>
          <a:ln>
            <a:solidFill>
              <a:schemeClr val="accent1"/>
            </a:solidFill>
          </a:ln>
        </p:spPr>
      </p:pic>
      <p:sp>
        <p:nvSpPr>
          <p:cNvPr id="2" name="TextBox 1">
            <a:extLst>
              <a:ext uri="{FF2B5EF4-FFF2-40B4-BE49-F238E27FC236}">
                <a16:creationId xmlns:a16="http://schemas.microsoft.com/office/drawing/2014/main" id="{2694432E-3B96-FC20-5289-A978EDB4B5A0}"/>
              </a:ext>
            </a:extLst>
          </p:cNvPr>
          <p:cNvSpPr txBox="1"/>
          <p:nvPr/>
        </p:nvSpPr>
        <p:spPr>
          <a:xfrm>
            <a:off x="4309302" y="6315793"/>
            <a:ext cx="2026764"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IN" sz="1800" b="0" i="0" u="none" strike="noStrike" cap="none" spc="0" normalizeH="0" baseline="0" dirty="0">
                <a:ln>
                  <a:noFill/>
                </a:ln>
                <a:solidFill>
                  <a:srgbClr val="000000"/>
                </a:solidFill>
                <a:effectLst/>
                <a:uFillTx/>
                <a:latin typeface="+mj-lt"/>
                <a:ea typeface="+mj-ea"/>
                <a:cs typeface="+mj-cs"/>
                <a:sym typeface="Calibri"/>
              </a:rPr>
              <a:t> Saving data to Disk</a:t>
            </a:r>
          </a:p>
        </p:txBody>
      </p:sp>
    </p:spTree>
    <p:extLst>
      <p:ext uri="{BB962C8B-B14F-4D97-AF65-F5344CB8AC3E}">
        <p14:creationId xmlns:p14="http://schemas.microsoft.com/office/powerpoint/2010/main" val="1802010662"/>
      </p:ext>
    </p:extLst>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44DA1-BA3B-F168-8DB5-B018CD468DBF}"/>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0C3C47F2-946E-E8D0-60BF-993A774237D8}"/>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62</a:t>
            </a:fld>
            <a:endParaRPr dirty="0"/>
          </a:p>
        </p:txBody>
      </p:sp>
      <p:sp>
        <p:nvSpPr>
          <p:cNvPr id="207" name="TextBox 17">
            <a:extLst>
              <a:ext uri="{FF2B5EF4-FFF2-40B4-BE49-F238E27FC236}">
                <a16:creationId xmlns:a16="http://schemas.microsoft.com/office/drawing/2014/main" id="{1738BA2D-AA78-EC0F-AF0C-546A295C4BCA}"/>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Comparison of ECC , SOH and S4H Systems</a:t>
            </a:r>
          </a:p>
        </p:txBody>
      </p:sp>
      <p:sp>
        <p:nvSpPr>
          <p:cNvPr id="208" name="Straight Connector 18">
            <a:extLst>
              <a:ext uri="{FF2B5EF4-FFF2-40B4-BE49-F238E27FC236}">
                <a16:creationId xmlns:a16="http://schemas.microsoft.com/office/drawing/2014/main" id="{4BCA7886-64E9-E5BA-7695-486920FF286F}"/>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C0FB603E-C370-E482-01BB-50BE271B0416}"/>
              </a:ext>
            </a:extLst>
          </p:cNvPr>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Refer to the attached sheet for the detailed comparison of ECC , SOH and S4H systems.</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a:t>
            </a:r>
          </a:p>
        </p:txBody>
      </p:sp>
      <p:graphicFrame>
        <p:nvGraphicFramePr>
          <p:cNvPr id="3" name="Object 2">
            <a:extLst>
              <a:ext uri="{FF2B5EF4-FFF2-40B4-BE49-F238E27FC236}">
                <a16:creationId xmlns:a16="http://schemas.microsoft.com/office/drawing/2014/main" id="{88936AAD-B1E7-DC36-57F5-5CDC6E3DA8F4}"/>
              </a:ext>
            </a:extLst>
          </p:cNvPr>
          <p:cNvGraphicFramePr>
            <a:graphicFrameLocks noChangeAspect="1"/>
          </p:cNvGraphicFramePr>
          <p:nvPr>
            <p:extLst>
              <p:ext uri="{D42A27DB-BD31-4B8C-83A1-F6EECF244321}">
                <p14:modId xmlns:p14="http://schemas.microsoft.com/office/powerpoint/2010/main" val="2299240458"/>
              </p:ext>
            </p:extLst>
          </p:nvPr>
        </p:nvGraphicFramePr>
        <p:xfrm>
          <a:off x="4319048" y="2492801"/>
          <a:ext cx="914400" cy="792163"/>
        </p:xfrm>
        <a:graphic>
          <a:graphicData uri="http://schemas.openxmlformats.org/presentationml/2006/ole">
            <mc:AlternateContent xmlns:mc="http://schemas.openxmlformats.org/markup-compatibility/2006">
              <mc:Choice xmlns:v="urn:schemas-microsoft-com:vml" Requires="v">
                <p:oleObj name="Worksheet" showAsIcon="1" r:id="rId3" imgW="914400" imgH="792685" progId="Excel.Sheet.12">
                  <p:embed/>
                </p:oleObj>
              </mc:Choice>
              <mc:Fallback>
                <p:oleObj name="Worksheet" showAsIcon="1" r:id="rId3" imgW="914400" imgH="792685" progId="Excel.Sheet.12">
                  <p:embed/>
                  <p:pic>
                    <p:nvPicPr>
                      <p:cNvPr id="0" name=""/>
                      <p:cNvPicPr/>
                      <p:nvPr/>
                    </p:nvPicPr>
                    <p:blipFill>
                      <a:blip r:embed="rId4"/>
                      <a:stretch>
                        <a:fillRect/>
                      </a:stretch>
                    </p:blipFill>
                    <p:spPr>
                      <a:xfrm>
                        <a:off x="4319048" y="2492801"/>
                        <a:ext cx="914400" cy="792163"/>
                      </a:xfrm>
                      <a:prstGeom prst="rect">
                        <a:avLst/>
                      </a:prstGeom>
                    </p:spPr>
                  </p:pic>
                </p:oleObj>
              </mc:Fallback>
            </mc:AlternateContent>
          </a:graphicData>
        </a:graphic>
      </p:graphicFrame>
    </p:spTree>
    <p:extLst>
      <p:ext uri="{BB962C8B-B14F-4D97-AF65-F5344CB8AC3E}">
        <p14:creationId xmlns:p14="http://schemas.microsoft.com/office/powerpoint/2010/main" val="3659734213"/>
      </p:ext>
    </p:extLst>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2A90A-E4D2-4CA2-DD0B-E68BF4A29DD7}"/>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AAEC0B04-0AC3-B0DD-38B3-D9866E14664A}"/>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63</a:t>
            </a:fld>
            <a:endParaRPr dirty="0"/>
          </a:p>
        </p:txBody>
      </p:sp>
      <p:sp>
        <p:nvSpPr>
          <p:cNvPr id="207" name="TextBox 17">
            <a:extLst>
              <a:ext uri="{FF2B5EF4-FFF2-40B4-BE49-F238E27FC236}">
                <a16:creationId xmlns:a16="http://schemas.microsoft.com/office/drawing/2014/main" id="{4EF3C944-03B2-4AE9-CE9B-E5B27F76BD19}"/>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Eclipse - Introduction</a:t>
            </a:r>
          </a:p>
        </p:txBody>
      </p:sp>
      <p:sp>
        <p:nvSpPr>
          <p:cNvPr id="208" name="Straight Connector 18">
            <a:extLst>
              <a:ext uri="{FF2B5EF4-FFF2-40B4-BE49-F238E27FC236}">
                <a16:creationId xmlns:a16="http://schemas.microsoft.com/office/drawing/2014/main" id="{EF2C2D79-A0A1-0284-B87B-1213C4976B8D}"/>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4746A92C-561D-2BF1-C304-EAB022121A15}"/>
              </a:ext>
            </a:extLst>
          </p:cNvPr>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latin typeface="Calibri" panose="020F0502020204030204" pitchFamily="34" charset="0"/>
              </a:rPr>
              <a:t>Previously, we do everything using SAP GUI.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latin typeface="Calibri" panose="020F0502020204030204" pitchFamily="34" charset="0"/>
              </a:rPr>
              <a:t>For HANA database, SAP did the major changes at the hardware and software sides , so to keep pace with hardware and software innovations, eclipse is introduced.</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provides an eclipse-based IDE( </a:t>
            </a:r>
            <a:r>
              <a:rPr lang="en-US" altLang="en-US" sz="2400">
                <a:solidFill>
                  <a:srgbClr val="3B3838"/>
                </a:solidFill>
                <a:latin typeface="Calibri" panose="020F0502020204030204" pitchFamily="34" charset="0"/>
                <a:cs typeface="Calibri" panose="020F0502020204030204" pitchFamily="34" charset="0"/>
              </a:rPr>
              <a:t>Integrated Development </a:t>
            </a:r>
            <a:r>
              <a:rPr lang="en-US" altLang="en-US" sz="2400" dirty="0">
                <a:solidFill>
                  <a:srgbClr val="3B3838"/>
                </a:solidFill>
                <a:latin typeface="Calibri" panose="020F0502020204030204" pitchFamily="34" charset="0"/>
                <a:cs typeface="Calibri" panose="020F0502020204030204" pitchFamily="34" charset="0"/>
              </a:rPr>
              <a:t>E</a:t>
            </a:r>
            <a:r>
              <a:rPr lang="en-US" altLang="en-US" sz="2400">
                <a:solidFill>
                  <a:srgbClr val="3B3838"/>
                </a:solidFill>
                <a:latin typeface="Calibri" panose="020F0502020204030204" pitchFamily="34" charset="0"/>
                <a:cs typeface="Calibri" panose="020F0502020204030204" pitchFamily="34" charset="0"/>
              </a:rPr>
              <a:t>nvironment</a:t>
            </a:r>
            <a:r>
              <a:rPr lang="en-US" altLang="en-US" sz="2400" dirty="0">
                <a:solidFill>
                  <a:srgbClr val="3B3838"/>
                </a:solidFill>
                <a:latin typeface="Calibri" panose="020F0502020204030204" pitchFamily="34" charset="0"/>
                <a:cs typeface="Calibri" panose="020F0502020204030204" pitchFamily="34" charset="0"/>
              </a:rPr>
              <a:t>) or eclipse-based work environment.</a:t>
            </a:r>
            <a:endParaRPr lang="en-US" sz="2400" dirty="0">
              <a:latin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provides tools to do the administration, monitoring and configuration of SAP systems.</a:t>
            </a:r>
          </a:p>
        </p:txBody>
      </p:sp>
    </p:spTree>
    <p:extLst>
      <p:ext uri="{BB962C8B-B14F-4D97-AF65-F5344CB8AC3E}">
        <p14:creationId xmlns:p14="http://schemas.microsoft.com/office/powerpoint/2010/main" val="3840409792"/>
      </p:ext>
    </p:extLst>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E4A46-508C-FF98-C537-F3CCCBCE613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D7D61483-B82A-F741-212D-9740659BFACF}"/>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64</a:t>
            </a:fld>
            <a:endParaRPr dirty="0"/>
          </a:p>
        </p:txBody>
      </p:sp>
      <p:sp>
        <p:nvSpPr>
          <p:cNvPr id="207" name="TextBox 17">
            <a:extLst>
              <a:ext uri="{FF2B5EF4-FFF2-40B4-BE49-F238E27FC236}">
                <a16:creationId xmlns:a16="http://schemas.microsoft.com/office/drawing/2014/main" id="{9CD20282-1EE4-3EC7-0EC7-2146965BB088}"/>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Eclipse - Introduction(Contd.)</a:t>
            </a:r>
          </a:p>
        </p:txBody>
      </p:sp>
      <p:sp>
        <p:nvSpPr>
          <p:cNvPr id="208" name="Straight Connector 18">
            <a:extLst>
              <a:ext uri="{FF2B5EF4-FFF2-40B4-BE49-F238E27FC236}">
                <a16:creationId xmlns:a16="http://schemas.microsoft.com/office/drawing/2014/main" id="{D6B6CEC8-0A64-4E51-8033-3BF4EEABB86C}"/>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A2B3D5C1-8C07-CE74-8088-E74A2FB969D2}"/>
              </a:ext>
            </a:extLst>
          </p:cNvPr>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Therefore, eclipse </a:t>
            </a:r>
            <a:r>
              <a:rPr lang="en-US" sz="2400" dirty="0">
                <a:latin typeface="Calibri" panose="020F0502020204030204" pitchFamily="34" charset="0"/>
              </a:rPr>
              <a:t>is used as both - the central development environment and the main administration tool for SAP systems. </a:t>
            </a:r>
            <a:endParaRPr lang="en-US" sz="2400" b="0" i="0" u="none" strike="noStrike" dirty="0">
              <a:solidFill>
                <a:srgbClr val="000000"/>
              </a:solidFill>
              <a:effectLst/>
              <a:latin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Also, the eclipse gives freshness to developers who were bored with the blue GUI screen editor and now the developers prefer to use eclipse as user interface.</a:t>
            </a:r>
          </a:p>
        </p:txBody>
      </p:sp>
    </p:spTree>
    <p:extLst>
      <p:ext uri="{BB962C8B-B14F-4D97-AF65-F5344CB8AC3E}">
        <p14:creationId xmlns:p14="http://schemas.microsoft.com/office/powerpoint/2010/main" val="3531372812"/>
      </p:ext>
    </p:extLst>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96152-746E-DFA8-3C6B-D92D8D4A1506}"/>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35A0C198-1799-8C1D-81EB-30E281F1BDCE}"/>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65</a:t>
            </a:fld>
            <a:endParaRPr dirty="0"/>
          </a:p>
        </p:txBody>
      </p:sp>
      <p:sp>
        <p:nvSpPr>
          <p:cNvPr id="207" name="TextBox 17">
            <a:extLst>
              <a:ext uri="{FF2B5EF4-FFF2-40B4-BE49-F238E27FC236}">
                <a16:creationId xmlns:a16="http://schemas.microsoft.com/office/drawing/2014/main" id="{CC41383F-7E55-377E-F2B2-AD5C3C9BB1EA}"/>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Eclipse - ADT - Introduction</a:t>
            </a:r>
          </a:p>
        </p:txBody>
      </p:sp>
      <p:sp>
        <p:nvSpPr>
          <p:cNvPr id="208" name="Straight Connector 18">
            <a:extLst>
              <a:ext uri="{FF2B5EF4-FFF2-40B4-BE49-F238E27FC236}">
                <a16:creationId xmlns:a16="http://schemas.microsoft.com/office/drawing/2014/main" id="{0713EE62-5B22-3ABF-641D-3A9D20A755A2}"/>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3945F638-9A28-0D08-5B20-EF37AD2A0367}"/>
              </a:ext>
            </a:extLst>
          </p:cNvPr>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ADT stands for ABAP Development Tools.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ADT provides eclipse-based ABAP IDE(Integrated Development Environment).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ADT does not come by default.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It has to be installed as a plugin on eclipse.</a:t>
            </a:r>
          </a:p>
        </p:txBody>
      </p:sp>
    </p:spTree>
    <p:extLst>
      <p:ext uri="{BB962C8B-B14F-4D97-AF65-F5344CB8AC3E}">
        <p14:creationId xmlns:p14="http://schemas.microsoft.com/office/powerpoint/2010/main" val="3298482493"/>
      </p:ext>
    </p:extLst>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8E1F-F632-736A-FB2A-9C367886B8C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9515A497-E2AD-82D5-B1B6-E876D386A978}"/>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66</a:t>
            </a:fld>
            <a:endParaRPr dirty="0"/>
          </a:p>
        </p:txBody>
      </p:sp>
      <p:sp>
        <p:nvSpPr>
          <p:cNvPr id="207" name="TextBox 17">
            <a:extLst>
              <a:ext uri="{FF2B5EF4-FFF2-40B4-BE49-F238E27FC236}">
                <a16:creationId xmlns:a16="http://schemas.microsoft.com/office/drawing/2014/main" id="{C1CDE3EB-013E-2CE8-DCF4-EB31E84CAD06}"/>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Eclipse - ADT - Installation Steps</a:t>
            </a:r>
          </a:p>
        </p:txBody>
      </p:sp>
      <p:sp>
        <p:nvSpPr>
          <p:cNvPr id="208" name="Straight Connector 18">
            <a:extLst>
              <a:ext uri="{FF2B5EF4-FFF2-40B4-BE49-F238E27FC236}">
                <a16:creationId xmlns:a16="http://schemas.microsoft.com/office/drawing/2014/main" id="{5E2B77E0-AD46-C766-C560-20F7245341CB}"/>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FEAA754-BF0D-440A-18CF-E66C8B752EF8}"/>
              </a:ext>
            </a:extLst>
          </p:cNvPr>
          <p:cNvSpPr txBox="1"/>
          <p:nvPr/>
        </p:nvSpPr>
        <p:spPr>
          <a:xfrm>
            <a:off x="14244" y="1263042"/>
            <a:ext cx="11935565" cy="58982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 eclipse, choose in the menu bar help-install new software.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Enter the URL - </a:t>
            </a:r>
            <a:r>
              <a:rPr lang="en-US" sz="2400" dirty="0">
                <a:solidFill>
                  <a:srgbClr val="3B3838"/>
                </a:solidFill>
                <a:latin typeface="Calibri" panose="020F0502020204030204" pitchFamily="34" charset="0"/>
                <a:cs typeface="Calibri" panose="020F0502020204030204" pitchFamily="34" charset="0"/>
                <a:hlinkClick r:id="rId3"/>
              </a:rPr>
              <a:t>https://tools.hana.ondemand.com/latest</a:t>
            </a:r>
            <a:endParaRPr 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sym typeface="Trebuchet MS"/>
              </a:rPr>
              <a:t>Press enter to display the available features.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Select ABAP development tools and choose next.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On the next wizard page, you get an overview of the features to be installed. Choose next.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Confirm the license agreements and choose finish to start the installation.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20720714"/>
      </p:ext>
    </p:extLst>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CC002-166E-2578-3236-B556251B10D0}"/>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BB1B0FFD-D87B-DD21-5628-846D9D6C831F}"/>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67</a:t>
            </a:fld>
            <a:endParaRPr dirty="0"/>
          </a:p>
        </p:txBody>
      </p:sp>
      <p:sp>
        <p:nvSpPr>
          <p:cNvPr id="207" name="TextBox 17">
            <a:extLst>
              <a:ext uri="{FF2B5EF4-FFF2-40B4-BE49-F238E27FC236}">
                <a16:creationId xmlns:a16="http://schemas.microsoft.com/office/drawing/2014/main" id="{2D126EEC-5F7C-0825-859E-9F97244071C8}"/>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Eclipse - Perspective - Introduction</a:t>
            </a:r>
          </a:p>
        </p:txBody>
      </p:sp>
      <p:sp>
        <p:nvSpPr>
          <p:cNvPr id="208" name="Straight Connector 18">
            <a:extLst>
              <a:ext uri="{FF2B5EF4-FFF2-40B4-BE49-F238E27FC236}">
                <a16:creationId xmlns:a16="http://schemas.microsoft.com/office/drawing/2014/main" id="{2A87E875-CB4D-1510-DEDC-EE59CD67398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D357D0E9-D8B3-26D7-E433-7F8D99AB0D39}"/>
              </a:ext>
            </a:extLst>
          </p:cNvPr>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 layman’s term, perspectives are predefined layouts for different roles.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For example - we have ABAP perspective for ABAP developers. Java perspective for Java developers. Debug perspective for debugging.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Path to open the perspective: Window - perspective - open perspective - other</a:t>
            </a:r>
          </a:p>
        </p:txBody>
      </p:sp>
    </p:spTree>
    <p:extLst>
      <p:ext uri="{BB962C8B-B14F-4D97-AF65-F5344CB8AC3E}">
        <p14:creationId xmlns:p14="http://schemas.microsoft.com/office/powerpoint/2010/main" val="1821146724"/>
      </p:ext>
    </p:extLst>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EECE9-F5E1-40F0-A0DF-85E7A938FD92}"/>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0EF1A29F-3F30-218A-23EA-32A2A0DFC2EF}"/>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68</a:t>
            </a:fld>
            <a:endParaRPr dirty="0"/>
          </a:p>
        </p:txBody>
      </p:sp>
      <p:sp>
        <p:nvSpPr>
          <p:cNvPr id="207" name="TextBox 17">
            <a:extLst>
              <a:ext uri="{FF2B5EF4-FFF2-40B4-BE49-F238E27FC236}">
                <a16:creationId xmlns:a16="http://schemas.microsoft.com/office/drawing/2014/main" id="{B29BFC85-4C06-C287-A662-239E90E46BEF}"/>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Eclipse - ABAP Project - Introduction</a:t>
            </a:r>
          </a:p>
        </p:txBody>
      </p:sp>
      <p:sp>
        <p:nvSpPr>
          <p:cNvPr id="208" name="Straight Connector 18">
            <a:extLst>
              <a:ext uri="{FF2B5EF4-FFF2-40B4-BE49-F238E27FC236}">
                <a16:creationId xmlns:a16="http://schemas.microsoft.com/office/drawing/2014/main" id="{065ACBA0-378B-272F-1DB9-851BC5D6ECE2}"/>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27BEE3B6-1658-B78D-61D2-C853BE843420}"/>
              </a:ext>
            </a:extLst>
          </p:cNvPr>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ABAP project connects eclipse to ABAP system.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ABAP project helps to connect  eclipse-based ABAP IDE to ABAP backend system.</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We can connect to different ABAP systems from single eclipse user </a:t>
            </a:r>
            <a:r>
              <a:rPr lang="en-US" sz="2400">
                <a:solidFill>
                  <a:srgbClr val="3B3838"/>
                </a:solidFill>
                <a:latin typeface="Calibri" panose="020F0502020204030204" pitchFamily="34" charset="0"/>
                <a:cs typeface="Calibri" panose="020F0502020204030204" pitchFamily="34" charset="0"/>
              </a:rPr>
              <a:t>interface.</a:t>
            </a: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33591413"/>
      </p:ext>
    </p:extLst>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CF061-958E-6407-AFD3-B0F4A13F04D6}"/>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93EA60F8-DDCA-639D-34D1-60FD1F3C920E}"/>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69</a:t>
            </a:fld>
            <a:endParaRPr dirty="0"/>
          </a:p>
        </p:txBody>
      </p:sp>
      <p:sp>
        <p:nvSpPr>
          <p:cNvPr id="207" name="TextBox 17">
            <a:extLst>
              <a:ext uri="{FF2B5EF4-FFF2-40B4-BE49-F238E27FC236}">
                <a16:creationId xmlns:a16="http://schemas.microsoft.com/office/drawing/2014/main" id="{C2AF5EB7-9BE9-F035-8ACA-730B22216022}"/>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Eclipse Editor - Functionalities</a:t>
            </a:r>
          </a:p>
        </p:txBody>
      </p:sp>
      <p:sp>
        <p:nvSpPr>
          <p:cNvPr id="208" name="Straight Connector 18">
            <a:extLst>
              <a:ext uri="{FF2B5EF4-FFF2-40B4-BE49-F238E27FC236}">
                <a16:creationId xmlns:a16="http://schemas.microsoft.com/office/drawing/2014/main" id="{0460C54B-5210-76F2-AD6B-EEB8FCC7C9A3}"/>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40276214-0976-AF88-E4F1-E2AC62DA8E98}"/>
              </a:ext>
            </a:extLst>
          </p:cNvPr>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Save - Ctrl + 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Syntax check - Ctrl + F2</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Activation - Ctrl + F3</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Run - F8</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Activate all inactive objects - Ctrl + Shift + F3</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Open ABAP development object - Ctrl + Shift + A</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Open SAP GUI - Ctrl + 6</a:t>
            </a:r>
          </a:p>
        </p:txBody>
      </p:sp>
    </p:spTree>
    <p:extLst>
      <p:ext uri="{BB962C8B-B14F-4D97-AF65-F5344CB8AC3E}">
        <p14:creationId xmlns:p14="http://schemas.microsoft.com/office/powerpoint/2010/main" val="38269728"/>
      </p:ext>
    </p:extLst>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3BA96-4245-3C9E-A711-DC35E5FDD587}"/>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A135E890-99E5-8AEE-5102-27CE8F46909E}"/>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70</a:t>
            </a:fld>
            <a:endParaRPr dirty="0"/>
          </a:p>
        </p:txBody>
      </p:sp>
      <p:sp>
        <p:nvSpPr>
          <p:cNvPr id="207" name="TextBox 17">
            <a:extLst>
              <a:ext uri="{FF2B5EF4-FFF2-40B4-BE49-F238E27FC236}">
                <a16:creationId xmlns:a16="http://schemas.microsoft.com/office/drawing/2014/main" id="{571C59FC-9399-ABEA-600F-FEE4693B6105}"/>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Eclipse Editor - Functionalities(Contd.) </a:t>
            </a:r>
          </a:p>
        </p:txBody>
      </p:sp>
      <p:sp>
        <p:nvSpPr>
          <p:cNvPr id="208" name="Straight Connector 18">
            <a:extLst>
              <a:ext uri="{FF2B5EF4-FFF2-40B4-BE49-F238E27FC236}">
                <a16:creationId xmlns:a16="http://schemas.microsoft.com/office/drawing/2014/main" id="{C1A38147-D160-5CF4-8A1A-580DD672A654}"/>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FD12F0F2-6342-D1AD-6A72-42EA28660D12}"/>
              </a:ext>
            </a:extLst>
          </p:cNvPr>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Where used list - Ctrl + Shift + G</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Zoom in - Ctrl +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Zoom out - Ctrl +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Go to line - Ctrl + L</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Insert/overwrite</a:t>
            </a:r>
          </a:p>
        </p:txBody>
      </p:sp>
    </p:spTree>
    <p:extLst>
      <p:ext uri="{BB962C8B-B14F-4D97-AF65-F5344CB8AC3E}">
        <p14:creationId xmlns:p14="http://schemas.microsoft.com/office/powerpoint/2010/main" val="726017909"/>
      </p:ext>
    </p:extLst>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4A740-8D6F-9000-A192-18E6210A9EEB}"/>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514A312-14DE-2603-6D39-613EB387F384}"/>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71</a:t>
            </a:fld>
            <a:endParaRPr dirty="0"/>
          </a:p>
        </p:txBody>
      </p:sp>
      <p:sp>
        <p:nvSpPr>
          <p:cNvPr id="207" name="TextBox 17">
            <a:extLst>
              <a:ext uri="{FF2B5EF4-FFF2-40B4-BE49-F238E27FC236}">
                <a16:creationId xmlns:a16="http://schemas.microsoft.com/office/drawing/2014/main" id="{A149881B-2640-064F-65AB-F663154B5A93}"/>
              </a:ext>
            </a:extLst>
          </p:cNvPr>
          <p:cNvSpPr txBox="1"/>
          <p:nvPr/>
        </p:nvSpPr>
        <p:spPr>
          <a:xfrm>
            <a:off x="14243" y="357542"/>
            <a:ext cx="12052065"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Eclipse Editor - Pretty Printer Functionality </a:t>
            </a:r>
          </a:p>
        </p:txBody>
      </p:sp>
      <p:sp>
        <p:nvSpPr>
          <p:cNvPr id="208" name="Straight Connector 18">
            <a:extLst>
              <a:ext uri="{FF2B5EF4-FFF2-40B4-BE49-F238E27FC236}">
                <a16:creationId xmlns:a16="http://schemas.microsoft.com/office/drawing/2014/main" id="{F024130F-A8D7-1F0C-FA4E-221A74011959}"/>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B294EBD4-8F3D-49E5-6535-34EDC99D4EDE}"/>
              </a:ext>
            </a:extLst>
          </p:cNvPr>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use of pretty printer is used to format the ABAP code. It makes the code more readable.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There is no separate icon for pretty printer.</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shortcut of pretty printer is Shift + F1.</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functionalities of pretty printer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Indentation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Convert uppercase/lowercase </a:t>
            </a:r>
          </a:p>
        </p:txBody>
      </p:sp>
    </p:spTree>
    <p:extLst>
      <p:ext uri="{BB962C8B-B14F-4D97-AF65-F5344CB8AC3E}">
        <p14:creationId xmlns:p14="http://schemas.microsoft.com/office/powerpoint/2010/main" val="2684007452"/>
      </p:ext>
    </p:extLst>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97CDE-696E-7D30-2614-86E2E9990DBB}"/>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86617510-955E-201B-A17B-8C5A4A5361AF}"/>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72</a:t>
            </a:fld>
            <a:endParaRPr dirty="0"/>
          </a:p>
        </p:txBody>
      </p:sp>
      <p:sp>
        <p:nvSpPr>
          <p:cNvPr id="207" name="TextBox 17">
            <a:extLst>
              <a:ext uri="{FF2B5EF4-FFF2-40B4-BE49-F238E27FC236}">
                <a16:creationId xmlns:a16="http://schemas.microsoft.com/office/drawing/2014/main" id="{B8C4AC05-8FBB-5091-0EF0-DB79262478F3}"/>
              </a:ext>
            </a:extLst>
          </p:cNvPr>
          <p:cNvSpPr txBox="1"/>
          <p:nvPr/>
        </p:nvSpPr>
        <p:spPr>
          <a:xfrm>
            <a:off x="14243" y="357542"/>
            <a:ext cx="12052065"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Eclipse Editor - Pretty Printer Functionality(Contd.) </a:t>
            </a:r>
          </a:p>
        </p:txBody>
      </p:sp>
      <p:sp>
        <p:nvSpPr>
          <p:cNvPr id="208" name="Straight Connector 18">
            <a:extLst>
              <a:ext uri="{FF2B5EF4-FFF2-40B4-BE49-F238E27FC236}">
                <a16:creationId xmlns:a16="http://schemas.microsoft.com/office/drawing/2014/main" id="{48558C3A-9573-2E06-394A-41E6FDD5CA3A}"/>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B4809BF9-55F1-5889-BC53-412E9BA72932}"/>
              </a:ext>
            </a:extLst>
          </p:cNvPr>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path to choose ABAP formatter settings is as follows :</a:t>
            </a:r>
          </a:p>
          <a:p>
            <a:pPr marL="800100" lvl="1" indent="-3429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Window - Preferences - ABAP Development - Editors - Source Code Editors - ABAP  Formatter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3342146065"/>
      </p:ext>
    </p:extLst>
  </p:cSld>
  <p:clrMapOvr>
    <a:masterClrMapping/>
  </p:clrMapOvr>
  <p:transition spd="me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73</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Eclipse Editor - Comments Functionality</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 comment is an explanation that is added to the source code of a program to help the person reading the program to understand it.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Comments are ignored when the program is generated by the ABAP compiler.</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 character at the start of a program line indicates that the entire line is a comment.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 character, which can be entered at any position in the line, indicates that the remaining content in the line is a comment.</a:t>
            </a:r>
          </a:p>
        </p:txBody>
      </p:sp>
    </p:spTree>
    <p:extLst>
      <p:ext uri="{BB962C8B-B14F-4D97-AF65-F5344CB8AC3E}">
        <p14:creationId xmlns:p14="http://schemas.microsoft.com/office/powerpoint/2010/main" val="587132883"/>
      </p:ext>
    </p:extLst>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D6A13-6DE3-0F3E-B981-BEE3CD0568DB}"/>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C464CB4E-E6B9-3DFB-458F-402B05ACCDD0}"/>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74</a:t>
            </a:fld>
            <a:endParaRPr dirty="0"/>
          </a:p>
        </p:txBody>
      </p:sp>
      <p:sp>
        <p:nvSpPr>
          <p:cNvPr id="207" name="TextBox 17">
            <a:extLst>
              <a:ext uri="{FF2B5EF4-FFF2-40B4-BE49-F238E27FC236}">
                <a16:creationId xmlns:a16="http://schemas.microsoft.com/office/drawing/2014/main" id="{1728467F-B031-9582-51B5-57F3EE4E7607}"/>
              </a:ext>
            </a:extLst>
          </p:cNvPr>
          <p:cNvSpPr txBox="1"/>
          <p:nvPr/>
        </p:nvSpPr>
        <p:spPr>
          <a:xfrm>
            <a:off x="14243" y="357542"/>
            <a:ext cx="11935565"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Eclipse Editor - Comments Functionality(Contd.)</a:t>
            </a:r>
          </a:p>
        </p:txBody>
      </p:sp>
      <p:sp>
        <p:nvSpPr>
          <p:cNvPr id="208" name="Straight Connector 18">
            <a:extLst>
              <a:ext uri="{FF2B5EF4-FFF2-40B4-BE49-F238E27FC236}">
                <a16:creationId xmlns:a16="http://schemas.microsoft.com/office/drawing/2014/main" id="{A9409BB2-1C7B-2BAE-A3E9-29E6C2360BF1}"/>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2AB4A841-B738-80A8-5BB1-AF8E00846A9D}"/>
              </a:ext>
            </a:extLst>
          </p:cNvPr>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Comment out lines - Ctrl + &lt;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Uncomment lines - Ctrl + &gt;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Toggle comment - Ctrl + 7</a:t>
            </a:r>
          </a:p>
        </p:txBody>
      </p:sp>
    </p:spTree>
    <p:extLst>
      <p:ext uri="{BB962C8B-B14F-4D97-AF65-F5344CB8AC3E}">
        <p14:creationId xmlns:p14="http://schemas.microsoft.com/office/powerpoint/2010/main" val="3142245526"/>
      </p:ext>
    </p:extLst>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95851-A5D6-E617-DB10-E99BC0A68A32}"/>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0E2C9149-C091-A72A-1089-7E0E9A431E5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75</a:t>
            </a:fld>
            <a:endParaRPr dirty="0"/>
          </a:p>
        </p:txBody>
      </p:sp>
      <p:sp>
        <p:nvSpPr>
          <p:cNvPr id="207" name="TextBox 17">
            <a:extLst>
              <a:ext uri="{FF2B5EF4-FFF2-40B4-BE49-F238E27FC236}">
                <a16:creationId xmlns:a16="http://schemas.microsoft.com/office/drawing/2014/main" id="{D9908D9E-3DBB-F5CA-8A5B-BE98BC941776}"/>
              </a:ext>
            </a:extLst>
          </p:cNvPr>
          <p:cNvSpPr txBox="1"/>
          <p:nvPr/>
        </p:nvSpPr>
        <p:spPr>
          <a:xfrm>
            <a:off x="14243" y="357542"/>
            <a:ext cx="11935565"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Eclipse Editor - Code Completion Functionality</a:t>
            </a:r>
          </a:p>
        </p:txBody>
      </p:sp>
      <p:sp>
        <p:nvSpPr>
          <p:cNvPr id="208" name="Straight Connector 18">
            <a:extLst>
              <a:ext uri="{FF2B5EF4-FFF2-40B4-BE49-F238E27FC236}">
                <a16:creationId xmlns:a16="http://schemas.microsoft.com/office/drawing/2014/main" id="{38B2094A-9F54-8911-1D93-5C7449F28339}"/>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AFF06FED-64D2-B7ED-7EFF-1861F9C7588C}"/>
              </a:ext>
            </a:extLst>
          </p:cNvPr>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This is one of the widely used functionality/feature that speeds up the coding.</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shortcut for the same is Ctrl + space.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helps in code completion by following ways.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Keyword completion.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Code templates for completion.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Content assist to suggest completion for variable names, method names.</a:t>
            </a:r>
          </a:p>
        </p:txBody>
      </p:sp>
    </p:spTree>
    <p:extLst>
      <p:ext uri="{BB962C8B-B14F-4D97-AF65-F5344CB8AC3E}">
        <p14:creationId xmlns:p14="http://schemas.microsoft.com/office/powerpoint/2010/main" val="2103841368"/>
      </p:ext>
    </p:extLst>
  </p:cSld>
  <p:clrMapOvr>
    <a:masterClrMapping/>
  </p:clrMapOvr>
  <p:transition spd="me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4A0F9-2EFC-C115-D5A2-912C565B580C}"/>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45B0127F-A170-5D71-F0D9-6025D0B958A4}"/>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76</a:t>
            </a:fld>
            <a:endParaRPr dirty="0"/>
          </a:p>
        </p:txBody>
      </p:sp>
      <p:sp>
        <p:nvSpPr>
          <p:cNvPr id="207" name="TextBox 17">
            <a:extLst>
              <a:ext uri="{FF2B5EF4-FFF2-40B4-BE49-F238E27FC236}">
                <a16:creationId xmlns:a16="http://schemas.microsoft.com/office/drawing/2014/main" id="{A59C523F-182A-7C76-648E-2667969CD247}"/>
              </a:ext>
            </a:extLst>
          </p:cNvPr>
          <p:cNvSpPr txBox="1"/>
          <p:nvPr/>
        </p:nvSpPr>
        <p:spPr>
          <a:xfrm>
            <a:off x="14243" y="357542"/>
            <a:ext cx="11935565"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Eclipse Editor - Quick Fix Functionality</a:t>
            </a:r>
          </a:p>
        </p:txBody>
      </p:sp>
      <p:sp>
        <p:nvSpPr>
          <p:cNvPr id="208" name="Straight Connector 18">
            <a:extLst>
              <a:ext uri="{FF2B5EF4-FFF2-40B4-BE49-F238E27FC236}">
                <a16:creationId xmlns:a16="http://schemas.microsoft.com/office/drawing/2014/main" id="{70FD6376-A7B2-B4CB-026E-B7A59337B45C}"/>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67CFA719-273C-D4B9-A9AE-DCFC37E6F5D2}"/>
              </a:ext>
            </a:extLst>
          </p:cNvPr>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Quick fix allows us to quickly resolve the errors and warnings in the source code through the corresponding functionality that is provided in the quick fix popup.</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Quick fixes are used to make typing much faster.</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You can apply quick fix through Edit-quick fix or using the shortcut Ctrl + 1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usage of quick fix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Class implementation from class definition.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Method implementation from method definition.</a:t>
            </a:r>
          </a:p>
        </p:txBody>
      </p:sp>
    </p:spTree>
    <p:extLst>
      <p:ext uri="{BB962C8B-B14F-4D97-AF65-F5344CB8AC3E}">
        <p14:creationId xmlns:p14="http://schemas.microsoft.com/office/powerpoint/2010/main" val="2694048227"/>
      </p:ext>
    </p:extLst>
  </p:cSld>
  <p:clrMapOvr>
    <a:masterClrMapping/>
  </p:clrMapOvr>
  <p:transition spd="me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B355F-895B-FB6A-5751-499711AFB928}"/>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E00A0F35-B7B2-B1B9-40C1-0CCCD5E8967E}"/>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77</a:t>
            </a:fld>
            <a:endParaRPr dirty="0"/>
          </a:p>
        </p:txBody>
      </p:sp>
      <p:sp>
        <p:nvSpPr>
          <p:cNvPr id="207" name="TextBox 17">
            <a:extLst>
              <a:ext uri="{FF2B5EF4-FFF2-40B4-BE49-F238E27FC236}">
                <a16:creationId xmlns:a16="http://schemas.microsoft.com/office/drawing/2014/main" id="{DB7FC1C8-E9B4-DA55-A20B-E436356C9EB2}"/>
              </a:ext>
            </a:extLst>
          </p:cNvPr>
          <p:cNvSpPr txBox="1"/>
          <p:nvPr/>
        </p:nvSpPr>
        <p:spPr>
          <a:xfrm>
            <a:off x="14243" y="357542"/>
            <a:ext cx="11935565"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Eclipse Editor - Quick Fix Functionality(Contd.)</a:t>
            </a:r>
          </a:p>
        </p:txBody>
      </p:sp>
      <p:sp>
        <p:nvSpPr>
          <p:cNvPr id="208" name="Straight Connector 18">
            <a:extLst>
              <a:ext uri="{FF2B5EF4-FFF2-40B4-BE49-F238E27FC236}">
                <a16:creationId xmlns:a16="http://schemas.microsoft.com/office/drawing/2014/main" id="{2E68D8E9-4655-EA85-F71D-C032DFD38BE5}"/>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6792FBC6-CA38-3BB3-40B2-883606B7426B}"/>
              </a:ext>
            </a:extLst>
          </p:cNvPr>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Method definition from method implementation.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Creating implementation for interface methods.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Creating method definition from method calls.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Creating ABAP classes and ABAP interfaces from the source code.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Creating ABAP Includes from source code.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sym typeface="Trebuchet MS"/>
              </a:rPr>
              <a:t>Creating ABAP Function Modules from source code.</a:t>
            </a:r>
            <a:endParaRPr lang="en-US" alt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65097905"/>
      </p:ext>
    </p:extLst>
  </p:cSld>
  <p:clrMapOvr>
    <a:masterClrMapping/>
  </p:clrMapOvr>
  <p:transition spd="me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D7880-DAE0-1440-4974-A46B5B134A25}"/>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6796B39B-8B24-809F-0B7C-CD6A4A9E04F5}"/>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78</a:t>
            </a:fld>
            <a:endParaRPr dirty="0"/>
          </a:p>
        </p:txBody>
      </p:sp>
      <p:sp>
        <p:nvSpPr>
          <p:cNvPr id="207" name="TextBox 17">
            <a:extLst>
              <a:ext uri="{FF2B5EF4-FFF2-40B4-BE49-F238E27FC236}">
                <a16:creationId xmlns:a16="http://schemas.microsoft.com/office/drawing/2014/main" id="{0574DC92-520B-FAE6-7A54-DCB3B96EFC2B}"/>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Eclipse Editor - Various Help</a:t>
            </a:r>
          </a:p>
        </p:txBody>
      </p:sp>
      <p:sp>
        <p:nvSpPr>
          <p:cNvPr id="208" name="Straight Connector 18">
            <a:extLst>
              <a:ext uri="{FF2B5EF4-FFF2-40B4-BE49-F238E27FC236}">
                <a16:creationId xmlns:a16="http://schemas.microsoft.com/office/drawing/2014/main" id="{2F6DE050-2402-F24C-592E-E455D8CE70F2}"/>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710FA0B2-2D8E-5EA5-8EC9-300BDCA920C0}"/>
              </a:ext>
            </a:extLst>
          </p:cNvPr>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various help in source code editor of eclipse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ABAP keyword documentation - F1</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Show code element information - F2</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List all keyboard shortcuts - Ctrl + Shift + L</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78881365"/>
      </p:ext>
    </p:extLst>
  </p:cSld>
  <p:clrMapOvr>
    <a:masterClrMapping/>
  </p:clrMapOvr>
  <p:transition spd="me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76827-884B-9741-3F17-E050ACA538F5}"/>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71204B6-3A1E-44A8-D3C4-04AEA50132E1}"/>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79</a:t>
            </a:fld>
            <a:endParaRPr dirty="0"/>
          </a:p>
        </p:txBody>
      </p:sp>
      <p:sp>
        <p:nvSpPr>
          <p:cNvPr id="207" name="TextBox 17">
            <a:extLst>
              <a:ext uri="{FF2B5EF4-FFF2-40B4-BE49-F238E27FC236}">
                <a16:creationId xmlns:a16="http://schemas.microsoft.com/office/drawing/2014/main" id="{E6B4F60D-2C7E-EB45-AA94-40CB9578E798}"/>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ABAP Editor Icons Not Available in Eclipse Editor </a:t>
            </a:r>
          </a:p>
        </p:txBody>
      </p:sp>
      <p:sp>
        <p:nvSpPr>
          <p:cNvPr id="208" name="Straight Connector 18">
            <a:extLst>
              <a:ext uri="{FF2B5EF4-FFF2-40B4-BE49-F238E27FC236}">
                <a16:creationId xmlns:a16="http://schemas.microsoft.com/office/drawing/2014/main" id="{04883A3B-F4C8-D3F2-B6B1-EEB27F8B8249}"/>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1ED0AC3B-5C34-2421-98FB-2A3670C0F249}"/>
              </a:ext>
            </a:extLst>
          </p:cNvPr>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various icons which are not available in eclipse editor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Change/display icon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Pattern icon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Pretty Printer icon</a:t>
            </a:r>
          </a:p>
        </p:txBody>
      </p:sp>
    </p:spTree>
    <p:extLst>
      <p:ext uri="{BB962C8B-B14F-4D97-AF65-F5344CB8AC3E}">
        <p14:creationId xmlns:p14="http://schemas.microsoft.com/office/powerpoint/2010/main" val="2291826760"/>
      </p:ext>
    </p:extLst>
  </p:cSld>
  <p:clrMapOvr>
    <a:masterClrMapping/>
  </p:clrMapOvr>
  <p:transition spd="me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ABB49-0808-5D70-42FE-136D71F4F14D}"/>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4DF12484-0EC1-9E20-4DD8-672349FC2780}"/>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80</a:t>
            </a:fld>
            <a:endParaRPr dirty="0"/>
          </a:p>
        </p:txBody>
      </p:sp>
      <p:sp>
        <p:nvSpPr>
          <p:cNvPr id="207" name="TextBox 17">
            <a:extLst>
              <a:ext uri="{FF2B5EF4-FFF2-40B4-BE49-F238E27FC236}">
                <a16:creationId xmlns:a16="http://schemas.microsoft.com/office/drawing/2014/main" id="{A209A61F-16C0-16BC-2825-671C283C9A86}"/>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Locking Mechanism - SAP </a:t>
            </a:r>
            <a:r>
              <a:rPr lang="en-US" sz="3200">
                <a:latin typeface="Calibri" panose="020F0502020204030204" pitchFamily="34" charset="0"/>
                <a:cs typeface="Calibri" panose="020F0502020204030204" pitchFamily="34" charset="0"/>
              </a:rPr>
              <a:t>GUI Editor and Eclipse Editor </a:t>
            </a:r>
            <a:endParaRPr lang="en-US" sz="3200" dirty="0">
              <a:latin typeface="Calibri" panose="020F0502020204030204" pitchFamily="34" charset="0"/>
              <a:cs typeface="Calibri" panose="020F0502020204030204" pitchFamily="34" charset="0"/>
            </a:endParaRPr>
          </a:p>
        </p:txBody>
      </p:sp>
      <p:sp>
        <p:nvSpPr>
          <p:cNvPr id="208" name="Straight Connector 18">
            <a:extLst>
              <a:ext uri="{FF2B5EF4-FFF2-40B4-BE49-F238E27FC236}">
                <a16:creationId xmlns:a16="http://schemas.microsoft.com/office/drawing/2014/main" id="{0578A379-11E6-9CD2-6649-79BF45120BB9}"/>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8F30EB38-7581-20FD-9D4B-40D6B06F151E}"/>
              </a:ext>
            </a:extLst>
          </p:cNvPr>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Question  : We can edit the same program in GUI and in eclipse simultaneously( True/False) </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Answer :   False. We can not edit the same program simultaneously. Both have same code repository. Therefore, we can not interfere when other is editing at the same time.</a:t>
            </a:r>
          </a:p>
        </p:txBody>
      </p:sp>
    </p:spTree>
    <p:extLst>
      <p:ext uri="{BB962C8B-B14F-4D97-AF65-F5344CB8AC3E}">
        <p14:creationId xmlns:p14="http://schemas.microsoft.com/office/powerpoint/2010/main" val="3347207328"/>
      </p:ext>
    </p:extLst>
  </p:cSld>
  <p:clrMapOvr>
    <a:masterClrMapping/>
  </p:clrMapOvr>
  <p:transition spd="me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81</a:t>
            </a:fld>
            <a:endParaRPr dirty="0"/>
          </a:p>
        </p:txBody>
      </p:sp>
      <p:sp>
        <p:nvSpPr>
          <p:cNvPr id="207" name="TextBox 17"/>
          <p:cNvSpPr txBox="1"/>
          <p:nvPr/>
        </p:nvSpPr>
        <p:spPr>
          <a:xfrm>
            <a:off x="2020186" y="2460208"/>
            <a:ext cx="6847367" cy="6463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IN" sz="3600" dirty="0">
                <a:latin typeface="Calibri" panose="020F0502020204030204" pitchFamily="34" charset="0"/>
                <a:cs typeface="Calibri" panose="020F0502020204030204" pitchFamily="34" charset="0"/>
              </a:rPr>
              <a:t>                       </a:t>
            </a:r>
            <a:r>
              <a:rPr lang="en-IN" sz="4000" dirty="0">
                <a:latin typeface="Calibri" panose="020F0502020204030204" pitchFamily="34" charset="0"/>
                <a:cs typeface="Calibri" panose="020F0502020204030204" pitchFamily="34" charset="0"/>
              </a:rPr>
              <a:t>Thank You</a:t>
            </a:r>
            <a:endParaRPr sz="4000" dirty="0">
              <a:latin typeface="Calibri" panose="020F0502020204030204" pitchFamily="34" charset="0"/>
              <a:cs typeface="Calibri" panose="020F0502020204030204" pitchFamily="34" charset="0"/>
            </a:endParaRPr>
          </a:p>
        </p:txBody>
      </p:sp>
      <p:sp>
        <p:nvSpPr>
          <p:cNvPr id="209" name="TextBox 7"/>
          <p:cNvSpPr txBox="1"/>
          <p:nvPr/>
        </p:nvSpPr>
        <p:spPr>
          <a:xfrm>
            <a:off x="14244" y="1263042"/>
            <a:ext cx="11935565" cy="7169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457200" lvl="1" indent="0">
              <a:lnSpc>
                <a:spcPct val="200000"/>
              </a:lnSpc>
              <a:buClr>
                <a:srgbClr val="73C96C"/>
              </a:buClr>
              <a:buSzPct val="100000"/>
              <a:defRPr sz="2400">
                <a:solidFill>
                  <a:srgbClr val="1F4E79"/>
                </a:solidFill>
                <a:latin typeface="Trebuchet MS"/>
                <a:ea typeface="Trebuchet MS"/>
                <a:cs typeface="Trebuchet MS"/>
                <a:sym typeface="Trebuchet MS"/>
              </a:defRPr>
            </a:pPr>
            <a:endParaRPr lang="en-IN" dirty="0"/>
          </a:p>
        </p:txBody>
      </p:sp>
      <p:sp>
        <p:nvSpPr>
          <p:cNvPr id="3" name="Straight Connector 18">
            <a:extLst>
              <a:ext uri="{FF2B5EF4-FFF2-40B4-BE49-F238E27FC236}">
                <a16:creationId xmlns:a16="http://schemas.microsoft.com/office/drawing/2014/main" id="{4DBA8D6F-AFF4-8D71-2B02-737781787B1E}"/>
              </a:ext>
            </a:extLst>
          </p:cNvPr>
          <p:cNvSpPr/>
          <p:nvPr/>
        </p:nvSpPr>
        <p:spPr>
          <a:xfrm flipH="1" flipV="1">
            <a:off x="191386" y="3168502"/>
            <a:ext cx="11758422" cy="53162"/>
          </a:xfrm>
          <a:prstGeom prst="line">
            <a:avLst/>
          </a:prstGeom>
          <a:ln w="69850" cap="rnd">
            <a:solidFill>
              <a:srgbClr val="8ED656"/>
            </a:solidFill>
            <a:miter/>
          </a:ln>
        </p:spPr>
        <p:txBody>
          <a:bodyPr lIns="45719" rIns="45719"/>
          <a:lstStyle/>
          <a:p>
            <a:endParaRPr dirty="0"/>
          </a:p>
        </p:txBody>
      </p:sp>
    </p:spTree>
    <p:extLst>
      <p:ext uri="{BB962C8B-B14F-4D97-AF65-F5344CB8AC3E}">
        <p14:creationId xmlns:p14="http://schemas.microsoft.com/office/powerpoint/2010/main" val="883752571"/>
      </p:ext>
    </p:extLst>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
  <TotalTime>11285</TotalTime>
  <Words>4782</Words>
  <Application>Microsoft Office PowerPoint</Application>
  <PresentationFormat>Widescreen</PresentationFormat>
  <Paragraphs>448</Paragraphs>
  <Slides>81</Slides>
  <Notes>81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81</vt:i4>
      </vt:variant>
    </vt:vector>
  </HeadingPairs>
  <TitlesOfParts>
    <vt:vector size="87" baseType="lpstr">
      <vt:lpstr>Arial</vt:lpstr>
      <vt:lpstr>Calibri</vt:lpstr>
      <vt:lpstr>Calibri Light</vt:lpstr>
      <vt:lpstr>Wingdings</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Rahul Mehta</dc:creator>
  <cp:lastModifiedBy>Rahul Mehta</cp:lastModifiedBy>
  <cp:revision>3179</cp:revision>
  <dcterms:modified xsi:type="dcterms:W3CDTF">2026-02-18T11:24:30Z</dcterms:modified>
</cp:coreProperties>
</file>