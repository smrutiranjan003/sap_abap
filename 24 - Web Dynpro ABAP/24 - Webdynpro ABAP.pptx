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9" r:id="rId2"/>
    <p:sldId id="837" r:id="rId3"/>
    <p:sldId id="994" r:id="rId4"/>
    <p:sldId id="991" r:id="rId5"/>
    <p:sldId id="955" r:id="rId6"/>
    <p:sldId id="992" r:id="rId7"/>
    <p:sldId id="996" r:id="rId8"/>
    <p:sldId id="997" r:id="rId9"/>
    <p:sldId id="998" r:id="rId10"/>
    <p:sldId id="999" r:id="rId11"/>
    <p:sldId id="1000" r:id="rId12"/>
    <p:sldId id="1001" r:id="rId13"/>
    <p:sldId id="1002" r:id="rId14"/>
    <p:sldId id="1003" r:id="rId15"/>
    <p:sldId id="1004" r:id="rId16"/>
    <p:sldId id="1006" r:id="rId17"/>
    <p:sldId id="1007" r:id="rId18"/>
    <p:sldId id="1008" r:id="rId19"/>
    <p:sldId id="1010" r:id="rId20"/>
    <p:sldId id="1011" r:id="rId21"/>
    <p:sldId id="1012" r:id="rId22"/>
    <p:sldId id="1013" r:id="rId23"/>
    <p:sldId id="1014" r:id="rId24"/>
    <p:sldId id="1015" r:id="rId25"/>
    <p:sldId id="1016" r:id="rId26"/>
    <p:sldId id="1017" r:id="rId27"/>
    <p:sldId id="1018" r:id="rId28"/>
    <p:sldId id="1019" r:id="rId29"/>
    <p:sldId id="1020" r:id="rId30"/>
    <p:sldId id="1021" r:id="rId31"/>
    <p:sldId id="1022" r:id="rId32"/>
    <p:sldId id="1023" r:id="rId33"/>
    <p:sldId id="1024" r:id="rId34"/>
    <p:sldId id="919" r:id="rId3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37" autoAdjust="0"/>
    <p:restoredTop sz="83308" autoAdjust="0"/>
  </p:normalViewPr>
  <p:slideViewPr>
    <p:cSldViewPr snapToGrid="0">
      <p:cViewPr varScale="1">
        <p:scale>
          <a:sx n="71" d="100"/>
          <a:sy n="71" d="100"/>
        </p:scale>
        <p:origin x="97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5725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51739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64668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07414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5351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46650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53716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29056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35741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A4141-65F5-1B13-CEB7-545F0BFBC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B14D5-1C79-E223-A977-C1C1BE5A059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96BB685-4C15-C346-F0F6-2830616CD92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55112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60CCB-49A5-1787-C741-16C253292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34004-23C2-27C6-1305-775AFD1A918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31FD491-9635-4B92-1B4A-26D956D2E2A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1225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89476-0427-ADE5-276A-6616E468B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DE599-67F8-4D80-8ADD-29E64865BA7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3364D5E-2A04-BFD2-6310-BDA179573CE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574388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DF89F-9519-80F4-7874-676AEE232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57592-FEFD-3478-4656-777E2DAC45E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68615E5-7305-0FA7-946B-8D0AA32157B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30519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E581-2864-5F5B-22FF-CE5F54F1A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EF700-7C3C-C5AC-9E8B-90CE57350B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19174DF-C54A-3332-0865-D7533879E05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07494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C94C5-D48F-54EC-30AB-B7B725C93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23A98-028D-BAF0-AD11-DB930CEE9DF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BD15F51-FA42-1202-5136-A185C578B9A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11983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5BC0-4635-6E5C-3F8F-25D96B9B0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7116D-B0E7-D2CE-05E5-1171FFE544C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8545B4D-2F1D-B6A6-2B42-19EA69BCF5C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84980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B4896-B101-960E-E8DA-1AF6D06D0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B7683F-9018-6459-F7D5-F909910230D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9B9BDA-47AC-CD39-9BF2-062F549A0B9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76333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6FA99-097E-B06C-40E3-24DDB11AB9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342B3-EB32-9A61-C28F-1FF122B4757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E8A815-8BDF-3317-8AA7-BEA7CED7B3C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179640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1DAB-B15D-3FC9-39B0-CB20A898A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73A37-30F0-0275-53AD-27554A23AF8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9450D62-A489-CD78-8B57-FE5AA8EA5A8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79537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DB70A-F620-B875-741A-833750F47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A49D9-5397-A4C1-E8A3-CBCAEFA87C2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81FA3E3-9E7D-C9CF-A7A9-891E4FBDB76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89787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A592E-4ECF-ADA9-E3F7-EFC81389C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A0AA8-6831-4AB1-C95D-59C5B4E282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B21B46-62EC-276E-45CD-883AA94D076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1518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10DF-B3DF-5A62-5DC3-3E9D18D37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04FCC-50DB-F099-A298-BAC7376FC4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8159E24-E2E8-F093-2616-624036A9074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414968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36E63-72B4-2005-5851-73B9523BC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8FE05-F6CB-DA6B-866E-C4603B9DEEA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84564FB-E604-665A-59EC-CF2B14E28A4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565933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610FC-2B05-46E4-A8F4-E6BF3AA97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F059F-58B6-48B7-5F59-7056AB6499A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90A2978-8155-8664-1195-C926A39FE0F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340959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3A925-DE67-2821-FC8E-A2CCDE7AD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616A64-6961-26DA-C0B3-EF77D839B0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60A9EE-F111-0BC3-251E-7182921475C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84760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2D50B-5A3D-3ECA-6DEA-09C4D90F6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6E377-BC4E-2BDE-23BC-0A0BA310C3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92A460A-5DE1-B4B7-7763-C7C5E69E308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857195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E45F2-7523-818D-6656-E51366889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6ED79-0D78-FA22-078A-057DF4450F6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7439B6-D898-4E93-3E96-53D9E7F18EC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734714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B853F-BAD7-BAEB-F71B-8514817F7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F59A4-697E-28FB-8B7C-4BB8D5A328E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7848CE8-9163-1E3E-68AB-3D9DCBAB31C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828298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F2DC-6128-A837-E675-D2B57A0EFC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B6F4A-904E-3B2A-149B-DDE0715D871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54C8015-16BB-27E0-7732-B7683C826D2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525456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423D6-ADA5-D1EB-3AE6-7001F6201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A658B-AA06-8849-3F36-D9729CDEFC5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F8190CC-03CD-A7C6-2AA2-CEB726FCC39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846641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DF39-3E4B-D6AE-FD77-00B565E19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1EFE3-F2F9-F4C4-764B-350682D4BCF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156BCBA-0AE2-8D32-36AA-27E6E92880E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855964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Web Dynpro ABAP</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Web Dynpro ABAP - Introduction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abbreviations for Web dynpro for ABAP or Web dynpro ABAP is WD4A or WDA.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Web dynpro ABAP is a combination of 3 words - web means internet, dynpro means – dynamic programs/applications, ABAP - programming language.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Web dynpro ABAP is the standard UI technology for developing web applications in the ABAP environment.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Web dynpro ABAP consists of graphical development environment with special web dynpro tools that are integrated in the ABAP workbench(SE80).</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Web Dynpro ABAP - Introduction(Contd.)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Web dynpro application is equal to module pool program of core ABAP.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437108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Web Dynpro ABAP - Architecture(MVC)</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Web dynpro ABAP is based upon MVC(Model View Controller) architecture.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View - View is user interaction part. All UI elements like input field, drop downs are the part of view.</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Controller - Controller acts as an interface between view and the model.</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Model - It corresponds to business logic part.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206159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Web Dynpro ABAP - Architecture(MVC)</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CEC25177-D886-1182-2EC6-06882A8EB4B6}"/>
              </a:ext>
            </a:extLst>
          </p:cNvPr>
          <p:cNvPicPr>
            <a:picLocks noChangeAspect="1"/>
          </p:cNvPicPr>
          <p:nvPr/>
        </p:nvPicPr>
        <p:blipFill>
          <a:blip r:embed="rId3"/>
          <a:stretch>
            <a:fillRect/>
          </a:stretch>
        </p:blipFill>
        <p:spPr>
          <a:xfrm>
            <a:off x="625150" y="1483567"/>
            <a:ext cx="9358605" cy="4660454"/>
          </a:xfrm>
          <a:prstGeom prst="rect">
            <a:avLst/>
          </a:prstGeom>
          <a:ln>
            <a:solidFill>
              <a:schemeClr val="accent1"/>
            </a:solidFill>
          </a:ln>
        </p:spPr>
      </p:pic>
    </p:spTree>
    <p:extLst>
      <p:ext uri="{BB962C8B-B14F-4D97-AF65-F5344CB8AC3E}">
        <p14:creationId xmlns:p14="http://schemas.microsoft.com/office/powerpoint/2010/main" val="98138799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Web Dynpro ABAP - Advantages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Fully integrated into ABAP development environment.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is a strict separation between layout and business data(MVC). D</a:t>
            </a:r>
            <a:r>
              <a:rPr lang="en-US" sz="2400" dirty="0">
                <a:solidFill>
                  <a:srgbClr val="3B3838"/>
                </a:solidFill>
                <a:latin typeface="Calibri" panose="020F0502020204030204" pitchFamily="34" charset="0"/>
                <a:cs typeface="Calibri" panose="020F0502020204030204" pitchFamily="34" charset="0"/>
              </a:rPr>
              <a:t>eveloping web applications using the MVC architecture allows one developer to work on a particular section (say, the view) while another can work on any other section (say, the controller) simultaneously , s</a:t>
            </a:r>
            <a:r>
              <a:rPr lang="en-US" altLang="en-US" sz="2400" dirty="0">
                <a:solidFill>
                  <a:srgbClr val="3B3838"/>
                </a:solidFill>
                <a:latin typeface="Calibri" panose="020F0502020204030204" pitchFamily="34" charset="0"/>
                <a:cs typeface="Calibri" panose="020F0502020204030204" pitchFamily="34" charset="0"/>
              </a:rPr>
              <a:t>o it results in to faster development.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Reusability of one web dynpro component in to another component.</a:t>
            </a:r>
          </a:p>
        </p:txBody>
      </p:sp>
    </p:spTree>
    <p:extLst>
      <p:ext uri="{BB962C8B-B14F-4D97-AF65-F5344CB8AC3E}">
        <p14:creationId xmlns:p14="http://schemas.microsoft.com/office/powerpoint/2010/main" val="389064656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Web Dynpro ABAP - Advantages(Contd.)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4"/>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use of declarative and graphical tools significantly reduces the implementation effort.</a:t>
            </a:r>
          </a:p>
          <a:p>
            <a:pPr marL="914400" lvl="1" indent="-457200">
              <a:lnSpc>
                <a:spcPct val="200000"/>
              </a:lnSpc>
              <a:buClr>
                <a:srgbClr val="73C96C"/>
              </a:buClr>
              <a:buSzPct val="100000"/>
              <a:buFont typeface="+mj-lt"/>
              <a:buAutoNum type="arabicPeriod" startAt="4"/>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Layout and navigation can be easily changed using web dynpro tools.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39626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Web Dynpro ABAP - Limitations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No mobile device support - Web dynpro ABAP is used only for desktop-based web applications, it does not support mobile devices.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No SAP GUI support - The use of Web dynpro applications inside SAP GUI is not supported.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No support for SAP GUI screens/programs - We can not call SAP GUI programs/screens from Web dynpro ABAP using the statements CALL SCREEN, SUBMIT etc. </a:t>
            </a:r>
          </a:p>
        </p:txBody>
      </p:sp>
    </p:spTree>
    <p:extLst>
      <p:ext uri="{BB962C8B-B14F-4D97-AF65-F5344CB8AC3E}">
        <p14:creationId xmlns:p14="http://schemas.microsoft.com/office/powerpoint/2010/main" val="46276526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Parts of Web Dynpro Component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When we create a web dynpro component the system by default shows the below mentioned parts.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Component Controller</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Component Interface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Views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Windows</a:t>
            </a:r>
          </a:p>
        </p:txBody>
      </p:sp>
    </p:spTree>
    <p:extLst>
      <p:ext uri="{BB962C8B-B14F-4D97-AF65-F5344CB8AC3E}">
        <p14:creationId xmlns:p14="http://schemas.microsoft.com/office/powerpoint/2010/main" val="415852074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Parts of Web Dynpro Component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Component Controller - It is the backbone of the web dynpro component. </a:t>
            </a:r>
            <a:r>
              <a:rPr lang="en-US" b="0" i="0" dirty="0">
                <a:solidFill>
                  <a:srgbClr val="202124"/>
                </a:solidFill>
                <a:effectLst/>
                <a:latin typeface="Google Sans"/>
              </a:rPr>
              <a:t>Each web </a:t>
            </a:r>
            <a:r>
              <a:rPr lang="en-US" dirty="0">
                <a:solidFill>
                  <a:srgbClr val="202124"/>
                </a:solidFill>
                <a:latin typeface="Google Sans"/>
              </a:rPr>
              <a:t>d</a:t>
            </a:r>
            <a:r>
              <a:rPr lang="en-US" b="0" i="0" dirty="0">
                <a:solidFill>
                  <a:srgbClr val="202124"/>
                </a:solidFill>
                <a:effectLst/>
                <a:latin typeface="Google Sans"/>
              </a:rPr>
              <a:t>ynpro component contains exactly one component controller. It is like a global part </a:t>
            </a:r>
            <a:r>
              <a:rPr lang="en-US" dirty="0">
                <a:solidFill>
                  <a:srgbClr val="202124"/>
                </a:solidFill>
                <a:latin typeface="Google Sans"/>
              </a:rPr>
              <a:t>of web dynpro component. T</a:t>
            </a:r>
            <a:r>
              <a:rPr lang="en-US" b="0" i="0" dirty="0">
                <a:solidFill>
                  <a:srgbClr val="202124"/>
                </a:solidFill>
                <a:effectLst/>
                <a:latin typeface="Google Sans"/>
              </a:rPr>
              <a:t>he component controller is visible for all views in a component.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202124"/>
                </a:solidFill>
                <a:latin typeface="Google Sans"/>
                <a:cs typeface="Calibri" panose="020F0502020204030204" pitchFamily="34" charset="0"/>
              </a:rPr>
              <a:t>Views - The view is the smallest unit of a web dynpro application visible for the user. It is used to design the layout.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031935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Parts of Web Dynpro Component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Component Interface - Each component has an interface which helps for the communication between web dynpro components.</a:t>
            </a:r>
          </a:p>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Window - A window is used to combine </a:t>
            </a:r>
            <a:r>
              <a:rPr lang="en-US" altLang="en-US" sz="2400">
                <a:solidFill>
                  <a:srgbClr val="3B3838"/>
                </a:solidFill>
                <a:latin typeface="Calibri" panose="020F0502020204030204" pitchFamily="34" charset="0"/>
                <a:cs typeface="Calibri" panose="020F0502020204030204" pitchFamily="34" charset="0"/>
              </a:rPr>
              <a:t>several views </a:t>
            </a:r>
            <a:r>
              <a:rPr lang="en-US" altLang="en-US" sz="2400" dirty="0">
                <a:solidFill>
                  <a:srgbClr val="3B3838"/>
                </a:solidFill>
                <a:latin typeface="Calibri" panose="020F0502020204030204" pitchFamily="34" charset="0"/>
                <a:cs typeface="Calibri" panose="020F0502020204030204" pitchFamily="34" charset="0"/>
              </a:rPr>
              <a:t>.A view can only be displayed by the browser if it has been embedded in a window. </a:t>
            </a:r>
          </a:p>
        </p:txBody>
      </p:sp>
    </p:spTree>
    <p:extLst>
      <p:ext uri="{BB962C8B-B14F-4D97-AF65-F5344CB8AC3E}">
        <p14:creationId xmlns:p14="http://schemas.microsoft.com/office/powerpoint/2010/main" val="397390614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ED897-87FC-E551-937A-57C094CFDE6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5FBC8D5-6C5C-620B-C748-D352B77C968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12</a:t>
            </a:fld>
            <a:endParaRPr dirty="0"/>
          </a:p>
        </p:txBody>
      </p:sp>
      <p:sp>
        <p:nvSpPr>
          <p:cNvPr id="207" name="TextBox 17">
            <a:extLst>
              <a:ext uri="{FF2B5EF4-FFF2-40B4-BE49-F238E27FC236}">
                <a16:creationId xmlns:a16="http://schemas.microsoft.com/office/drawing/2014/main" id="{F2627B40-1395-B8ED-1E22-CB9C35FAF70C}"/>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OTR</a:t>
            </a:r>
          </a:p>
        </p:txBody>
      </p:sp>
      <p:sp>
        <p:nvSpPr>
          <p:cNvPr id="208" name="Straight Connector 18">
            <a:extLst>
              <a:ext uri="{FF2B5EF4-FFF2-40B4-BE49-F238E27FC236}">
                <a16:creationId xmlns:a16="http://schemas.microsoft.com/office/drawing/2014/main" id="{D75C0A75-D8A4-F3AE-FCDA-D3620315B3A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F311250-CE5E-B686-F8FF-443EF84AA72C}"/>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OTR stands for Online Text Repository.</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central location for the texts which provide services for managing the texts.</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main task of OTR is to support the creation and translation of texts.</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OTR texts can easily be reused.</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main advantage of using OTR is that the object itself is separate from the texts.</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means we can translate the texts independently of the object.</a:t>
            </a:r>
          </a:p>
        </p:txBody>
      </p:sp>
    </p:spTree>
    <p:extLst>
      <p:ext uri="{BB962C8B-B14F-4D97-AF65-F5344CB8AC3E}">
        <p14:creationId xmlns:p14="http://schemas.microsoft.com/office/powerpoint/2010/main" val="16705582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EFC8A-B586-1B53-8F2D-2A6046913BA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774F5066-9E76-7249-AD85-69619B82CA4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13</a:t>
            </a:fld>
            <a:endParaRPr dirty="0"/>
          </a:p>
        </p:txBody>
      </p:sp>
      <p:sp>
        <p:nvSpPr>
          <p:cNvPr id="207" name="TextBox 17">
            <a:extLst>
              <a:ext uri="{FF2B5EF4-FFF2-40B4-BE49-F238E27FC236}">
                <a16:creationId xmlns:a16="http://schemas.microsoft.com/office/drawing/2014/main" id="{F9581413-3ABC-E78F-5E2B-9C9FB7E343D5}"/>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OTR(Contd.)</a:t>
            </a:r>
          </a:p>
        </p:txBody>
      </p:sp>
      <p:sp>
        <p:nvSpPr>
          <p:cNvPr id="208" name="Straight Connector 18">
            <a:extLst>
              <a:ext uri="{FF2B5EF4-FFF2-40B4-BE49-F238E27FC236}">
                <a16:creationId xmlns:a16="http://schemas.microsoft.com/office/drawing/2014/main" id="{0A7A6242-9117-23EF-C1F4-C2837A813E6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E5E4A52-6D3D-877C-7081-8FE81D1BD9B3}"/>
              </a:ext>
            </a:extLst>
          </p:cNvPr>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OTR’s are maintained using the transaction code SOTR_EDIT.</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Tables to store OTR short text - SOTR_HEAD(header table) , SOTR_TEXT(text table).</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Tables to store OTR long Text -  SOTR_HEADU(header table) , SOTR_TEXTU(text table).</a:t>
            </a:r>
          </a:p>
        </p:txBody>
      </p:sp>
    </p:spTree>
    <p:extLst>
      <p:ext uri="{BB962C8B-B14F-4D97-AF65-F5344CB8AC3E}">
        <p14:creationId xmlns:p14="http://schemas.microsoft.com/office/powerpoint/2010/main" val="320355394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11C60-ECB2-350E-FE96-CBC73E7CC2C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6192088-A80B-0A81-26DF-CF484547D15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14</a:t>
            </a:fld>
            <a:endParaRPr dirty="0"/>
          </a:p>
        </p:txBody>
      </p:sp>
      <p:sp>
        <p:nvSpPr>
          <p:cNvPr id="207" name="TextBox 17">
            <a:extLst>
              <a:ext uri="{FF2B5EF4-FFF2-40B4-BE49-F238E27FC236}">
                <a16:creationId xmlns:a16="http://schemas.microsoft.com/office/drawing/2014/main" id="{B7C720B9-40A6-F10E-F809-8393C60F38FD}"/>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OTR  - Transaction Code SOTR_EDIT </a:t>
            </a:r>
          </a:p>
        </p:txBody>
      </p:sp>
      <p:sp>
        <p:nvSpPr>
          <p:cNvPr id="208" name="Straight Connector 18">
            <a:extLst>
              <a:ext uri="{FF2B5EF4-FFF2-40B4-BE49-F238E27FC236}">
                <a16:creationId xmlns:a16="http://schemas.microsoft.com/office/drawing/2014/main" id="{D3187393-7718-3F1E-7136-9045A334112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9506F332-2623-C6E4-83F7-5FC11E0F5C12}"/>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parts of SORT_EDIT transaction code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Text Type -  The OTR differentiates between short text up to 255 characters in length and long text of any length. Choose the short text or long text.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Language - Provide the OTR creation language.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Package - Provide the package name.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Alias - Provide the unique alias name( shortcut). SAP automatically convert it to package name/alias name.</a:t>
            </a:r>
          </a:p>
        </p:txBody>
      </p:sp>
    </p:spTree>
    <p:extLst>
      <p:ext uri="{BB962C8B-B14F-4D97-AF65-F5344CB8AC3E}">
        <p14:creationId xmlns:p14="http://schemas.microsoft.com/office/powerpoint/2010/main" val="329282342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9BCA9-4909-CCB5-98F0-FD06EDC752C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15074A36-E668-07B2-ED35-69EB0E3AE01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15</a:t>
            </a:fld>
            <a:endParaRPr dirty="0"/>
          </a:p>
        </p:txBody>
      </p:sp>
      <p:sp>
        <p:nvSpPr>
          <p:cNvPr id="207" name="TextBox 17">
            <a:extLst>
              <a:ext uri="{FF2B5EF4-FFF2-40B4-BE49-F238E27FC236}">
                <a16:creationId xmlns:a16="http://schemas.microsoft.com/office/drawing/2014/main" id="{A0AF9245-0E1E-ED45-8EF2-64723DFD4E2B}"/>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OTR - Transaction Code SOTR_EDIT(Contd.)</a:t>
            </a:r>
          </a:p>
        </p:txBody>
      </p:sp>
      <p:sp>
        <p:nvSpPr>
          <p:cNvPr id="208" name="Straight Connector 18">
            <a:extLst>
              <a:ext uri="{FF2B5EF4-FFF2-40B4-BE49-F238E27FC236}">
                <a16:creationId xmlns:a16="http://schemas.microsoft.com/office/drawing/2014/main" id="{5E284A04-8B5A-46E6-E4BA-C993970A53F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281105B-605F-31DE-64CB-F6E1506EFCE6}"/>
              </a:ext>
            </a:extLst>
          </p:cNvPr>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2pPr marL="914400" lvl="1" indent="-457200">
              <a:lnSpc>
                <a:spcPct val="200000"/>
              </a:lnSpc>
              <a:buClr>
                <a:srgbClr val="73C96C"/>
              </a:buClr>
              <a:buSzPct val="100000"/>
              <a:buFont typeface="Wingdings" panose="05000000000000000000" pitchFamily="2" charset="2"/>
              <a:buChar char="Ø"/>
              <a:defRPr sz="2400">
                <a:solidFill>
                  <a:srgbClr val="3B3838"/>
                </a:solidFill>
                <a:latin typeface="Calibri" panose="020F0502020204030204" pitchFamily="34" charset="0"/>
                <a:ea typeface="Trebuchet MS"/>
                <a:cs typeface="Calibri" panose="020F0502020204030204" pitchFamily="34" charset="0"/>
              </a:defRPr>
            </a:lvl2pPr>
          </a:lstStyle>
          <a:p>
            <a:pPr lvl="1"/>
            <a:r>
              <a:rPr lang="en-US" altLang="en-US" dirty="0"/>
              <a:t>Object Type -  Provide the object type. </a:t>
            </a:r>
          </a:p>
          <a:p>
            <a:pPr lvl="1"/>
            <a:r>
              <a:rPr lang="en-US" altLang="en-US" dirty="0"/>
              <a:t>Text - Provide the text.</a:t>
            </a:r>
          </a:p>
          <a:p>
            <a:pPr lvl="1"/>
            <a:r>
              <a:rPr lang="en-US" altLang="en-US" dirty="0"/>
              <a:t>Concept - SAP automatically generates the unique internal number that identifies an OTR text.</a:t>
            </a:r>
          </a:p>
          <a:p>
            <a:pPr lvl="1"/>
            <a:endParaRPr lang="en-US" altLang="en-US" dirty="0"/>
          </a:p>
        </p:txBody>
      </p:sp>
    </p:spTree>
    <p:extLst>
      <p:ext uri="{BB962C8B-B14F-4D97-AF65-F5344CB8AC3E}">
        <p14:creationId xmlns:p14="http://schemas.microsoft.com/office/powerpoint/2010/main" val="382323143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1D8A0-7A23-13A1-A033-9ADA8D22990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EAF1266-1746-A65D-04D5-938D2362BDA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16</a:t>
            </a:fld>
            <a:endParaRPr dirty="0"/>
          </a:p>
        </p:txBody>
      </p:sp>
      <p:sp>
        <p:nvSpPr>
          <p:cNvPr id="207" name="TextBox 17">
            <a:extLst>
              <a:ext uri="{FF2B5EF4-FFF2-40B4-BE49-F238E27FC236}">
                <a16:creationId xmlns:a16="http://schemas.microsoft.com/office/drawing/2014/main" id="{2880B586-F4B7-6AC8-56C8-5DFB907664CB}"/>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OTR - Class CL_WD_UTILITIES</a:t>
            </a:r>
          </a:p>
        </p:txBody>
      </p:sp>
      <p:sp>
        <p:nvSpPr>
          <p:cNvPr id="208" name="Straight Connector 18">
            <a:extLst>
              <a:ext uri="{FF2B5EF4-FFF2-40B4-BE49-F238E27FC236}">
                <a16:creationId xmlns:a16="http://schemas.microsoft.com/office/drawing/2014/main" id="{E1110981-1C13-CE80-39BD-C5BEA7BA32E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EB3B94A-244A-D905-E7C4-7317583A390C}"/>
              </a:ext>
            </a:extLst>
          </p:cNvPr>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method GET_OTR_TEXT_BY_ALIAS of class CL_WD_</a:t>
            </a:r>
            <a:r>
              <a:rPr lang="en-US" altLang="en-US" sz="2400">
                <a:solidFill>
                  <a:srgbClr val="3B3838"/>
                </a:solidFill>
                <a:latin typeface="Calibri" panose="020F0502020204030204" pitchFamily="34" charset="0"/>
                <a:cs typeface="Calibri" panose="020F0502020204030204" pitchFamily="34" charset="0"/>
              </a:rPr>
              <a:t>UTILITIES is used </a:t>
            </a:r>
            <a:r>
              <a:rPr lang="en-US" altLang="en-US" sz="2400" dirty="0">
                <a:solidFill>
                  <a:srgbClr val="3B3838"/>
                </a:solidFill>
                <a:latin typeface="Calibri" panose="020F0502020204030204" pitchFamily="34" charset="0"/>
                <a:cs typeface="Calibri" panose="020F0502020204030204" pitchFamily="34" charset="0"/>
              </a:rPr>
              <a:t>to get the OTR text.</a:t>
            </a:r>
          </a:p>
        </p:txBody>
      </p:sp>
    </p:spTree>
    <p:extLst>
      <p:ext uri="{BB962C8B-B14F-4D97-AF65-F5344CB8AC3E}">
        <p14:creationId xmlns:p14="http://schemas.microsoft.com/office/powerpoint/2010/main" val="211578177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7BBB8-5620-84DB-9003-4A809E4AD15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D4C48C2-4D04-7EA0-A068-BA2257C8FE4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17</a:t>
            </a:fld>
            <a:endParaRPr dirty="0"/>
          </a:p>
        </p:txBody>
      </p:sp>
      <p:sp>
        <p:nvSpPr>
          <p:cNvPr id="207" name="TextBox 17">
            <a:extLst>
              <a:ext uri="{FF2B5EF4-FFF2-40B4-BE49-F238E27FC236}">
                <a16:creationId xmlns:a16="http://schemas.microsoft.com/office/drawing/2014/main" id="{A1060193-F76A-ECC4-5925-EE2AAB2AD4A1}"/>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Context Attribute - Input Help Modes</a:t>
            </a:r>
          </a:p>
        </p:txBody>
      </p:sp>
      <p:sp>
        <p:nvSpPr>
          <p:cNvPr id="208" name="Straight Connector 18">
            <a:extLst>
              <a:ext uri="{FF2B5EF4-FFF2-40B4-BE49-F238E27FC236}">
                <a16:creationId xmlns:a16="http://schemas.microsoft.com/office/drawing/2014/main" id="{15D60927-7B45-DDC6-EB3E-EA36AFC5015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D22D94C-F25B-0326-ABF3-40E6B32A2233}"/>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ways to assign the input help to the context attribute are as follows: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Automatic : The search help from the dictionary is assigned to the type of the attribute. The search help is displayed in the property ‘determined input help’ and cannot be changed.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Dictionary Search Help : The search help to be specified in property ‘dictionary search help’ that has to be defined in the dictionary.</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873341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4566F-3A2D-32B4-C36B-7624A3D7AAB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E357A64-E2EA-E4B5-84DE-19BA3A4A0F8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18</a:t>
            </a:fld>
            <a:endParaRPr dirty="0"/>
          </a:p>
        </p:txBody>
      </p:sp>
      <p:sp>
        <p:nvSpPr>
          <p:cNvPr id="207" name="TextBox 17">
            <a:extLst>
              <a:ext uri="{FF2B5EF4-FFF2-40B4-BE49-F238E27FC236}">
                <a16:creationId xmlns:a16="http://schemas.microsoft.com/office/drawing/2014/main" id="{EE1BAB43-7DAC-3BFB-2CC2-542341F2C00F}"/>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Context Attribute - Input Help Modes(Contd.)</a:t>
            </a:r>
          </a:p>
        </p:txBody>
      </p:sp>
      <p:sp>
        <p:nvSpPr>
          <p:cNvPr id="208" name="Straight Connector 18">
            <a:extLst>
              <a:ext uri="{FF2B5EF4-FFF2-40B4-BE49-F238E27FC236}">
                <a16:creationId xmlns:a16="http://schemas.microsoft.com/office/drawing/2014/main" id="{80136BCB-9BF6-81CE-19E2-96734C14D71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D6B3C28-6286-BC4D-C9CA-A0B47FA27F6A}"/>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Object Value Selector : The input help is executed by standard component WDR_OVS. The name of this component usage has to be specified in property ‘OVS component usage’. </a:t>
            </a:r>
          </a:p>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Freely Programmed : The input help is freely programmed. In freely programmed search help, we create our own web dynpro component and use that component to provide input help to the field. The name of this component usage has to be specified in property ‘input help component usage’.</a:t>
            </a:r>
          </a:p>
        </p:txBody>
      </p:sp>
    </p:spTree>
    <p:extLst>
      <p:ext uri="{BB962C8B-B14F-4D97-AF65-F5344CB8AC3E}">
        <p14:creationId xmlns:p14="http://schemas.microsoft.com/office/powerpoint/2010/main" val="227557269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05A8E-9394-0BE7-6D6E-81E77A18844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36EFC73-1B5E-7FB5-50D3-D7ABD5468D7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19</a:t>
            </a:fld>
            <a:endParaRPr dirty="0"/>
          </a:p>
        </p:txBody>
      </p:sp>
      <p:sp>
        <p:nvSpPr>
          <p:cNvPr id="207" name="TextBox 17">
            <a:extLst>
              <a:ext uri="{FF2B5EF4-FFF2-40B4-BE49-F238E27FC236}">
                <a16:creationId xmlns:a16="http://schemas.microsoft.com/office/drawing/2014/main" id="{C56C89EA-A4DF-FEA1-9824-5647BDFDA94D}"/>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Context Attribute - Input Help Modes(Contd.)</a:t>
            </a:r>
          </a:p>
        </p:txBody>
      </p:sp>
      <p:sp>
        <p:nvSpPr>
          <p:cNvPr id="208" name="Straight Connector 18">
            <a:extLst>
              <a:ext uri="{FF2B5EF4-FFF2-40B4-BE49-F238E27FC236}">
                <a16:creationId xmlns:a16="http://schemas.microsoft.com/office/drawing/2014/main" id="{E9F5BABC-8995-A773-A8DA-D556BE85269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F38F9E6-D48F-96C3-483D-0059D8CE656D}"/>
              </a:ext>
            </a:extLst>
          </p:cNvPr>
          <p:cNvSpPr txBox="1"/>
          <p:nvPr/>
        </p:nvSpPr>
        <p:spPr>
          <a:xfrm>
            <a:off x="14244" y="1263042"/>
            <a:ext cx="11935565" cy="727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5"/>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Deactivated - No value help for the context attribute.</a:t>
            </a:r>
          </a:p>
        </p:txBody>
      </p:sp>
    </p:spTree>
    <p:extLst>
      <p:ext uri="{BB962C8B-B14F-4D97-AF65-F5344CB8AC3E}">
        <p14:creationId xmlns:p14="http://schemas.microsoft.com/office/powerpoint/2010/main" val="285904826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990DF-D77A-1FA1-D29E-6E55906CCC6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3DA4FDF-9195-3CAF-4917-187EED1F137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20</a:t>
            </a:fld>
            <a:endParaRPr dirty="0"/>
          </a:p>
        </p:txBody>
      </p:sp>
      <p:sp>
        <p:nvSpPr>
          <p:cNvPr id="207" name="TextBox 17">
            <a:extLst>
              <a:ext uri="{FF2B5EF4-FFF2-40B4-BE49-F238E27FC236}">
                <a16:creationId xmlns:a16="http://schemas.microsoft.com/office/drawing/2014/main" id="{7CDD1EAA-A3C4-38E6-AC89-59897CA6D2A7}"/>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Context Attribute - Input Help Mode - Freely Programmed</a:t>
            </a:r>
          </a:p>
        </p:txBody>
      </p:sp>
      <p:sp>
        <p:nvSpPr>
          <p:cNvPr id="208" name="Straight Connector 18">
            <a:extLst>
              <a:ext uri="{FF2B5EF4-FFF2-40B4-BE49-F238E27FC236}">
                <a16:creationId xmlns:a16="http://schemas.microsoft.com/office/drawing/2014/main" id="{BB92609E-4044-EF92-A7A8-511CCE404191}"/>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9D2A80B0-1E13-E203-F0F1-F1F38900CBD3}"/>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for the freely programmed input help are as follows: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web dynpro component which is to be used as input help must implement the web dynpro component interface IWD_VALUE_HELP.</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After implementing the interface, a window is automatically created in our component with the name WD_VALUE_HELP.</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need to embed the view of our component to window WD_VALUE_HELP  so that our view will be displayed as search help when the user triggers the F4. </a:t>
            </a:r>
          </a:p>
        </p:txBody>
      </p:sp>
    </p:spTree>
    <p:extLst>
      <p:ext uri="{BB962C8B-B14F-4D97-AF65-F5344CB8AC3E}">
        <p14:creationId xmlns:p14="http://schemas.microsoft.com/office/powerpoint/2010/main" val="243049431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C2E4D-9C89-34A3-D4AA-5AD7ECD8242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0FDCD62-BE19-473E-B03B-87C40D01F43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21</a:t>
            </a:fld>
            <a:endParaRPr dirty="0"/>
          </a:p>
        </p:txBody>
      </p:sp>
      <p:sp>
        <p:nvSpPr>
          <p:cNvPr id="207" name="TextBox 17">
            <a:extLst>
              <a:ext uri="{FF2B5EF4-FFF2-40B4-BE49-F238E27FC236}">
                <a16:creationId xmlns:a16="http://schemas.microsoft.com/office/drawing/2014/main" id="{ED2853C0-F2F6-6CB8-B4BE-D4F63A60F96F}"/>
              </a:ext>
            </a:extLst>
          </p:cNvPr>
          <p:cNvSpPr txBox="1"/>
          <p:nvPr/>
        </p:nvSpPr>
        <p:spPr>
          <a:xfrm>
            <a:off x="14244" y="357542"/>
            <a:ext cx="11280308"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Context Attribute - Input Help Mode - Freely Programmed(Contd.)</a:t>
            </a:r>
          </a:p>
        </p:txBody>
      </p:sp>
      <p:sp>
        <p:nvSpPr>
          <p:cNvPr id="208" name="Straight Connector 18">
            <a:extLst>
              <a:ext uri="{FF2B5EF4-FFF2-40B4-BE49-F238E27FC236}">
                <a16:creationId xmlns:a16="http://schemas.microsoft.com/office/drawing/2014/main" id="{B36B7400-B6C9-7A2C-E315-029BCF0BC356}"/>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D71B663-F2CD-F8B2-E8F3-C8880755B04B}"/>
              </a:ext>
            </a:extLst>
          </p:cNvPr>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4"/>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component created for providing search help can be added as a used component in another web dynpro component.</a:t>
            </a:r>
          </a:p>
          <a:p>
            <a:pPr marL="914400" lvl="1" indent="-457200">
              <a:lnSpc>
                <a:spcPct val="200000"/>
              </a:lnSpc>
              <a:buClr>
                <a:srgbClr val="73C96C"/>
              </a:buClr>
              <a:buSzPct val="100000"/>
              <a:buFont typeface="+mj-lt"/>
              <a:buAutoNum type="arabicPeriod" startAt="4"/>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the attribute, choose the input help mode as freely programmed search help and pass the component usage in the property ‘input help component usage’.</a:t>
            </a:r>
          </a:p>
        </p:txBody>
      </p:sp>
    </p:spTree>
    <p:extLst>
      <p:ext uri="{BB962C8B-B14F-4D97-AF65-F5344CB8AC3E}">
        <p14:creationId xmlns:p14="http://schemas.microsoft.com/office/powerpoint/2010/main" val="403532644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3F380-2B49-7823-8532-63D4D1C11D14}"/>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17C53A9-6636-426C-DC30-94BA6F5CB78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22</a:t>
            </a:fld>
            <a:endParaRPr dirty="0"/>
          </a:p>
        </p:txBody>
      </p:sp>
      <p:sp>
        <p:nvSpPr>
          <p:cNvPr id="207" name="TextBox 17">
            <a:extLst>
              <a:ext uri="{FF2B5EF4-FFF2-40B4-BE49-F238E27FC236}">
                <a16:creationId xmlns:a16="http://schemas.microsoft.com/office/drawing/2014/main" id="{BAC74E9B-198F-8DC9-F8B5-167E831783D4}"/>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a:t>
            </a:r>
          </a:p>
        </p:txBody>
      </p:sp>
      <p:sp>
        <p:nvSpPr>
          <p:cNvPr id="208" name="Straight Connector 18">
            <a:extLst>
              <a:ext uri="{FF2B5EF4-FFF2-40B4-BE49-F238E27FC236}">
                <a16:creationId xmlns:a16="http://schemas.microsoft.com/office/drawing/2014/main" id="{42732C0D-5418-F1E9-353C-5774B07D57F6}"/>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4D75B29-8ADE-7FFB-3E2F-047E203AB579}"/>
              </a:ext>
            </a:extLst>
          </p:cNvPr>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Hook methods are pre-defined methods in web dynpro ABAP.</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appear automatically when we create a web dynpro component.</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Hook methods are specific to component controller, window and view.</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check the hook methods by going into ‘Methods’ tab of respective part. </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All hook methods starts with WDDO.</a:t>
            </a:r>
          </a:p>
        </p:txBody>
      </p:sp>
    </p:spTree>
    <p:extLst>
      <p:ext uri="{BB962C8B-B14F-4D97-AF65-F5344CB8AC3E}">
        <p14:creationId xmlns:p14="http://schemas.microsoft.com/office/powerpoint/2010/main" val="265440839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A57BB-E8EA-04DE-FEB2-E5B8F9BE1EC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7919BF4-5ABC-C346-68E5-7ACFDF62DCF7}"/>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23</a:t>
            </a:fld>
            <a:endParaRPr dirty="0"/>
          </a:p>
        </p:txBody>
      </p:sp>
      <p:sp>
        <p:nvSpPr>
          <p:cNvPr id="207" name="TextBox 17">
            <a:extLst>
              <a:ext uri="{FF2B5EF4-FFF2-40B4-BE49-F238E27FC236}">
                <a16:creationId xmlns:a16="http://schemas.microsoft.com/office/drawing/2014/main" id="{9F59A6FC-1EF9-D3C7-BCC8-432840523726}"/>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 Important Points</a:t>
            </a:r>
          </a:p>
        </p:txBody>
      </p:sp>
      <p:sp>
        <p:nvSpPr>
          <p:cNvPr id="208" name="Straight Connector 18">
            <a:extLst>
              <a:ext uri="{FF2B5EF4-FFF2-40B4-BE49-F238E27FC236}">
                <a16:creationId xmlns:a16="http://schemas.microsoft.com/office/drawing/2014/main" id="{E93EC3E1-2782-66C8-B456-35C2AE58118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6D893A5-21F0-7DF2-C799-209F3970BE49}"/>
              </a:ext>
            </a:extLst>
          </p:cNvPr>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not call hook methods. They executes automatically at runtime .</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timing of the hook method execution is predefined in the web dynpro phase model.</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add our own logic to these hook methods. </a:t>
            </a:r>
          </a:p>
        </p:txBody>
      </p:sp>
    </p:spTree>
    <p:extLst>
      <p:ext uri="{BB962C8B-B14F-4D97-AF65-F5344CB8AC3E}">
        <p14:creationId xmlns:p14="http://schemas.microsoft.com/office/powerpoint/2010/main" val="235251494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D6485-D67E-64EE-D443-C523F8CBF8D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EDCDA1FF-7E24-2B25-C2AF-86A4D75D1D2A}"/>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24</a:t>
            </a:fld>
            <a:endParaRPr dirty="0"/>
          </a:p>
        </p:txBody>
      </p:sp>
      <p:sp>
        <p:nvSpPr>
          <p:cNvPr id="207" name="TextBox 17">
            <a:extLst>
              <a:ext uri="{FF2B5EF4-FFF2-40B4-BE49-F238E27FC236}">
                <a16:creationId xmlns:a16="http://schemas.microsoft.com/office/drawing/2014/main" id="{B2E14933-B6F1-9E6F-0E72-39A1729C9D11}"/>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 Component Controller</a:t>
            </a:r>
          </a:p>
        </p:txBody>
      </p:sp>
      <p:sp>
        <p:nvSpPr>
          <p:cNvPr id="208" name="Straight Connector 18">
            <a:extLst>
              <a:ext uri="{FF2B5EF4-FFF2-40B4-BE49-F238E27FC236}">
                <a16:creationId xmlns:a16="http://schemas.microsoft.com/office/drawing/2014/main" id="{412A7497-2639-39E7-D1C4-393093B4B6A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5142F1E-3D0B-EB3D-5919-4934CE67C5A4}"/>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hook methods at component controller level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WDDOAPPLICATIONSTATECHANGE -  Handling for suspending and resuming an application.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WDDOBEFORENAVIGATION - Error handling by application before navigation.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WDDOEXIT - Controller clean-up method.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 Controller initialization method.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WDDOPOSTPROCESSING - Preparation of output.</a:t>
            </a:r>
          </a:p>
        </p:txBody>
      </p:sp>
    </p:spTree>
    <p:extLst>
      <p:ext uri="{BB962C8B-B14F-4D97-AF65-F5344CB8AC3E}">
        <p14:creationId xmlns:p14="http://schemas.microsoft.com/office/powerpoint/2010/main" val="413043697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4E16F-C961-BCB9-DCB8-5522AB8139D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B8DFD40-D02F-4566-6BAC-8FA0B821B69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25</a:t>
            </a:fld>
            <a:endParaRPr dirty="0"/>
          </a:p>
        </p:txBody>
      </p:sp>
      <p:sp>
        <p:nvSpPr>
          <p:cNvPr id="207" name="TextBox 17">
            <a:extLst>
              <a:ext uri="{FF2B5EF4-FFF2-40B4-BE49-F238E27FC236}">
                <a16:creationId xmlns:a16="http://schemas.microsoft.com/office/drawing/2014/main" id="{E9B109F4-3766-B84D-C305-5B0AFE7DA806}"/>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 View</a:t>
            </a:r>
          </a:p>
        </p:txBody>
      </p:sp>
      <p:sp>
        <p:nvSpPr>
          <p:cNvPr id="208" name="Straight Connector 18">
            <a:extLst>
              <a:ext uri="{FF2B5EF4-FFF2-40B4-BE49-F238E27FC236}">
                <a16:creationId xmlns:a16="http://schemas.microsoft.com/office/drawing/2014/main" id="{B3DC715D-5E00-EA78-0992-A4402B38629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7526E05-B667-0F7A-88DB-144F6436C202}"/>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hook methods at view level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WDDOAFTERACTION -  Method for non-action specific operations before navigation.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WDDOBEFOREACTION - Method for validation of user input.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WDDOEXIT - Controller clean-up method.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 Controller initialization method.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WDDOMODIFYVIEW - Method for modifying the view before rendering.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WDDOONCONTEXTMENU - Method for modifying the context menu.</a:t>
            </a:r>
          </a:p>
        </p:txBody>
      </p:sp>
    </p:spTree>
    <p:extLst>
      <p:ext uri="{BB962C8B-B14F-4D97-AF65-F5344CB8AC3E}">
        <p14:creationId xmlns:p14="http://schemas.microsoft.com/office/powerpoint/2010/main" val="8486648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4A157-777C-00D5-65E9-08A9B635E60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15021437-B4D3-919F-24C3-0FA0EE108E5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26</a:t>
            </a:fld>
            <a:endParaRPr dirty="0"/>
          </a:p>
        </p:txBody>
      </p:sp>
      <p:sp>
        <p:nvSpPr>
          <p:cNvPr id="207" name="TextBox 17">
            <a:extLst>
              <a:ext uri="{FF2B5EF4-FFF2-40B4-BE49-F238E27FC236}">
                <a16:creationId xmlns:a16="http://schemas.microsoft.com/office/drawing/2014/main" id="{87A0180B-4FA8-D85C-B74D-A9CDFF36170A}"/>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 Window</a:t>
            </a:r>
          </a:p>
        </p:txBody>
      </p:sp>
      <p:sp>
        <p:nvSpPr>
          <p:cNvPr id="208" name="Straight Connector 18">
            <a:extLst>
              <a:ext uri="{FF2B5EF4-FFF2-40B4-BE49-F238E27FC236}">
                <a16:creationId xmlns:a16="http://schemas.microsoft.com/office/drawing/2014/main" id="{945A6E0A-EFBC-88AE-9C2C-D45AA00F5EE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494E3E4-8227-3526-D8EF-48A6FCB8C357}"/>
              </a:ext>
            </a:extLst>
          </p:cNvPr>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hook methods at window level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WDDOEXIT - Controller clean-up method.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 Controller initialization method.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WDDOONCLOSE - Handling when closing the window.</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WDDOONOPEN - Handling when opening the window.</a:t>
            </a:r>
          </a:p>
        </p:txBody>
      </p:sp>
    </p:spTree>
    <p:extLst>
      <p:ext uri="{BB962C8B-B14F-4D97-AF65-F5344CB8AC3E}">
        <p14:creationId xmlns:p14="http://schemas.microsoft.com/office/powerpoint/2010/main" val="14918295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EE8FB-F406-157F-EAFA-388BC7B2B21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741BE6E-55B3-61BD-0FE5-9DD28ED50ED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27</a:t>
            </a:fld>
            <a:endParaRPr dirty="0"/>
          </a:p>
        </p:txBody>
      </p:sp>
      <p:sp>
        <p:nvSpPr>
          <p:cNvPr id="207" name="TextBox 17">
            <a:extLst>
              <a:ext uri="{FF2B5EF4-FFF2-40B4-BE49-F238E27FC236}">
                <a16:creationId xmlns:a16="http://schemas.microsoft.com/office/drawing/2014/main" id="{4BFED096-6AD3-18B8-3A50-0DD635E17C1B}"/>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 View - WDDOINIT </a:t>
            </a:r>
          </a:p>
        </p:txBody>
      </p:sp>
      <p:sp>
        <p:nvSpPr>
          <p:cNvPr id="208" name="Straight Connector 18">
            <a:extLst>
              <a:ext uri="{FF2B5EF4-FFF2-40B4-BE49-F238E27FC236}">
                <a16:creationId xmlns:a16="http://schemas.microsoft.com/office/drawing/2014/main" id="{77A492FE-D4B7-B5EE-3AC1-56FA50C42B2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1314AC1-3EB2-CD78-54EF-CEC48AE29EA3}"/>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method calls before displaying a particular view.</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method calls only once during the initialization of the view.</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just like an INITIALIZATION event of classical reports.</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purposes of WDDOINIT method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Its purpose is to provide the initial values to the attributes.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Its purpose is to populate the context node with initial data.</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It's a good place to write one time initialization logic. </a:t>
            </a:r>
          </a:p>
        </p:txBody>
      </p:sp>
    </p:spTree>
    <p:extLst>
      <p:ext uri="{BB962C8B-B14F-4D97-AF65-F5344CB8AC3E}">
        <p14:creationId xmlns:p14="http://schemas.microsoft.com/office/powerpoint/2010/main" val="199605878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C555F-5F3B-5035-BAA9-501EE069B98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399A71B-D67F-4AAD-7AF1-806C4C417FE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28</a:t>
            </a:fld>
            <a:endParaRPr dirty="0"/>
          </a:p>
        </p:txBody>
      </p:sp>
      <p:sp>
        <p:nvSpPr>
          <p:cNvPr id="207" name="TextBox 17">
            <a:extLst>
              <a:ext uri="{FF2B5EF4-FFF2-40B4-BE49-F238E27FC236}">
                <a16:creationId xmlns:a16="http://schemas.microsoft.com/office/drawing/2014/main" id="{0456C309-6C2F-E45C-E5C9-CE4653D71698}"/>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a:t>
            </a:r>
            <a:r>
              <a:rPr lang="en-US" sz="3200">
                <a:latin typeface="Calibri" panose="020F0502020204030204" pitchFamily="34" charset="0"/>
                <a:cs typeface="Calibri" panose="020F0502020204030204" pitchFamily="34" charset="0"/>
              </a:rPr>
              <a:t>- WDDOINIT - Triggering </a:t>
            </a:r>
            <a:r>
              <a:rPr lang="en-US" sz="3200" dirty="0">
                <a:latin typeface="Calibri" panose="020F0502020204030204" pitchFamily="34" charset="0"/>
                <a:cs typeface="Calibri" panose="020F0502020204030204" pitchFamily="34" charset="0"/>
              </a:rPr>
              <a:t>Sequence</a:t>
            </a:r>
          </a:p>
        </p:txBody>
      </p:sp>
      <p:sp>
        <p:nvSpPr>
          <p:cNvPr id="208" name="Straight Connector 18">
            <a:extLst>
              <a:ext uri="{FF2B5EF4-FFF2-40B4-BE49-F238E27FC236}">
                <a16:creationId xmlns:a16="http://schemas.microsoft.com/office/drawing/2014/main" id="{0EC738BA-BB9F-5A21-88E9-4068749BFBD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92AEA05D-C6F4-A83F-9A99-9D5B9CEA8198}"/>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method is available at component controller level, view level and window level.</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right sequence of triggering of this method is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of component controller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of window</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of view</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195888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5DD2-81CD-92F6-BFE0-7A67CCCAA08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6B8F868-4200-2D5C-F23A-ABE660F9E74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29</a:t>
            </a:fld>
            <a:endParaRPr dirty="0"/>
          </a:p>
        </p:txBody>
      </p:sp>
      <p:sp>
        <p:nvSpPr>
          <p:cNvPr id="207" name="TextBox 17">
            <a:extLst>
              <a:ext uri="{FF2B5EF4-FFF2-40B4-BE49-F238E27FC236}">
                <a16:creationId xmlns:a16="http://schemas.microsoft.com/office/drawing/2014/main" id="{E52BEC24-F4AB-32C3-896B-AB2832C92D1B}"/>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 View - WDDOMODIFYVIEW </a:t>
            </a:r>
          </a:p>
        </p:txBody>
      </p:sp>
      <p:sp>
        <p:nvSpPr>
          <p:cNvPr id="208" name="Straight Connector 18">
            <a:extLst>
              <a:ext uri="{FF2B5EF4-FFF2-40B4-BE49-F238E27FC236}">
                <a16:creationId xmlns:a16="http://schemas.microsoft.com/office/drawing/2014/main" id="{80A51053-1D96-285E-5CAE-CF0E7FFDEEF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9E458EC-3ACF-C278-1839-72BFA5CF75A1}"/>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method also calls before displaying a particular view.</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a:t>
            </a:r>
            <a:r>
              <a:rPr lang="en-US" altLang="en-US" sz="2400">
                <a:solidFill>
                  <a:srgbClr val="3B3838"/>
                </a:solidFill>
                <a:latin typeface="Calibri" panose="020F0502020204030204" pitchFamily="34" charset="0"/>
                <a:cs typeface="Calibri" panose="020F0502020204030204" pitchFamily="34" charset="0"/>
              </a:rPr>
              <a:t>method calls </a:t>
            </a:r>
            <a:r>
              <a:rPr lang="en-US" altLang="en-US" sz="2400" dirty="0">
                <a:solidFill>
                  <a:srgbClr val="3B3838"/>
                </a:solidFill>
                <a:latin typeface="Calibri" panose="020F0502020204030204" pitchFamily="34" charset="0"/>
                <a:cs typeface="Calibri" panose="020F0502020204030204" pitchFamily="34" charset="0"/>
              </a:rPr>
              <a:t>every time before displaying a particular view.</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method is just like an AT SELECTION-SCREEN OUTPUT event of classical reports.</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purpose of this event is to modify the view UI elements properties dynamically.</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method has one parameter FIRST_TIME, that indicates whether view is being displayed for the first time.</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FIRST_TIME = ‘X’ ( first display of view ) , FIRST_TIME = ‘ ’ ( subsequent display of view).</a:t>
            </a:r>
          </a:p>
        </p:txBody>
      </p:sp>
    </p:spTree>
    <p:extLst>
      <p:ext uri="{BB962C8B-B14F-4D97-AF65-F5344CB8AC3E}">
        <p14:creationId xmlns:p14="http://schemas.microsoft.com/office/powerpoint/2010/main" val="676022462"/>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A56D6-9DD1-E4BC-B4FB-51A483213C9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1B8EE93-B733-A2A1-BAF7-F6585D2E599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30</a:t>
            </a:fld>
            <a:endParaRPr dirty="0"/>
          </a:p>
        </p:txBody>
      </p:sp>
      <p:sp>
        <p:nvSpPr>
          <p:cNvPr id="207" name="TextBox 17">
            <a:extLst>
              <a:ext uri="{FF2B5EF4-FFF2-40B4-BE49-F238E27FC236}">
                <a16:creationId xmlns:a16="http://schemas.microsoft.com/office/drawing/2014/main" id="{3B0EAB20-6862-ABD1-ABBA-C7BDD942DD3D}"/>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 View - WDDOMODIFYVIEW(Contd.) </a:t>
            </a:r>
          </a:p>
        </p:txBody>
      </p:sp>
      <p:sp>
        <p:nvSpPr>
          <p:cNvPr id="208" name="Straight Connector 18">
            <a:extLst>
              <a:ext uri="{FF2B5EF4-FFF2-40B4-BE49-F238E27FC236}">
                <a16:creationId xmlns:a16="http://schemas.microsoft.com/office/drawing/2014/main" id="{7DC400B2-0F46-934B-07F5-8A7C3F34B96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9389D3A-9FEF-E14B-E0CC-99B55CBC2FB8}"/>
              </a:ext>
            </a:extLst>
          </p:cNvPr>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As this method calls every time before displaying a particular view, so avoid writing the selection logic in this method.</a:t>
            </a:r>
          </a:p>
        </p:txBody>
      </p:sp>
    </p:spTree>
    <p:extLst>
      <p:ext uri="{BB962C8B-B14F-4D97-AF65-F5344CB8AC3E}">
        <p14:creationId xmlns:p14="http://schemas.microsoft.com/office/powerpoint/2010/main" val="393020849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CBEF8-4F0B-6A8A-31C7-78F91BC5DC7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695AA36-8ABC-3811-4FB3-9FE91D8443C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31</a:t>
            </a:fld>
            <a:endParaRPr dirty="0"/>
          </a:p>
        </p:txBody>
      </p:sp>
      <p:sp>
        <p:nvSpPr>
          <p:cNvPr id="207" name="TextBox 17">
            <a:extLst>
              <a:ext uri="{FF2B5EF4-FFF2-40B4-BE49-F238E27FC236}">
                <a16:creationId xmlns:a16="http://schemas.microsoft.com/office/drawing/2014/main" id="{B46C634E-AB04-F58C-A405-C213ADB31DD6}"/>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 View - WDDONIT Vs. WDDOMODIFYVIEW </a:t>
            </a:r>
          </a:p>
        </p:txBody>
      </p:sp>
      <p:sp>
        <p:nvSpPr>
          <p:cNvPr id="208" name="Straight Connector 18">
            <a:extLst>
              <a:ext uri="{FF2B5EF4-FFF2-40B4-BE49-F238E27FC236}">
                <a16:creationId xmlns:a16="http://schemas.microsoft.com/office/drawing/2014/main" id="{2E95EFD4-015E-A40A-E800-40FCE39A3C7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B029305-38BC-1A6B-1A2C-2C07BE4407E6}"/>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method is a part of component controller , view and window whereas </a:t>
            </a:r>
            <a:r>
              <a:rPr lang="en-US" sz="2400" dirty="0">
                <a:latin typeface="Calibri" panose="020F0502020204030204" pitchFamily="34" charset="0"/>
                <a:cs typeface="Calibri" panose="020F0502020204030204" pitchFamily="34" charset="0"/>
              </a:rPr>
              <a:t>WDDOMODIFYVIEW method is a part of view only.</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WDDONIT method calls only once before displaying a particular view whereas WDDOMODIFYVIEW calls every time before displaying a particular view.</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WDDONIT method is just like an INITILIZATION event of classical reports whereas WDDOMOFIYVIEW is just like AT SELECTION-SCREEN OUTPUT event of classical reports.</a:t>
            </a:r>
          </a:p>
        </p:txBody>
      </p:sp>
    </p:spTree>
    <p:extLst>
      <p:ext uri="{BB962C8B-B14F-4D97-AF65-F5344CB8AC3E}">
        <p14:creationId xmlns:p14="http://schemas.microsoft.com/office/powerpoint/2010/main" val="2812945805"/>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841E2-C1E2-6CC9-0B80-59ED1339E20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AB9DE8F-1071-A1EF-5133-50E1737B1BA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32</a:t>
            </a:fld>
            <a:endParaRPr dirty="0"/>
          </a:p>
        </p:txBody>
      </p:sp>
      <p:sp>
        <p:nvSpPr>
          <p:cNvPr id="207" name="TextBox 17">
            <a:extLst>
              <a:ext uri="{FF2B5EF4-FFF2-40B4-BE49-F238E27FC236}">
                <a16:creationId xmlns:a16="http://schemas.microsoft.com/office/drawing/2014/main" id="{2A6FAF68-B9BD-A201-1549-9AEF6D389700}"/>
              </a:ext>
            </a:extLst>
          </p:cNvPr>
          <p:cNvSpPr txBox="1"/>
          <p:nvPr/>
        </p:nvSpPr>
        <p:spPr>
          <a:xfrm>
            <a:off x="14244" y="357542"/>
            <a:ext cx="11808336"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Hook Methods - View - WDDONIT Vs. WDDOMODIFYVIEW(Contd.) </a:t>
            </a:r>
          </a:p>
        </p:txBody>
      </p:sp>
      <p:sp>
        <p:nvSpPr>
          <p:cNvPr id="208" name="Straight Connector 18">
            <a:extLst>
              <a:ext uri="{FF2B5EF4-FFF2-40B4-BE49-F238E27FC236}">
                <a16:creationId xmlns:a16="http://schemas.microsoft.com/office/drawing/2014/main" id="{C035C589-7410-1AA6-9CA1-128C5541B2B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DA17D19-0327-994E-B6FB-B52F6F8ED293}"/>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major purpose of WDDOINIT method is used to assign the default values whereas the major purpose of WDDOMODIFYVIEW method is to modify the UI element properties dynamically.</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WDDOINIT method does not have any parameter FIRST_TIME whereas WDDOMODIFYVIEW method has a parameter FIRST_TIME that indicates whether view is being displayed for the first time.</a:t>
            </a:r>
          </a:p>
        </p:txBody>
      </p:sp>
    </p:spTree>
    <p:extLst>
      <p:ext uri="{BB962C8B-B14F-4D97-AF65-F5344CB8AC3E}">
        <p14:creationId xmlns:p14="http://schemas.microsoft.com/office/powerpoint/2010/main" val="125821565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76169-4FBF-85A9-1525-A26CCD84EB6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6F23A435-37CE-BDD4-DDAC-D9EBF9EEEF8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33</a:t>
            </a:fld>
            <a:endParaRPr dirty="0"/>
          </a:p>
        </p:txBody>
      </p:sp>
      <p:sp>
        <p:nvSpPr>
          <p:cNvPr id="207" name="TextBox 17">
            <a:extLst>
              <a:ext uri="{FF2B5EF4-FFF2-40B4-BE49-F238E27FC236}">
                <a16:creationId xmlns:a16="http://schemas.microsoft.com/office/drawing/2014/main" id="{81059F8A-B025-117B-57E0-DD81051A9DCA}"/>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Hook Methods - View - WDDOBEFOREACTION </a:t>
            </a:r>
          </a:p>
        </p:txBody>
      </p:sp>
      <p:sp>
        <p:nvSpPr>
          <p:cNvPr id="208" name="Straight Connector 18">
            <a:extLst>
              <a:ext uri="{FF2B5EF4-FFF2-40B4-BE49-F238E27FC236}">
                <a16:creationId xmlns:a16="http://schemas.microsoft.com/office/drawing/2014/main" id="{7300E01A-918A-986B-B477-0A90B01C119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F109295-6926-9666-0369-C3A9DA33B55C}"/>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Whenever there is any action, before calling the event handler of action, WDDOBEFOREACTION method gets called.</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purpose of this method is to validate the input.</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just like AT SELECTION-SCREEN event of classical reports.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Web dynpro framework automatically restricts to enter into event handler method, if any attribute related error messages are there in </a:t>
            </a:r>
            <a:r>
              <a:rPr lang="en-US" sz="2400" dirty="0">
                <a:latin typeface="Calibri" panose="020F0502020204030204" pitchFamily="34" charset="0"/>
                <a:cs typeface="Calibri" panose="020F0502020204030204" pitchFamily="34" charset="0"/>
              </a:rPr>
              <a:t>WDDOBEFOREACTION method.</a:t>
            </a: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421205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34</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7904</TotalTime>
  <Words>1982</Words>
  <Application>Microsoft Office PowerPoint</Application>
  <PresentationFormat>Widescreen</PresentationFormat>
  <Paragraphs>178</Paragraphs>
  <Slides>34</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Google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2312</cp:revision>
  <dcterms:modified xsi:type="dcterms:W3CDTF">2025-06-03T16:40:50Z</dcterms:modified>
</cp:coreProperties>
</file>