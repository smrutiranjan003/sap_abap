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9" r:id="rId2"/>
    <p:sldId id="837" r:id="rId3"/>
    <p:sldId id="920" r:id="rId4"/>
    <p:sldId id="921" r:id="rId5"/>
    <p:sldId id="922" r:id="rId6"/>
    <p:sldId id="923" r:id="rId7"/>
    <p:sldId id="924" r:id="rId8"/>
    <p:sldId id="930" r:id="rId9"/>
    <p:sldId id="931" r:id="rId10"/>
    <p:sldId id="932" r:id="rId11"/>
    <p:sldId id="933" r:id="rId12"/>
    <p:sldId id="934" r:id="rId13"/>
    <p:sldId id="948" r:id="rId14"/>
    <p:sldId id="935" r:id="rId15"/>
    <p:sldId id="936" r:id="rId16"/>
    <p:sldId id="925" r:id="rId17"/>
    <p:sldId id="926" r:id="rId18"/>
    <p:sldId id="937" r:id="rId19"/>
    <p:sldId id="938" r:id="rId20"/>
    <p:sldId id="940" r:id="rId21"/>
    <p:sldId id="941" r:id="rId22"/>
    <p:sldId id="946" r:id="rId23"/>
    <p:sldId id="947" r:id="rId24"/>
    <p:sldId id="942" r:id="rId25"/>
    <p:sldId id="943" r:id="rId26"/>
    <p:sldId id="944" r:id="rId27"/>
    <p:sldId id="927" r:id="rId28"/>
    <p:sldId id="950" r:id="rId29"/>
    <p:sldId id="928" r:id="rId30"/>
    <p:sldId id="929" r:id="rId31"/>
    <p:sldId id="949" r:id="rId32"/>
    <p:sldId id="919" r:id="rId3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37" autoAdjust="0"/>
    <p:restoredTop sz="83308" autoAdjust="0"/>
  </p:normalViewPr>
  <p:slideViewPr>
    <p:cSldViewPr snapToGrid="0">
      <p:cViewPr varScale="1">
        <p:scale>
          <a:sx n="82" d="100"/>
          <a:sy n="82" d="100"/>
        </p:scale>
        <p:origin x="55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 name="Shape 92"/>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93" name="Shape 9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6631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31898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42907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906218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784365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49757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407143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605105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381406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4313982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33439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610216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786716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426169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89414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17606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580753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458538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498071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732492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363913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233324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112136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4802914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730609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996671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787818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016406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699526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595794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658453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7586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1" name="Title Text"/>
          <p:cNvSpPr txBox="1">
            <a:spLocks noGrp="1"/>
          </p:cNvSpPr>
          <p:nvPr>
            <p:ph type="title"/>
          </p:nvPr>
        </p:nvSpPr>
        <p:spPr>
          <a:prstGeom prst="rect">
            <a:avLst/>
          </a:prstGeom>
        </p:spPr>
        <p:txBody>
          <a:bodyPr/>
          <a:lstStyle/>
          <a:p>
            <a:r>
              <a:t>Title Text</a:t>
            </a:r>
          </a:p>
        </p:txBody>
      </p:sp>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831852" y="1709738"/>
            <a:ext cx="10515601" cy="2852737"/>
          </a:xfrm>
          <a:prstGeom prst="rect">
            <a:avLst/>
          </a:prstGeom>
        </p:spPr>
        <p:txBody>
          <a:bodyPr anchor="b"/>
          <a:lstStyle>
            <a:lvl1pPr>
              <a:defRPr sz="6000"/>
            </a:lvl1pPr>
          </a:lstStyle>
          <a:p>
            <a:r>
              <a:t>Title Text</a:t>
            </a:r>
          </a:p>
        </p:txBody>
      </p:sp>
      <p:sp>
        <p:nvSpPr>
          <p:cNvPr id="31" name="Body Level One…"/>
          <p:cNvSpPr txBox="1">
            <a:spLocks noGrp="1"/>
          </p:cNvSpPr>
          <p:nvPr>
            <p:ph type="body" sz="quarter" idx="1"/>
          </p:nvPr>
        </p:nvSpPr>
        <p:spPr>
          <a:xfrm>
            <a:off x="831852" y="4589464"/>
            <a:ext cx="10515601" cy="1500188"/>
          </a:xfrm>
          <a:prstGeom prst="rect">
            <a:avLst/>
          </a:prstGeom>
        </p:spPr>
        <p:txBody>
          <a:bodyPr/>
          <a:lstStyle>
            <a:lvl1pPr marL="0" indent="0">
              <a:buSzTx/>
              <a:buFontTx/>
              <a:buNone/>
              <a:defRPr sz="2400">
                <a:solidFill>
                  <a:srgbClr val="888888"/>
                </a:solidFill>
              </a:defRPr>
            </a:lvl1pPr>
            <a:lvl2pPr marL="0" indent="457206">
              <a:buSzTx/>
              <a:buFontTx/>
              <a:buNone/>
              <a:defRPr sz="2400">
                <a:solidFill>
                  <a:srgbClr val="888888"/>
                </a:solidFill>
              </a:defRPr>
            </a:lvl2pPr>
            <a:lvl3pPr marL="0" indent="914411">
              <a:buSzTx/>
              <a:buFontTx/>
              <a:buNone/>
              <a:defRPr sz="2400">
                <a:solidFill>
                  <a:srgbClr val="888888"/>
                </a:solidFill>
              </a:defRPr>
            </a:lvl3pPr>
            <a:lvl4pPr marL="0" indent="1371616">
              <a:buSzTx/>
              <a:buFontTx/>
              <a:buNone/>
              <a:defRPr sz="2400">
                <a:solidFill>
                  <a:srgbClr val="888888"/>
                </a:solidFill>
              </a:defRPr>
            </a:lvl4pPr>
            <a:lvl5pPr marL="0" indent="1828823">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2"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39" name="Title Text"/>
          <p:cNvSpPr txBox="1">
            <a:spLocks noGrp="1"/>
          </p:cNvSpPr>
          <p:nvPr>
            <p:ph type="title"/>
          </p:nvPr>
        </p:nvSpPr>
        <p:spPr>
          <a:prstGeom prst="rect">
            <a:avLst/>
          </a:prstGeom>
        </p:spPr>
        <p:txBody>
          <a:bodyPr/>
          <a:lstStyle/>
          <a:p>
            <a:r>
              <a:t>Title Text</a:t>
            </a:r>
          </a:p>
        </p:txBody>
      </p:sp>
      <p:sp>
        <p:nvSpPr>
          <p:cNvPr id="40" name="Body Level One…"/>
          <p:cNvSpPr txBox="1">
            <a:spLocks noGrp="1"/>
          </p:cNvSpPr>
          <p:nvPr>
            <p:ph type="body" sz="half" idx="1"/>
          </p:nvPr>
        </p:nvSpPr>
        <p:spPr>
          <a:xfrm>
            <a:off x="838200" y="1825625"/>
            <a:ext cx="5181601"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48" name="Title Text"/>
          <p:cNvSpPr txBox="1">
            <a:spLocks noGrp="1"/>
          </p:cNvSpPr>
          <p:nvPr>
            <p:ph type="title"/>
          </p:nvPr>
        </p:nvSpPr>
        <p:spPr>
          <a:xfrm>
            <a:off x="839788" y="365125"/>
            <a:ext cx="10515601" cy="1325563"/>
          </a:xfrm>
          <a:prstGeom prst="rect">
            <a:avLst/>
          </a:prstGeom>
        </p:spPr>
        <p:txBody>
          <a:bodyPr/>
          <a:lstStyle/>
          <a:p>
            <a:r>
              <a:t>Title Text</a:t>
            </a:r>
          </a:p>
        </p:txBody>
      </p:sp>
      <p:sp>
        <p:nvSpPr>
          <p:cNvPr id="49" name="Body Level One…"/>
          <p:cNvSpPr txBox="1">
            <a:spLocks noGrp="1"/>
          </p:cNvSpPr>
          <p:nvPr>
            <p:ph type="body" sz="quarter" idx="1"/>
          </p:nvPr>
        </p:nvSpPr>
        <p:spPr>
          <a:xfrm>
            <a:off x="839788" y="1681163"/>
            <a:ext cx="5157789" cy="823913"/>
          </a:xfrm>
          <a:prstGeom prst="rect">
            <a:avLst/>
          </a:prstGeom>
        </p:spPr>
        <p:txBody>
          <a:bodyPr anchor="b"/>
          <a:lstStyle>
            <a:lvl1pPr marL="0" indent="0">
              <a:buSzTx/>
              <a:buFontTx/>
              <a:buNone/>
              <a:defRPr sz="2400" b="1"/>
            </a:lvl1pPr>
            <a:lvl2pPr marL="0" indent="457206">
              <a:buSzTx/>
              <a:buFontTx/>
              <a:buNone/>
              <a:defRPr sz="2400" b="1"/>
            </a:lvl2pPr>
            <a:lvl3pPr marL="0" indent="914411">
              <a:buSzTx/>
              <a:buFontTx/>
              <a:buNone/>
              <a:defRPr sz="2400" b="1"/>
            </a:lvl3pPr>
            <a:lvl4pPr marL="0" indent="1371616">
              <a:buSzTx/>
              <a:buFontTx/>
              <a:buNone/>
              <a:defRPr sz="2400" b="1"/>
            </a:lvl4pPr>
            <a:lvl5pPr marL="0" indent="1828823">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0" name="Text Placeholder 4"/>
          <p:cNvSpPr>
            <a:spLocks noGrp="1"/>
          </p:cNvSpPr>
          <p:nvPr>
            <p:ph type="body" sz="quarter" idx="21"/>
          </p:nvPr>
        </p:nvSpPr>
        <p:spPr>
          <a:xfrm>
            <a:off x="6172201" y="1681163"/>
            <a:ext cx="5183189" cy="823913"/>
          </a:xfrm>
          <a:prstGeom prst="rect">
            <a:avLst/>
          </a:prstGeom>
        </p:spPr>
        <p:txBody>
          <a:bodyPr anchor="b"/>
          <a:lstStyle/>
          <a:p>
            <a:pPr marL="0" indent="0">
              <a:buSzTx/>
              <a:buFontTx/>
              <a:buNone/>
              <a:defRPr sz="2400" b="1"/>
            </a:pPr>
            <a:endParaRP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58" name="Title Text"/>
          <p:cNvSpPr txBox="1">
            <a:spLocks noGrp="1"/>
          </p:cNvSpPr>
          <p:nvPr>
            <p:ph type="title"/>
          </p:nvPr>
        </p:nvSpPr>
        <p:spPr>
          <a:prstGeom prst="rect">
            <a:avLst/>
          </a:prstGeom>
        </p:spPr>
        <p:txBody>
          <a:bodyPr/>
          <a:lstStyle/>
          <a:p>
            <a:r>
              <a:t>Title Text</a:t>
            </a: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74" name="Body Level One…"/>
          <p:cNvSpPr txBox="1">
            <a:spLocks noGrp="1"/>
          </p:cNvSpPr>
          <p:nvPr>
            <p:ph type="body" sz="half" idx="1"/>
          </p:nvPr>
        </p:nvSpPr>
        <p:spPr>
          <a:xfrm>
            <a:off x="5183187" y="987425"/>
            <a:ext cx="6172203" cy="4873625"/>
          </a:xfrm>
          <a:prstGeom prst="rect">
            <a:avLst/>
          </a:prstGeom>
        </p:spPr>
        <p:txBody>
          <a:bodyPr/>
          <a:lstStyle>
            <a:lvl1pPr>
              <a:defRPr sz="3200"/>
            </a:lvl1pPr>
            <a:lvl2pPr marL="718466" indent="-261261">
              <a:defRPr sz="3200"/>
            </a:lvl2pPr>
            <a:lvl3pPr marL="1219216" indent="-304805">
              <a:defRPr sz="3200"/>
            </a:lvl3pPr>
            <a:lvl4pPr marL="1737383" indent="-365766">
              <a:defRPr sz="3200"/>
            </a:lvl4pPr>
            <a:lvl5pPr marL="2194589" indent="-365766">
              <a:defRPr sz="3200"/>
            </a:lvl5pPr>
          </a:lstStyle>
          <a:p>
            <a:r>
              <a:t>Body Level One</a:t>
            </a:r>
          </a:p>
          <a:p>
            <a:pPr lvl="1"/>
            <a:r>
              <a:t>Body Level Two</a:t>
            </a:r>
          </a:p>
          <a:p>
            <a:pPr lvl="2"/>
            <a:r>
              <a:t>Body Level Three</a:t>
            </a:r>
          </a:p>
          <a:p>
            <a:pPr lvl="3"/>
            <a:r>
              <a:t>Body Level Four</a:t>
            </a:r>
          </a:p>
          <a:p>
            <a:pPr lvl="4"/>
            <a:r>
              <a:t>Body Level Five</a:t>
            </a:r>
          </a:p>
        </p:txBody>
      </p:sp>
      <p:sp>
        <p:nvSpPr>
          <p:cNvPr id="75" name="Text Placeholder 3"/>
          <p:cNvSpPr>
            <a:spLocks noGrp="1"/>
          </p:cNvSpPr>
          <p:nvPr>
            <p:ph type="body" sz="quarter" idx="21"/>
          </p:nvPr>
        </p:nvSpPr>
        <p:spPr>
          <a:xfrm>
            <a:off x="839790" y="2057400"/>
            <a:ext cx="3932236" cy="3811588"/>
          </a:xfrm>
          <a:prstGeom prst="rect">
            <a:avLst/>
          </a:prstGeom>
        </p:spPr>
        <p:txBody>
          <a:bodyPr/>
          <a:lstStyle/>
          <a:p>
            <a:pPr marL="0" indent="0">
              <a:buSzTx/>
              <a:buFontTx/>
              <a:buNone/>
              <a:defRPr sz="1600"/>
            </a:pPr>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84" name="Picture Placeholder 2"/>
          <p:cNvSpPr>
            <a:spLocks noGrp="1"/>
          </p:cNvSpPr>
          <p:nvPr>
            <p:ph type="pic" sz="half" idx="21"/>
          </p:nvPr>
        </p:nvSpPr>
        <p:spPr>
          <a:xfrm>
            <a:off x="5183187" y="987425"/>
            <a:ext cx="6172203" cy="4873625"/>
          </a:xfrm>
          <a:prstGeom prst="rect">
            <a:avLst/>
          </a:prstGeom>
        </p:spPr>
        <p:txBody>
          <a:bodyPr lIns="91439" rIns="91439">
            <a:noAutofit/>
          </a:bodyPr>
          <a:lstStyle/>
          <a:p>
            <a:endParaRPr dirty="0"/>
          </a:p>
        </p:txBody>
      </p:sp>
      <p:sp>
        <p:nvSpPr>
          <p:cNvPr id="85" name="Body Level One…"/>
          <p:cNvSpPr txBox="1">
            <a:spLocks noGrp="1"/>
          </p:cNvSpPr>
          <p:nvPr>
            <p:ph type="body" sz="quarter" idx="1"/>
          </p:nvPr>
        </p:nvSpPr>
        <p:spPr>
          <a:xfrm>
            <a:off x="839790" y="2057400"/>
            <a:ext cx="3932236" cy="3811588"/>
          </a:xfrm>
          <a:prstGeom prst="rect">
            <a:avLst/>
          </a:prstGeom>
        </p:spPr>
        <p:txBody>
          <a:bodyPr/>
          <a:lstStyle>
            <a:lvl1pPr marL="0" indent="0">
              <a:buSzTx/>
              <a:buFontTx/>
              <a:buNone/>
              <a:defRPr sz="1600"/>
            </a:lvl1pPr>
            <a:lvl2pPr marL="0" indent="457206">
              <a:buSzTx/>
              <a:buFontTx/>
              <a:buNone/>
              <a:defRPr sz="1600"/>
            </a:lvl2pPr>
            <a:lvl3pPr marL="0" indent="914411">
              <a:buSzTx/>
              <a:buFontTx/>
              <a:buNone/>
              <a:defRPr sz="1600"/>
            </a:lvl3pPr>
            <a:lvl4pPr marL="0" indent="1371616">
              <a:buSzTx/>
              <a:buFontTx/>
              <a:buNone/>
              <a:defRPr sz="1600"/>
            </a:lvl4pPr>
            <a:lvl5pPr marL="0" indent="1828823">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2" y="365125"/>
            <a:ext cx="10515601"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2" y="1825625"/>
            <a:ext cx="10515601" cy="43513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traight Connector 6"/>
          <p:cNvSpPr/>
          <p:nvPr/>
        </p:nvSpPr>
        <p:spPr>
          <a:xfrm flipH="1" flipV="1">
            <a:off x="11366378" y="6459014"/>
            <a:ext cx="3" cy="159415"/>
          </a:xfrm>
          <a:prstGeom prst="line">
            <a:avLst/>
          </a:prstGeom>
          <a:ln w="19050" cap="rnd">
            <a:solidFill>
              <a:srgbClr val="8ED656"/>
            </a:solidFill>
            <a:miter/>
          </a:ln>
        </p:spPr>
        <p:txBody>
          <a:bodyPr lIns="45719" rIns="45719"/>
          <a:lstStyle/>
          <a:p>
            <a:endParaRPr dirty="0"/>
          </a:p>
        </p:txBody>
      </p:sp>
      <p:sp>
        <p:nvSpPr>
          <p:cNvPr id="5" name="Slide Number"/>
          <p:cNvSpPr txBox="1">
            <a:spLocks noGrp="1"/>
          </p:cNvSpPr>
          <p:nvPr>
            <p:ph type="sldNum" sz="quarter" idx="2"/>
          </p:nvPr>
        </p:nvSpPr>
        <p:spPr>
          <a:xfrm>
            <a:off x="11095177"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Lst>
  <p:transition spd="med"/>
  <p:txStyles>
    <p:titleStyle>
      <a:lvl1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3" marR="0" indent="-228603"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9" marR="0" indent="-266704"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56" marR="0" indent="-320045"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23"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29"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34"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40"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46"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51"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a:t>
            </a:fld>
            <a:endParaRPr dirty="0"/>
          </a:p>
        </p:txBody>
      </p:sp>
      <p:sp>
        <p:nvSpPr>
          <p:cNvPr id="207" name="TextBox 17"/>
          <p:cNvSpPr txBox="1"/>
          <p:nvPr/>
        </p:nvSpPr>
        <p:spPr>
          <a:xfrm>
            <a:off x="1707502" y="2460208"/>
            <a:ext cx="8014996"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SAP ABAP New Syntax</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SAP ABAP New Syntax or ABAP 7.4 / 7.5</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During the release of ABAP version 7.4, SAP introduced a new approach to ABAP programming.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this new approach of ABAP programming, SAP introduced various new ABAP elements.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new approach to ABAP programming is called as SAP ABAP new syntax.</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new approach to the ABAP programming has been introduced from ABAP version 7.4 onwards, So the SAP ABAP new syntax is also called as ABAP 7.4 / 7.5</a:t>
            </a:r>
          </a:p>
        </p:txBody>
      </p:sp>
    </p:spTree>
    <p:extLst>
      <p:ext uri="{BB962C8B-B14F-4D97-AF65-F5344CB8AC3E}">
        <p14:creationId xmlns:p14="http://schemas.microsoft.com/office/powerpoint/2010/main" val="242441063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SAP ABAP New Syntax or ABAP 7.4 / 7.5(Contd.)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These new syntax has been added without removing the old syntax.</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These new syntax works in both ECC and S/4 HANA systems as it is based upon ABAP version 7.4 onwards.</a:t>
            </a:r>
          </a:p>
        </p:txBody>
      </p:sp>
    </p:spTree>
    <p:extLst>
      <p:ext uri="{BB962C8B-B14F-4D97-AF65-F5344CB8AC3E}">
        <p14:creationId xmlns:p14="http://schemas.microsoft.com/office/powerpoint/2010/main" val="407432780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Advantages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SAP ABAP new syntax are more efficient and convenient way to write the code as we can write the code using less number of lines.</a:t>
            </a:r>
          </a:p>
        </p:txBody>
      </p:sp>
    </p:spTree>
    <p:extLst>
      <p:ext uri="{BB962C8B-B14F-4D97-AF65-F5344CB8AC3E}">
        <p14:creationId xmlns:p14="http://schemas.microsoft.com/office/powerpoint/2010/main" val="80039487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Disadvantages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New developers face difficulties specially in support or maintenance projects, as they directly starts with new syntax and they have not seen the old syntax.</a:t>
            </a:r>
          </a:p>
        </p:txBody>
      </p:sp>
    </p:spTree>
    <p:extLst>
      <p:ext uri="{BB962C8B-B14F-4D97-AF65-F5344CB8AC3E}">
        <p14:creationId xmlns:p14="http://schemas.microsoft.com/office/powerpoint/2010/main" val="414941058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Inline Data Declarations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66368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Inline data declarations is a new way of data declaration.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old way of data declaration, we need to declare the objects like variables, types, internal tables and work areas first then we can use those objects.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old way of declaration is called as explicit or external data declaration.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the new way of data declaration, there is no need to declare the objects separately.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declare the object where we use it.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keyword  DATA is used for inline data declarations.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5970686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COND Statement as a Replacement of IF</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use IF as a conditional statement.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SAP ABAP new syntax, instead of IF statement, we can use the COND statement.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IF statement, we need to specify the variable which is getting filled in every condition.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COND statement, we need not to mention the variable which is getting filled in every condition, so COND statement is more effective way for conditional logic rather than IF statement.</a:t>
            </a:r>
          </a:p>
        </p:txBody>
      </p:sp>
    </p:spTree>
    <p:extLst>
      <p:ext uri="{BB962C8B-B14F-4D97-AF65-F5344CB8AC3E}">
        <p14:creationId xmlns:p14="http://schemas.microsoft.com/office/powerpoint/2010/main" val="89602207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SWITCH Statement as a Replacement of CASE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use CASE also as a conditional statement.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SAP ABAP new syntax, instead of CASE statement, we can use the SWITCH statement.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CASE statement, we need to specify the variable which is getting filled in every condition.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SWITCH statement, we need not to mention the variable which is getting filled in every condition.</a:t>
            </a:r>
          </a:p>
        </p:txBody>
      </p:sp>
    </p:spTree>
    <p:extLst>
      <p:ext uri="{BB962C8B-B14F-4D97-AF65-F5344CB8AC3E}">
        <p14:creationId xmlns:p14="http://schemas.microsoft.com/office/powerpoint/2010/main" val="401723608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String Expression as a Replacement of CONCATENATE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use CONCATENATE string operation to combine the strings.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SAP ABAP new syntax, instead of CONCATENATE, we can use the string expressions.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While using string expression, we need to use the pipe( | ) symbol at the starting and at the end.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variables must be enclosed in curly brackets{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must be a space between bracket and variable.</a:t>
            </a:r>
          </a:p>
        </p:txBody>
      </p:sp>
    </p:spTree>
    <p:extLst>
      <p:ext uri="{BB962C8B-B14F-4D97-AF65-F5344CB8AC3E}">
        <p14:creationId xmlns:p14="http://schemas.microsoft.com/office/powerpoint/2010/main" val="276869240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String Expression as a Replacement of CONCATENATE(Contd.)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advantages of using string expression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is no need of using SEPARATED BY in string expression to provide the separator whereas in CONCATENATE we need to provide the separator using SEPARATED BY.</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is no need of type casting for numeric data types as string expression works for both character and numeric data types whereas string operation CONCATENATE is only applicable for character data types, for numeric data types we need to do the type casting first.   </a:t>
            </a:r>
          </a:p>
        </p:txBody>
      </p:sp>
    </p:spTree>
    <p:extLst>
      <p:ext uri="{BB962C8B-B14F-4D97-AF65-F5344CB8AC3E}">
        <p14:creationId xmlns:p14="http://schemas.microsoft.com/office/powerpoint/2010/main" val="296818825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VALUE Expression as a Replacement of APPEND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use APPEND statement to insert the records at the last of the internal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SAP ABAP new syntax, instead of APPEND statement, we can use VALUE expression.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VALUE expression is a powerful mechanism to declare as well as initialize the internal tables.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a powerful utility where we can achieve the result with minimal coding.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480827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VALUE Expression as a Replacement of APPEND(Contd.)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VALUE expression is of 2 types. The 2 types are as follows: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Define the type before using it with VALUE keyword.  The type defined is structure type or table type.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Using # character for type and use it with VALUE keyword.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0115930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Use of BASE in VALUE Expression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When we don’t want to overwrite the existing values of the internal table we use BASE in value expression.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values of the BASE table acts as a initial values for the target table and after that the new values are inserted to the target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very useful in loops when we want to append the rows to the target internal table using VALUE expression.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9480373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CORRESPONDING Operator</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Previously to move data to from one internal table to another internal table which has a different structure, we need to firstly pass the data from one work area to another work area and then use the APPEND statement to insert the data to another internal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SAP ABAP new syntax, The CORRESPONDING operator is used to move data between the internal tables.</a:t>
            </a:r>
          </a:p>
        </p:txBody>
      </p:sp>
    </p:spTree>
    <p:extLst>
      <p:ext uri="{BB962C8B-B14F-4D97-AF65-F5344CB8AC3E}">
        <p14:creationId xmlns:p14="http://schemas.microsoft.com/office/powerpoint/2010/main" val="899016066"/>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CORRESPONDING Operator( 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version of CORRESPONDING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CORRESPONDING  - Moves data between the internal tables for the matching columns.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CORRESPONDING WITH MAPPING - This is used to map the data of one column to another column.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CORRESPONDING WITH EXCEPT - This is used to move the data of the selected matching columns.</a:t>
            </a:r>
          </a:p>
        </p:txBody>
      </p:sp>
    </p:spTree>
    <p:extLst>
      <p:ext uri="{BB962C8B-B14F-4D97-AF65-F5344CB8AC3E}">
        <p14:creationId xmlns:p14="http://schemas.microsoft.com/office/powerpoint/2010/main" val="15254455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16</a:t>
            </a:fld>
            <a:endParaRPr dirty="0"/>
          </a:p>
        </p:txBody>
      </p:sp>
      <p:sp>
        <p:nvSpPr>
          <p:cNvPr id="207" name="TextBox 17"/>
          <p:cNvSpPr txBox="1"/>
          <p:nvPr/>
        </p:nvSpPr>
        <p:spPr>
          <a:xfrm>
            <a:off x="93306" y="357542"/>
            <a:ext cx="11935564"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ALPHA Keyword With IN or OUT as a Replacement of Conversion FM’s </a:t>
            </a:r>
          </a:p>
        </p:txBody>
      </p:sp>
      <p:sp>
        <p:nvSpPr>
          <p:cNvPr id="208" name="Straight Connector 18"/>
          <p:cNvSpPr/>
          <p:nvPr/>
        </p:nvSpPr>
        <p:spPr>
          <a:xfrm flipH="1">
            <a:off x="93303" y="1063688"/>
            <a:ext cx="11935566" cy="933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use the function modules CONVERSION_EXIT_ALPHA_INPUT and CONVERSION_EXIT_ALPHA_OUTPUT for conversions.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CONVERSION_EXIT_ALPHA_INPUT is used to add the leading zero’s and CONVERSION_EXIT_ALPHA_OUTPUT is used to remove the leading zero’s.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SAP ABAP new syntax, instead of using these function modules, we can use the ALPHA keyword with IN which is used to add the leading zero’s and ALPHA keyword with OUT to remove the leading zero’s.</a:t>
            </a:r>
          </a:p>
        </p:txBody>
      </p:sp>
    </p:spTree>
    <p:extLst>
      <p:ext uri="{BB962C8B-B14F-4D97-AF65-F5344CB8AC3E}">
        <p14:creationId xmlns:p14="http://schemas.microsoft.com/office/powerpoint/2010/main" val="127919352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NEW Keyword as a Replacement of CREATE OBJECT Statement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use CREATE OBJECT statement to create an object of the class.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SAP ABAP new syntax, instead of CREATE OBJECT, we can use the NEW keyword to create an object of the class.</a:t>
            </a:r>
          </a:p>
        </p:txBody>
      </p:sp>
    </p:spTree>
    <p:extLst>
      <p:ext uri="{BB962C8B-B14F-4D97-AF65-F5344CB8AC3E}">
        <p14:creationId xmlns:p14="http://schemas.microsoft.com/office/powerpoint/2010/main" val="29529072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LET Expression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 LET expression defines variables or field symbols in an expression and assign values to them.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It works as a local helper or local declarations for the expression.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important points related to LET expression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Variables or field-symbols defined for LET expression can’t be used outside the scope of the expression.</a:t>
            </a:r>
          </a:p>
        </p:txBody>
      </p:sp>
    </p:spTree>
    <p:extLst>
      <p:ext uri="{BB962C8B-B14F-4D97-AF65-F5344CB8AC3E}">
        <p14:creationId xmlns:p14="http://schemas.microsoft.com/office/powerpoint/2010/main" val="319251835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LET Expression(Contd.)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Variables or field-symbols defined for LET expressions can’t be redefined even if they are not accessible outside the scope of LET.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LET expression can be used in expressions like COND, SWITCH, VALUE, NEW, REDUCE etc.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0516594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CONV Operator</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CONV operator is used to convert a value to specified datatype.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Previously when we pass values to function module or class methods parameters, the variables which are used to pass the values must have the same data type as that of function module or class methods parameters.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If the variables don’t have the same data type, then we do the type casting by taking the helper variables and pass the helper variables. </a:t>
            </a:r>
          </a:p>
        </p:txBody>
      </p:sp>
    </p:spTree>
    <p:extLst>
      <p:ext uri="{BB962C8B-B14F-4D97-AF65-F5344CB8AC3E}">
        <p14:creationId xmlns:p14="http://schemas.microsoft.com/office/powerpoint/2010/main" val="133336499"/>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CONV Operator( 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SAP ABAP new syntax, instead of doing the type casting using helper variables and passing helper variables, we can use CONV operator to convert the value to specified data type.</a:t>
            </a:r>
          </a:p>
        </p:txBody>
      </p:sp>
    </p:spTree>
    <p:extLst>
      <p:ext uri="{BB962C8B-B14F-4D97-AF65-F5344CB8AC3E}">
        <p14:creationId xmlns:p14="http://schemas.microsoft.com/office/powerpoint/2010/main" val="2672802221"/>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REDUCE Operator As a Replacement of LOOP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also called as reduction operator.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Reduce operator creates a result of specified data type after going through iterations.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Previously we make a LOOP on the internal table and calculate the count, total, subtotal etc.</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SAP ABAP new syntax, instead of LOOP, we can use REDUCE operator to calculate the count , total, subtotal etc.</a:t>
            </a:r>
          </a:p>
        </p:txBody>
      </p:sp>
    </p:spTree>
    <p:extLst>
      <p:ext uri="{BB962C8B-B14F-4D97-AF65-F5344CB8AC3E}">
        <p14:creationId xmlns:p14="http://schemas.microsoft.com/office/powerpoint/2010/main" val="91550898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REDUCE Operator As a Replacement of LOOP(Contd.)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syntax to use a REDUCE operator is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REDUCE &lt;type&gt;( INIT ... FOR... THEN... UNTIL... NEXT...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the syntax - REDUCE = keyword,  &lt;type&gt; = data type of the result , INIT = initial value , FOR = initialize iteration , THEN = increment , UNTIL = iteration end condition , NEXT = operation.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the REDUCE syntax, even if THEN keyword is not specified the default increment value is 1.</a:t>
            </a:r>
          </a:p>
        </p:txBody>
      </p:sp>
    </p:spTree>
    <p:extLst>
      <p:ext uri="{BB962C8B-B14F-4D97-AF65-F5344CB8AC3E}">
        <p14:creationId xmlns:p14="http://schemas.microsoft.com/office/powerpoint/2010/main" val="856542449"/>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FILTER Operator</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FILTER operator is used to filter the internal table and getting the subset of data into a new internal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Previously, we filter the data by creating a loop with where condition and appending the data to new internal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SAP ABAP new syntax, instead of loop with where condition and appending the filtered data to new internal table, we can use filter operator.  	</a:t>
            </a:r>
          </a:p>
        </p:txBody>
      </p:sp>
    </p:spTree>
    <p:extLst>
      <p:ext uri="{BB962C8B-B14F-4D97-AF65-F5344CB8AC3E}">
        <p14:creationId xmlns:p14="http://schemas.microsoft.com/office/powerpoint/2010/main" val="2245122749"/>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FILTER Operator(Contd.)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2 ways to apply the FILTER operator.</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FILTER with single values - In this we pass the filtering values using WHERE condition and filtered data appears into new internal table.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FILTER with filter table - In this we need two internal tables. One internal table has the actual data on which filtering is applied and another is filter internal table which has the filter values used for filtering. 	</a:t>
            </a:r>
          </a:p>
        </p:txBody>
      </p:sp>
    </p:spTree>
    <p:extLst>
      <p:ext uri="{BB962C8B-B14F-4D97-AF65-F5344CB8AC3E}">
        <p14:creationId xmlns:p14="http://schemas.microsoft.com/office/powerpoint/2010/main" val="3699897698"/>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FILTER Operator(Contd.)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important points related to FILTER operator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internal table on which FILTER operator is used must have at least one sorted key or one hash key used for access.	 </a:t>
            </a:r>
            <a:r>
              <a:rPr lang="en-US" b="0" i="0" dirty="0">
                <a:effectLst/>
                <a:highlight>
                  <a:srgbClr val="FFFFFF"/>
                </a:highlight>
                <a:latin typeface="-apple-system"/>
              </a:rPr>
              <a:t>Filter operation will not work on internal table without a sort key or hash key.</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boolean operators OR cannot be used in the WHERE condition.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EXCEPT can be used with filter statement in single values as well as filter table.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52170231"/>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New Features of OPEN SQL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separator between the columns is comma(,).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ABAP data objects used in open SQL statements are called as host variables and they are prefixed with @.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use the conditional statements like CASE in the select list.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use the literals in the select list.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use the aggregate functions like SUM, COUNT, MAX, MIN, AVG.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use the arithmetic expressions like + , - , * , DIV,  MOD,  ABS, FLOOR, CEIL. </a:t>
            </a:r>
          </a:p>
        </p:txBody>
      </p:sp>
    </p:spTree>
    <p:extLst>
      <p:ext uri="{BB962C8B-B14F-4D97-AF65-F5344CB8AC3E}">
        <p14:creationId xmlns:p14="http://schemas.microsoft.com/office/powerpoint/2010/main" val="2874409070"/>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New Features of OPEN SQL(Contd.)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pass the element list after FROM clause also. When we specify the element list after FROM clause, we need to use FIELDS keyword.</a:t>
            </a:r>
          </a:p>
        </p:txBody>
      </p:sp>
    </p:spTree>
    <p:extLst>
      <p:ext uri="{BB962C8B-B14F-4D97-AF65-F5344CB8AC3E}">
        <p14:creationId xmlns:p14="http://schemas.microsoft.com/office/powerpoint/2010/main" val="2160808568"/>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Table Expressions as Replacement of READ TABLE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use READ TABLE statement to read the first matching record from the internal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read a record from the internal table based upon key or index.</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SAP ABAP new syntax, instead of READ TABLE, we can use the table expressions.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need to use the square bracket[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the square bracket, we need to specify the key or index.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71663057"/>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Table Expressions as Replacement of READ TABLE(Contd.)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While using table expression, If the table entry does not exist, system throws the exception CX_SY_ITAB_LINE_NOT_FOUND.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use line_exists statement or TRY/CATCH block or VALUE expression with </a:t>
            </a:r>
            <a:r>
              <a:rPr lang="en-US" altLang="en-US" sz="2400">
                <a:solidFill>
                  <a:srgbClr val="3B3838"/>
                </a:solidFill>
                <a:latin typeface="Calibri" panose="020F0502020204030204" pitchFamily="34" charset="0"/>
                <a:cs typeface="Calibri" panose="020F0502020204030204" pitchFamily="34" charset="0"/>
              </a:rPr>
              <a:t>OPTIONAL keyword to </a:t>
            </a:r>
            <a:r>
              <a:rPr lang="en-US" altLang="en-US" sz="2400" dirty="0">
                <a:solidFill>
                  <a:srgbClr val="3B3838"/>
                </a:solidFill>
                <a:latin typeface="Calibri" panose="020F0502020204030204" pitchFamily="34" charset="0"/>
                <a:cs typeface="Calibri" panose="020F0502020204030204" pitchFamily="34" charset="0"/>
              </a:rPr>
              <a:t>check the existence of a record.</a:t>
            </a:r>
          </a:p>
        </p:txBody>
      </p:sp>
    </p:spTree>
    <p:extLst>
      <p:ext uri="{BB962C8B-B14F-4D97-AF65-F5344CB8AC3E}">
        <p14:creationId xmlns:p14="http://schemas.microsoft.com/office/powerpoint/2010/main" val="1392652559"/>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JOIN Improvement - Use of symbol *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Previously, if we want to fetch the data of all columns of a table, we can not use  * for that particular table in the join.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SAP ABAP new syntax, we can use * to fetch the data of all columns of a particular table in the join.</a:t>
            </a:r>
          </a:p>
        </p:txBody>
      </p:sp>
    </p:spTree>
    <p:extLst>
      <p:ext uri="{BB962C8B-B14F-4D97-AF65-F5344CB8AC3E}">
        <p14:creationId xmlns:p14="http://schemas.microsoft.com/office/powerpoint/2010/main" val="3271025331"/>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32</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Thank You</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extLst>
      <p:ext uri="{BB962C8B-B14F-4D97-AF65-F5344CB8AC3E}">
        <p14:creationId xmlns:p14="http://schemas.microsoft.com/office/powerpoint/2010/main" val="883752571"/>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8584</TotalTime>
  <Words>2112</Words>
  <Application>Microsoft Office PowerPoint</Application>
  <PresentationFormat>Widescreen</PresentationFormat>
  <Paragraphs>159</Paragraphs>
  <Slides>32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-apple-system</vt: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Mehta</dc:creator>
  <cp:lastModifiedBy>Rahul Mehta</cp:lastModifiedBy>
  <cp:revision>2296</cp:revision>
  <dcterms:modified xsi:type="dcterms:W3CDTF">2024-08-06T16:51:05Z</dcterms:modified>
</cp:coreProperties>
</file>