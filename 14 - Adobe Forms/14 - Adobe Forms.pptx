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9" r:id="rId2"/>
    <p:sldId id="837" r:id="rId3"/>
    <p:sldId id="955" r:id="rId4"/>
    <p:sldId id="937" r:id="rId5"/>
    <p:sldId id="938" r:id="rId6"/>
    <p:sldId id="939" r:id="rId7"/>
    <p:sldId id="940" r:id="rId8"/>
    <p:sldId id="941" r:id="rId9"/>
    <p:sldId id="954" r:id="rId10"/>
    <p:sldId id="942" r:id="rId11"/>
    <p:sldId id="943" r:id="rId12"/>
    <p:sldId id="944" r:id="rId13"/>
    <p:sldId id="945" r:id="rId14"/>
    <p:sldId id="946" r:id="rId15"/>
    <p:sldId id="947" r:id="rId16"/>
    <p:sldId id="948" r:id="rId17"/>
    <p:sldId id="949" r:id="rId18"/>
    <p:sldId id="950" r:id="rId19"/>
    <p:sldId id="983" r:id="rId20"/>
    <p:sldId id="985" r:id="rId21"/>
    <p:sldId id="986" r:id="rId22"/>
    <p:sldId id="990" r:id="rId23"/>
    <p:sldId id="989" r:id="rId24"/>
    <p:sldId id="951" r:id="rId25"/>
    <p:sldId id="952" r:id="rId26"/>
    <p:sldId id="953" r:id="rId27"/>
    <p:sldId id="919" r:id="rId2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7" autoAdjust="0"/>
    <p:restoredTop sz="83308" autoAdjust="0"/>
  </p:normalViewPr>
  <p:slideViewPr>
    <p:cSldViewPr snapToGrid="0">
      <p:cViewPr varScale="1">
        <p:scale>
          <a:sx n="82" d="100"/>
          <a:sy n="82" d="100"/>
        </p:scale>
        <p:origin x="55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6631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898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4668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7144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4136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5228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655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3196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6148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9980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60767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9466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41798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4937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0804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52211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90602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88336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16068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96765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65893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70974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86559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06669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60482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31975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7586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831852" y="1709738"/>
            <a:ext cx="105156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2" y="4589464"/>
            <a:ext cx="105156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6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11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16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23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8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6">
              <a:buSzTx/>
              <a:buFontTx/>
              <a:buNone/>
              <a:defRPr sz="2400" b="1"/>
            </a:lvl2pPr>
            <a:lvl3pPr marL="0" indent="914411">
              <a:buSzTx/>
              <a:buFontTx/>
              <a:buNone/>
              <a:defRPr sz="2400" b="1"/>
            </a:lvl3pPr>
            <a:lvl4pPr marL="0" indent="1371616">
              <a:buSzTx/>
              <a:buFontTx/>
              <a:buNone/>
              <a:defRPr sz="2400" b="1"/>
            </a:lvl4pPr>
            <a:lvl5pPr marL="0" indent="1828823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1" y="1681163"/>
            <a:ext cx="5183189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66" indent="-261261">
              <a:defRPr sz="3200"/>
            </a:lvl2pPr>
            <a:lvl3pPr marL="1219216" indent="-304805">
              <a:defRPr sz="3200"/>
            </a:lvl3pPr>
            <a:lvl4pPr marL="1737383" indent="-365766">
              <a:defRPr sz="3200"/>
            </a:lvl4pPr>
            <a:lvl5pPr marL="2194589" indent="-365766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Text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4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6">
              <a:buSzTx/>
              <a:buFontTx/>
              <a:buNone/>
              <a:defRPr sz="1600"/>
            </a:lvl2pPr>
            <a:lvl3pPr marL="0" indent="914411">
              <a:buSzTx/>
              <a:buFontTx/>
              <a:buNone/>
              <a:defRPr sz="1600"/>
            </a:lvl3pPr>
            <a:lvl4pPr marL="0" indent="1371616">
              <a:buSzTx/>
              <a:buFontTx/>
              <a:buNone/>
              <a:defRPr sz="1600"/>
            </a:lvl4pPr>
            <a:lvl5pPr marL="0" indent="1828823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traight Connector 6"/>
          <p:cNvSpPr/>
          <p:nvPr/>
        </p:nvSpPr>
        <p:spPr>
          <a:xfrm flipH="1" flipV="1">
            <a:off x="11366378" y="6459014"/>
            <a:ext cx="3" cy="159415"/>
          </a:xfrm>
          <a:prstGeom prst="line">
            <a:avLst/>
          </a:prstGeom>
          <a:ln w="190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7" y="6414761"/>
            <a:ext cx="258624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</p:sldLayoutIdLst>
  <p:transition spd="med"/>
  <p:txStyles>
    <p:titleStyle>
      <a:lvl1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3" marR="0" indent="-228603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9" marR="0" indent="-266704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56" marR="0" indent="-320045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23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29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34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40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46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51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2020186" y="2460208"/>
            <a:ext cx="68473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</a:t>
            </a:r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Adobe Forms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16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1F4E79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IN" dirty="0"/>
          </a:p>
        </p:txBody>
      </p:sp>
      <p:sp>
        <p:nvSpPr>
          <p:cNvPr id="3" name="Straight Connector 18">
            <a:extLst>
              <a:ext uri="{FF2B5EF4-FFF2-40B4-BE49-F238E27FC236}">
                <a16:creationId xmlns:a16="http://schemas.microsoft.com/office/drawing/2014/main" id="{4DBA8D6F-AFF4-8D71-2B02-737781787B1E}"/>
              </a:ext>
            </a:extLst>
          </p:cNvPr>
          <p:cNvSpPr/>
          <p:nvPr/>
        </p:nvSpPr>
        <p:spPr>
          <a:xfrm flipH="1" flipV="1">
            <a:off x="191386" y="3168502"/>
            <a:ext cx="11758422" cy="53162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Adobe forms are interactive smartforms.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can interact with the output of adobe forms.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Adobe forms provides the output in the form of PDF.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for adobe forms is SFP.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adobe form, we need to create an interface, the same interface can be used in multiple adobe forms.</a:t>
            </a:r>
          </a:p>
        </p:txBody>
      </p:sp>
    </p:spTree>
    <p:extLst>
      <p:ext uri="{BB962C8B-B14F-4D97-AF65-F5344CB8AC3E}">
        <p14:creationId xmlns:p14="http://schemas.microsoft.com/office/powerpoint/2010/main" val="242441063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Introduction(Contd.)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Adobe form also generates a function module at run time.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Adobe livecycle designer (ADLC) is required to design a layout with the help of adobe forms.</a:t>
            </a:r>
          </a:p>
        </p:txBody>
      </p:sp>
    </p:spTree>
    <p:extLst>
      <p:ext uri="{BB962C8B-B14F-4D97-AF65-F5344CB8AC3E}">
        <p14:creationId xmlns:p14="http://schemas.microsoft.com/office/powerpoint/2010/main" val="98138799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Adobe Forms &amp; Smartforms Comparison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Smartforms are not interactive forms whereas adobe forms are Interactive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smartforms.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smartforms - The form interface, global definitions, pages, windows are all together whereas in adobe forms - The form interface, global definitions are the part of interface. We design the layout separately in a form.</a:t>
            </a:r>
          </a:p>
        </p:txBody>
      </p:sp>
    </p:spTree>
    <p:extLst>
      <p:ext uri="{BB962C8B-B14F-4D97-AF65-F5344CB8AC3E}">
        <p14:creationId xmlns:p14="http://schemas.microsoft.com/office/powerpoint/2010/main" val="104347874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Types of Interfaces in Adobe Forms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are 3 types of interfaces in adobe forms: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ABAP dictionary-based interface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XML schema-based interface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Smartform compatible interface</a:t>
            </a:r>
          </a:p>
        </p:txBody>
      </p:sp>
    </p:spTree>
    <p:extLst>
      <p:ext uri="{BB962C8B-B14F-4D97-AF65-F5344CB8AC3E}">
        <p14:creationId xmlns:p14="http://schemas.microsoft.com/office/powerpoint/2010/main" val="77687112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Types of Interfaces in Adobe Forms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ABAP dictionary-based interface - This interface has different standard parameters in the form interface.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XML schema-based interface - We use this interface type if we create forms in form builder in web dynpro for ABAP.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Smartform compatible interface - This interface also has different standard parameters in the form interface.</a:t>
            </a:r>
          </a:p>
        </p:txBody>
      </p:sp>
    </p:spTree>
    <p:extLst>
      <p:ext uri="{BB962C8B-B14F-4D97-AF65-F5344CB8AC3E}">
        <p14:creationId xmlns:p14="http://schemas.microsoft.com/office/powerpoint/2010/main" val="26144639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Types of Layouts in Adobe Forms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are 4 types of layouts in adobe forms: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Standard layout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ZCI layout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xACF layout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Unknown layout type</a:t>
            </a:r>
          </a:p>
        </p:txBody>
      </p:sp>
    </p:spTree>
    <p:extLst>
      <p:ext uri="{BB962C8B-B14F-4D97-AF65-F5344CB8AC3E}">
        <p14:creationId xmlns:p14="http://schemas.microsoft.com/office/powerpoint/2010/main" val="290146329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8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Types of Layouts in Adobe Forms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Standard Layout - Use this layout type for PDF-based print forms or for interactive forms used in an offline scenario(for sending by e-mail) and not integrated in a web dynpro environment at runtime.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ZCI Layout - Zero client installation (ZCI) technology is used to integrate the form at runtime in web dynpro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01598911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9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Types of Layouts in Adobe Forms(Contd.)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 startAt="3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xACF Layout - The active components framework technology is used to integrate the form at runtime in web dynpro applications. ActiveX must be enabled in the browser.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 startAt="3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Unknown layout type - The form has not yet been classified. This is the case if we are creating a new form or editing a form created with an older version of SAP Netweaver.</a:t>
            </a:r>
          </a:p>
        </p:txBody>
      </p:sp>
    </p:spTree>
    <p:extLst>
      <p:ext uri="{BB962C8B-B14F-4D97-AF65-F5344CB8AC3E}">
        <p14:creationId xmlns:p14="http://schemas.microsoft.com/office/powerpoint/2010/main" val="178896679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10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369418" y="357542"/>
            <a:ext cx="11808337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System Variables in Context tab for ABAP Dictionary based Interface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default system variables in the context tab for ABAP dictionary based interface are as follows: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SFPSY-DATE - System variable for date.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SFPSY-TIME - System variable for time.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SFPSY-USERNAME - System variable for user name.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SFPSY-SUBRC - System variable for return code.</a:t>
            </a:r>
          </a:p>
        </p:txBody>
      </p:sp>
    </p:spTree>
    <p:extLst>
      <p:ext uri="{BB962C8B-B14F-4D97-AF65-F5344CB8AC3E}">
        <p14:creationId xmlns:p14="http://schemas.microsoft.com/office/powerpoint/2010/main" val="197574490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369418" y="357542"/>
            <a:ext cx="11808337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Various Views of Adobe Forms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various views of adobe forms are as follows: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Design view - This view is used for designing the layout elements in adobe forms.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view - In this view the data is available.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Hierarchy - In this view all the layout elements are available in hierarchical order.</a:t>
            </a:r>
          </a:p>
        </p:txBody>
      </p:sp>
    </p:spTree>
    <p:extLst>
      <p:ext uri="{BB962C8B-B14F-4D97-AF65-F5344CB8AC3E}">
        <p14:creationId xmlns:p14="http://schemas.microsoft.com/office/powerpoint/2010/main" val="392715819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369418" y="357542"/>
            <a:ext cx="11808337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Master Page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 form design contains at least one master page that adobe livecycle designer creates automatically.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Master pages are responsible for formatting body pages.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They help to facilitate design consistency because they can provide a background and layout format for more than one of the body pages in a form design. </a:t>
            </a:r>
          </a:p>
        </p:txBody>
      </p:sp>
    </p:spTree>
    <p:extLst>
      <p:ext uri="{BB962C8B-B14F-4D97-AF65-F5344CB8AC3E}">
        <p14:creationId xmlns:p14="http://schemas.microsoft.com/office/powerpoint/2010/main" val="288396070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369418" y="357542"/>
            <a:ext cx="11808337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Body Page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Body pages represent the pages of a form.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body page derives its page size and orientation from a master page.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default, each body page is associated with the default master page that adobe livecycle designer creates.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body page is created with a default sub form that covers the whole page.</a:t>
            </a:r>
          </a:p>
        </p:txBody>
      </p:sp>
    </p:spTree>
    <p:extLst>
      <p:ext uri="{BB962C8B-B14F-4D97-AF65-F5344CB8AC3E}">
        <p14:creationId xmlns:p14="http://schemas.microsoft.com/office/powerpoint/2010/main" val="140634158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369418" y="357542"/>
            <a:ext cx="11808337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Integration into Programs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need to call the adobe form from the program. To integrate the adobe form in the program, we make use of 3 function modules: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FP_JOB_OPEN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FP_FUNCTION_MODULE_NAME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FP_JOB_CLOSE</a:t>
            </a:r>
          </a:p>
        </p:txBody>
      </p:sp>
    </p:spTree>
    <p:extLst>
      <p:ext uri="{BB962C8B-B14F-4D97-AF65-F5344CB8AC3E}">
        <p14:creationId xmlns:p14="http://schemas.microsoft.com/office/powerpoint/2010/main" val="255485886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369418" y="357542"/>
            <a:ext cx="11808337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Integration into Programs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FP_JOB_OPEN - This function module is used to open the Job. We can set the default parameter values and pass them to this function module.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FP_FUNCTION_MODULE_NAME - This function module is used to get the function module name of the adobe form.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FP_JOB_CLOSE - This function module is used to close the job.</a:t>
            </a:r>
          </a:p>
        </p:txBody>
      </p:sp>
    </p:spTree>
    <p:extLst>
      <p:ext uri="{BB962C8B-B14F-4D97-AF65-F5344CB8AC3E}">
        <p14:creationId xmlns:p14="http://schemas.microsoft.com/office/powerpoint/2010/main" val="40642425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369418" y="357542"/>
            <a:ext cx="11808337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Scripting Languages in Adobe Forms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Depends upon the requirement, we can use the scripting languages in adobe forms. In adobe forms, there are 2 scripting languages: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FormCalc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291097898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369418" y="357542"/>
            <a:ext cx="11808337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Formcalc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Formcalc is the default scripting language in designer.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an easy-to-use calculation language.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FormCalc is the best choice to work on functions like - date and time, financial, arithmetic, logical etc.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FormCalc usually provides better performance than JavaScript because it executes calculations and validations more quickly.</a:t>
            </a:r>
          </a:p>
        </p:txBody>
      </p:sp>
    </p:spTree>
    <p:extLst>
      <p:ext uri="{BB962C8B-B14F-4D97-AF65-F5344CB8AC3E}">
        <p14:creationId xmlns:p14="http://schemas.microsoft.com/office/powerpoint/2010/main" val="228663729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18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369418" y="357542"/>
            <a:ext cx="11808337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JavaScript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FormCalc is default scripting language in designer, but Java script is more ideal for creating interactive and dynamic forms.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Performance of JavaScript is lower than FormCalc.</a:t>
            </a:r>
          </a:p>
        </p:txBody>
      </p:sp>
    </p:spTree>
    <p:extLst>
      <p:ext uri="{BB962C8B-B14F-4D97-AF65-F5344CB8AC3E}">
        <p14:creationId xmlns:p14="http://schemas.microsoft.com/office/powerpoint/2010/main" val="176840445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19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Adobe Forms Translation into Other Languages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to translate a Adobe form into other languages is SE63.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Path : SE63-Other Texts- PDF-Based Forms - PDFB PDF-Based Forms</a:t>
            </a:r>
          </a:p>
        </p:txBody>
      </p:sp>
    </p:spTree>
    <p:extLst>
      <p:ext uri="{BB962C8B-B14F-4D97-AF65-F5344CB8AC3E}">
        <p14:creationId xmlns:p14="http://schemas.microsoft.com/office/powerpoint/2010/main" val="182986404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20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Sending Adobe Form as an E-Mail Attachment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898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send the PDF form as an e-mail attachment, we will make use of the various standard classes of SAP related to BCS( Business Communication Services). The various standard classes are as follows :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CL_BCS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CL_DOCUMENT_BCS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CL_SAPUSER_BCS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CL_CAM_ADDRESS_BCS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44487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Sending Adobe Form as an E-Mail Attachment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15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CL_BCS - This class is used for creating the send request, adding the recipient, sending the document etc.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CL_DOCUMENT_BCS - This class is used for creating the document, adding the attachment etc.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CL_SAPUSER_BCS - This class is used to create SAP users.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CL_CAM_ADDRESS_BCS - This class is used to create the external recipients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66044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Sending Adobe Form as an E-Mail Attachment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15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 the PDF content of the Adobe form.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Convert the PDF content from RAWSTRING format to binary format.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 the send request.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 the SAP user/external user( recipient)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 the recipient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 the document.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 the attachment.</a:t>
            </a:r>
          </a:p>
        </p:txBody>
      </p:sp>
    </p:spTree>
    <p:extLst>
      <p:ext uri="{BB962C8B-B14F-4D97-AF65-F5344CB8AC3E}">
        <p14:creationId xmlns:p14="http://schemas.microsoft.com/office/powerpoint/2010/main" val="408277487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Sending Adobe Form as an E-Mail Attachment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 startAt="8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 the document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 startAt="8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Activate/deactivate immediate sending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 startAt="8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Send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 startAt="8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Commit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573507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369418" y="357542"/>
            <a:ext cx="11808337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Important Points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ADLC - Adobe Livecycle Designer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ADS Connection - Adobe Document Services Server. We can check the connection of ADS through Program : FP_TEST_00.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Concept of positioned/flowed page.</a:t>
            </a:r>
          </a:p>
        </p:txBody>
      </p:sp>
    </p:spTree>
    <p:extLst>
      <p:ext uri="{BB962C8B-B14F-4D97-AF65-F5344CB8AC3E}">
        <p14:creationId xmlns:p14="http://schemas.microsoft.com/office/powerpoint/2010/main" val="819773625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369418" y="357542"/>
            <a:ext cx="11808337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Q &amp; A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the path to reset the palettes?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Answer : Palettes-&gt;Workspace-&gt;Reset Palettes Locations.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the pre-requisite to display an Image in output of adobe form?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Answer : Select the checkbox - Embed image data in the object.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the full form of XFA?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Answer : XML Form Architecture.</a:t>
            </a:r>
          </a:p>
        </p:txBody>
      </p:sp>
    </p:spTree>
    <p:extLst>
      <p:ext uri="{BB962C8B-B14F-4D97-AF65-F5344CB8AC3E}">
        <p14:creationId xmlns:p14="http://schemas.microsoft.com/office/powerpoint/2010/main" val="253966306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369418" y="357542"/>
            <a:ext cx="11808337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+mj-lt"/>
                <a:cs typeface="Calibri" panose="020F0502020204030204" pitchFamily="34" charset="0"/>
              </a:rPr>
              <a:t>Q &amp; A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the full form of ADS?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Answer : Adobe Document Services Server.</a:t>
            </a:r>
          </a:p>
        </p:txBody>
      </p:sp>
    </p:spTree>
    <p:extLst>
      <p:ext uri="{BB962C8B-B14F-4D97-AF65-F5344CB8AC3E}">
        <p14:creationId xmlns:p14="http://schemas.microsoft.com/office/powerpoint/2010/main" val="54378238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2020186" y="2460208"/>
            <a:ext cx="68473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</a:t>
            </a:r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16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1F4E79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IN" dirty="0"/>
          </a:p>
        </p:txBody>
      </p:sp>
      <p:sp>
        <p:nvSpPr>
          <p:cNvPr id="3" name="Straight Connector 18">
            <a:extLst>
              <a:ext uri="{FF2B5EF4-FFF2-40B4-BE49-F238E27FC236}">
                <a16:creationId xmlns:a16="http://schemas.microsoft.com/office/drawing/2014/main" id="{4DBA8D6F-AFF4-8D71-2B02-737781787B1E}"/>
              </a:ext>
            </a:extLst>
          </p:cNvPr>
          <p:cNvSpPr/>
          <p:nvPr/>
        </p:nvSpPr>
        <p:spPr>
          <a:xfrm flipH="1" flipV="1">
            <a:off x="191386" y="3168502"/>
            <a:ext cx="11758422" cy="53162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375257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4356</TotalTime>
  <Words>1270</Words>
  <Application>Microsoft Office PowerPoint</Application>
  <PresentationFormat>Widescreen</PresentationFormat>
  <Paragraphs>145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 Mehta</dc:creator>
  <cp:lastModifiedBy>Rahul Mehta</cp:lastModifiedBy>
  <cp:revision>1908</cp:revision>
  <dcterms:modified xsi:type="dcterms:W3CDTF">2023-09-15T22:14:52Z</dcterms:modified>
</cp:coreProperties>
</file>