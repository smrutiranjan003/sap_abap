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heme/themeOverride1.xml" ContentType="application/vnd.openxmlformats-officedocument.themeOverr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8"/>
  </p:notesMasterIdLst>
  <p:sldIdLst>
    <p:sldId id="259" r:id="rId2"/>
    <p:sldId id="1043" r:id="rId3"/>
    <p:sldId id="1047" r:id="rId4"/>
    <p:sldId id="1096" r:id="rId5"/>
    <p:sldId id="1098" r:id="rId6"/>
    <p:sldId id="1097" r:id="rId7"/>
    <p:sldId id="1099" r:id="rId8"/>
    <p:sldId id="1091" r:id="rId9"/>
    <p:sldId id="1089" r:id="rId10"/>
    <p:sldId id="1090" r:id="rId11"/>
    <p:sldId id="994" r:id="rId12"/>
    <p:sldId id="1000" r:id="rId13"/>
    <p:sldId id="996" r:id="rId14"/>
    <p:sldId id="1044" r:id="rId15"/>
    <p:sldId id="1048" r:id="rId16"/>
    <p:sldId id="1045" r:id="rId17"/>
    <p:sldId id="1042" r:id="rId18"/>
    <p:sldId id="1075" r:id="rId19"/>
    <p:sldId id="1049" r:id="rId20"/>
    <p:sldId id="1050" r:id="rId21"/>
    <p:sldId id="1054" r:id="rId22"/>
    <p:sldId id="1055" r:id="rId23"/>
    <p:sldId id="1092" r:id="rId24"/>
    <p:sldId id="1093" r:id="rId25"/>
    <p:sldId id="1094" r:id="rId26"/>
    <p:sldId id="1010" r:id="rId27"/>
    <p:sldId id="1001" r:id="rId28"/>
    <p:sldId id="1002" r:id="rId29"/>
    <p:sldId id="1003" r:id="rId30"/>
    <p:sldId id="1005" r:id="rId31"/>
    <p:sldId id="1004" r:id="rId32"/>
    <p:sldId id="1006" r:id="rId33"/>
    <p:sldId id="1008" r:id="rId34"/>
    <p:sldId id="1009" r:id="rId35"/>
    <p:sldId id="1011" r:id="rId36"/>
    <p:sldId id="1012" r:id="rId37"/>
    <p:sldId id="1084" r:id="rId38"/>
    <p:sldId id="1085" r:id="rId39"/>
    <p:sldId id="1079" r:id="rId40"/>
    <p:sldId id="1080" r:id="rId41"/>
    <p:sldId id="1081" r:id="rId42"/>
    <p:sldId id="1082" r:id="rId43"/>
    <p:sldId id="1083" r:id="rId44"/>
    <p:sldId id="1088" r:id="rId45"/>
    <p:sldId id="1059" r:id="rId46"/>
    <p:sldId id="1060" r:id="rId47"/>
    <p:sldId id="1061" r:id="rId48"/>
    <p:sldId id="1063" r:id="rId49"/>
    <p:sldId id="1064" r:id="rId50"/>
    <p:sldId id="1065" r:id="rId51"/>
    <p:sldId id="1066" r:id="rId52"/>
    <p:sldId id="1069" r:id="rId53"/>
    <p:sldId id="1068" r:id="rId54"/>
    <p:sldId id="1070" r:id="rId55"/>
    <p:sldId id="1073" r:id="rId56"/>
    <p:sldId id="1074" r:id="rId57"/>
    <p:sldId id="1072" r:id="rId58"/>
    <p:sldId id="1056" r:id="rId59"/>
    <p:sldId id="1078" r:id="rId60"/>
    <p:sldId id="1076" r:id="rId61"/>
    <p:sldId id="1077" r:id="rId62"/>
    <p:sldId id="1086" r:id="rId63"/>
    <p:sldId id="1087" r:id="rId64"/>
    <p:sldId id="985" r:id="rId65"/>
    <p:sldId id="986" r:id="rId66"/>
    <p:sldId id="990" r:id="rId67"/>
    <p:sldId id="989" r:id="rId68"/>
    <p:sldId id="1095" r:id="rId69"/>
    <p:sldId id="1100" r:id="rId70"/>
    <p:sldId id="1102" r:id="rId71"/>
    <p:sldId id="1103" r:id="rId72"/>
    <p:sldId id="1104" r:id="rId73"/>
    <p:sldId id="1105" r:id="rId74"/>
    <p:sldId id="1106" r:id="rId75"/>
    <p:sldId id="1109" r:id="rId76"/>
    <p:sldId id="1112" r:id="rId77"/>
    <p:sldId id="1114" r:id="rId78"/>
    <p:sldId id="1111" r:id="rId79"/>
    <p:sldId id="1115" r:id="rId80"/>
    <p:sldId id="1116" r:id="rId81"/>
    <p:sldId id="1124" r:id="rId82"/>
    <p:sldId id="1119" r:id="rId83"/>
    <p:sldId id="1122" r:id="rId84"/>
    <p:sldId id="1118" r:id="rId85"/>
    <p:sldId id="1123" r:id="rId86"/>
    <p:sldId id="919" r:id="rId87"/>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83308" autoAdjust="0"/>
  </p:normalViewPr>
  <p:slideViewPr>
    <p:cSldViewPr snapToGrid="0">
      <p:cViewPr varScale="1">
        <p:scale>
          <a:sx n="81" d="100"/>
          <a:sy n="81" d="100"/>
        </p:scale>
        <p:origin x="50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viewProps" Target="viewProp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2" name="Shape 92"/>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93" name="Shape 93"/>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5966314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F0E0B-5105-132C-8D80-D912AE9511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011FE6-E1A7-7BA3-E2C9-B081814593C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D94075A-264B-B84F-F123-2C12B4DB4E79}"/>
              </a:ext>
            </a:extLst>
          </p:cNvPr>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37495912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7344B-E543-1984-8249-43761517B2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4CE97F-0B85-6464-14A2-F87436794A0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5759997-75FD-ABB7-BD24-FBC99E873233}"/>
              </a:ext>
            </a:extLst>
          </p:cNvPr>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20896771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02C5C-0C5C-90D3-6709-60E83C8CE3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5151C7-AD2D-CFDD-CD08-B83FF2D7233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C84FF2C-E5B0-54C1-8BBC-975C907B1BBB}"/>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1216847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6A662-82C8-398E-F10F-61A64A635C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763D1F-428E-8876-DDC4-F5EC2CD577A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29C883B-C1EF-3FCB-5C6E-C2240C30C23F}"/>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6028431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FE983-A8A3-1833-1FBF-A6E9861E24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CE1ED8-24F3-C72D-ED68-D622971977C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1F67301-55C3-BE19-6165-29CFC6FB15E7}"/>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5459127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B8D8D-0392-CC9F-4CE7-2216E3BA71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41738B-A070-091C-0D83-ADE26DC1830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D453A3B-560E-5B06-D95B-A6578B9350A6}"/>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704698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F0E0B-5105-132C-8D80-D912AE9511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011FE6-E1A7-7BA3-E2C9-B081814593C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D94075A-264B-B84F-F123-2C12B4DB4E79}"/>
              </a:ext>
            </a:extLst>
          </p:cNvPr>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31531794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F0E0B-5105-132C-8D80-D912AE9511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011FE6-E1A7-7BA3-E2C9-B081814593C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D94075A-264B-B84F-F123-2C12B4DB4E79}"/>
              </a:ext>
            </a:extLst>
          </p:cNvPr>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12922206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F0E0B-5105-132C-8D80-D912AE9511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011FE6-E1A7-7BA3-E2C9-B081814593C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D94075A-264B-B84F-F123-2C12B4DB4E79}"/>
              </a:ext>
            </a:extLst>
          </p:cNvPr>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5273742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62DAA-43CC-AF25-CFA9-E539530599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1C612D-07BA-B958-5C4B-B79FEAEFFAF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C77654B-4F6C-0CB5-53F9-BF9D314099FB}"/>
              </a:ext>
            </a:extLst>
          </p:cNvPr>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38256354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D5B40E-C3A3-7B6E-3067-84BB617101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2DB6DF-B2CA-1749-5613-1D9FC0CE423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AD1B5B6-92FC-5259-CAB3-D0A4EAD12500}"/>
              </a:ext>
            </a:extLst>
          </p:cNvPr>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2878702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8531C-1218-D5C1-B6E8-0B1A43715B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44C9C9-5A94-EBFD-404B-44CD90B3875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0A6C6C9-CCD6-307D-C2F1-6131AB56508A}"/>
              </a:ext>
            </a:extLst>
          </p:cNvPr>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11015601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7DC7F-D02B-C057-D9BE-E572E0DA7D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806A2F-B4EC-4D26-E98B-6866F45E03F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9B89A22-13B9-43D6-4253-7BE992849CF3}"/>
              </a:ext>
            </a:extLst>
          </p:cNvPr>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17704305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B9E5D-2A92-32DD-4949-060AE57FAA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D40998-67F2-43AA-0868-EAD28CFAF65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9B5E1EB-E983-D58B-6264-AB136CC28CA0}"/>
              </a:ext>
            </a:extLst>
          </p:cNvPr>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7778072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EBCE1-C4B3-297A-1143-C902617D02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0C3C40-DE0F-8A2C-F684-12B7B9C75A3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91C925F-6A1B-B50F-8FCC-E82CECDDE82D}"/>
              </a:ext>
            </a:extLst>
          </p:cNvPr>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9857294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1E11C-C3AD-65B0-2B3E-BA5335DB0D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B737CA-D045-0ACF-0761-8EA32C55F6E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C74078E-0F2A-3AB3-A0C8-352CC602F58D}"/>
              </a:ext>
            </a:extLst>
          </p:cNvPr>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10564575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1E11C-C3AD-65B0-2B3E-BA5335DB0D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B737CA-D045-0ACF-0761-8EA32C55F6E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C74078E-0F2A-3AB3-A0C8-352CC602F58D}"/>
              </a:ext>
            </a:extLst>
          </p:cNvPr>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22805349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7344B-E543-1984-8249-43761517B2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4CE97F-0B85-6464-14A2-F87436794A0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5759997-75FD-ABB7-BD24-FBC99E873233}"/>
              </a:ext>
            </a:extLst>
          </p:cNvPr>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15938413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7344B-E543-1984-8249-43761517B2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4CE97F-0B85-6464-14A2-F87436794A0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5759997-75FD-ABB7-BD24-FBC99E873233}"/>
              </a:ext>
            </a:extLst>
          </p:cNvPr>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26380583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7344B-E543-1984-8249-43761517B2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4CE97F-0B85-6464-14A2-F87436794A0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5759997-75FD-ABB7-BD24-FBC99E873233}"/>
              </a:ext>
            </a:extLst>
          </p:cNvPr>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17996755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7344B-E543-1984-8249-43761517B2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4CE97F-0B85-6464-14A2-F87436794A0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5759997-75FD-ABB7-BD24-FBC99E873233}"/>
              </a:ext>
            </a:extLst>
          </p:cNvPr>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14866934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7344B-E543-1984-8249-43761517B2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4CE97F-0B85-6464-14A2-F87436794A0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5759997-75FD-ABB7-BD24-FBC99E873233}"/>
              </a:ext>
            </a:extLst>
          </p:cNvPr>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39159487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7344B-E543-1984-8249-43761517B2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4CE97F-0B85-6464-14A2-F87436794A0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5759997-75FD-ABB7-BD24-FBC99E873233}"/>
              </a:ext>
            </a:extLst>
          </p:cNvPr>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35322686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7344B-E543-1984-8249-43761517B2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4CE97F-0B85-6464-14A2-F87436794A0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5759997-75FD-ABB7-BD24-FBC99E873233}"/>
              </a:ext>
            </a:extLst>
          </p:cNvPr>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84631462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11488898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2035951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13949124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12772152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127450525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421588882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209521202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107649019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411033856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43588597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230831336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7344B-E543-1984-8249-43761517B2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4CE97F-0B85-6464-14A2-F87436794A0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5759997-75FD-ABB7-BD24-FBC99E873233}"/>
              </a:ext>
            </a:extLst>
          </p:cNvPr>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366356697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7344B-E543-1984-8249-43761517B2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4CE97F-0B85-6464-14A2-F87436794A0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5759997-75FD-ABB7-BD24-FBC99E873233}"/>
              </a:ext>
            </a:extLst>
          </p:cNvPr>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394109012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7344B-E543-1984-8249-43761517B2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4CE97F-0B85-6464-14A2-F87436794A0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5759997-75FD-ABB7-BD24-FBC99E873233}"/>
              </a:ext>
            </a:extLst>
          </p:cNvPr>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354159120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7344B-E543-1984-8249-43761517B2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4CE97F-0B85-6464-14A2-F87436794A0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5759997-75FD-ABB7-BD24-FBC99E873233}"/>
              </a:ext>
            </a:extLst>
          </p:cNvPr>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235216243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7344B-E543-1984-8249-43761517B2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4CE97F-0B85-6464-14A2-F87436794A0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5759997-75FD-ABB7-BD24-FBC99E873233}"/>
              </a:ext>
            </a:extLst>
          </p:cNvPr>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299117964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7344B-E543-1984-8249-43761517B2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4CE97F-0B85-6464-14A2-F87436794A0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5759997-75FD-ABB7-BD24-FBC99E873233}"/>
              </a:ext>
            </a:extLst>
          </p:cNvPr>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120129448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7344B-E543-1984-8249-43761517B2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4CE97F-0B85-6464-14A2-F87436794A0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5759997-75FD-ABB7-BD24-FBC99E873233}"/>
              </a:ext>
            </a:extLst>
          </p:cNvPr>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261534454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7344B-E543-1984-8249-43761517B2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4CE97F-0B85-6464-14A2-F87436794A0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5759997-75FD-ABB7-BD24-FBC99E873233}"/>
              </a:ext>
            </a:extLst>
          </p:cNvPr>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417687868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7344B-E543-1984-8249-43761517B2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4CE97F-0B85-6464-14A2-F87436794A0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5759997-75FD-ABB7-BD24-FBC99E873233}"/>
              </a:ext>
            </a:extLst>
          </p:cNvPr>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165274910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7344B-E543-1984-8249-43761517B2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4CE97F-0B85-6464-14A2-F87436794A0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5759997-75FD-ABB7-BD24-FBC99E873233}"/>
              </a:ext>
            </a:extLst>
          </p:cNvPr>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421183900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7344B-E543-1984-8249-43761517B2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4CE97F-0B85-6464-14A2-F87436794A0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5759997-75FD-ABB7-BD24-FBC99E873233}"/>
              </a:ext>
            </a:extLst>
          </p:cNvPr>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322941409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7344B-E543-1984-8249-43761517B2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4CE97F-0B85-6464-14A2-F87436794A0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5759997-75FD-ABB7-BD24-FBC99E873233}"/>
              </a:ext>
            </a:extLst>
          </p:cNvPr>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20267857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7344B-E543-1984-8249-43761517B2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4CE97F-0B85-6464-14A2-F87436794A0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5759997-75FD-ABB7-BD24-FBC99E873233}"/>
              </a:ext>
            </a:extLst>
          </p:cNvPr>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26352479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7344B-E543-1984-8249-43761517B2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4CE97F-0B85-6464-14A2-F87436794A0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5759997-75FD-ABB7-BD24-FBC99E873233}"/>
              </a:ext>
            </a:extLst>
          </p:cNvPr>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381592045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7344B-E543-1984-8249-43761517B2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4CE97F-0B85-6464-14A2-F87436794A0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5759997-75FD-ABB7-BD24-FBC99E873233}"/>
              </a:ext>
            </a:extLst>
          </p:cNvPr>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350998604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7344B-E543-1984-8249-43761517B2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4CE97F-0B85-6464-14A2-F87436794A0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5759997-75FD-ABB7-BD24-FBC99E873233}"/>
              </a:ext>
            </a:extLst>
          </p:cNvPr>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203551682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7344B-E543-1984-8249-43761517B2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4CE97F-0B85-6464-14A2-F87436794A0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5759997-75FD-ABB7-BD24-FBC99E873233}"/>
              </a:ext>
            </a:extLst>
          </p:cNvPr>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27315003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7344B-E543-1984-8249-43761517B2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4CE97F-0B85-6464-14A2-F87436794A0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5759997-75FD-ABB7-BD24-FBC99E873233}"/>
              </a:ext>
            </a:extLst>
          </p:cNvPr>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142074837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7344B-E543-1984-8249-43761517B2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4CE97F-0B85-6464-14A2-F87436794A0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5759997-75FD-ABB7-BD24-FBC99E873233}"/>
              </a:ext>
            </a:extLst>
          </p:cNvPr>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64786778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7344B-E543-1984-8249-43761517B2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4CE97F-0B85-6464-14A2-F87436794A0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5759997-75FD-ABB7-BD24-FBC99E873233}"/>
              </a:ext>
            </a:extLst>
          </p:cNvPr>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118941628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7344B-E543-1984-8249-43761517B2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4CE97F-0B85-6464-14A2-F87436794A0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5759997-75FD-ABB7-BD24-FBC99E873233}"/>
              </a:ext>
            </a:extLst>
          </p:cNvPr>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325969733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7344B-E543-1984-8249-43761517B2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4CE97F-0B85-6464-14A2-F87436794A0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5759997-75FD-ABB7-BD24-FBC99E873233}"/>
              </a:ext>
            </a:extLst>
          </p:cNvPr>
          <p:cNvSpPr>
            <a:spLocks noGrp="1"/>
          </p:cNvSpPr>
          <p:nvPr>
            <p:ph type="body" idx="1"/>
          </p:nvPr>
        </p:nvSpPr>
        <p:spPr/>
        <p:txBody>
          <a:bodyPr/>
          <a:lstStyle/>
          <a:p>
            <a:r>
              <a:rPr kumimoji="0" lang="en-US"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rPr>
              <a:t>s</a:t>
            </a:r>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33307639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7344B-E543-1984-8249-43761517B2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4CE97F-0B85-6464-14A2-F87436794A0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5759997-75FD-ABB7-BD24-FBC99E873233}"/>
              </a:ext>
            </a:extLst>
          </p:cNvPr>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253844218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7344B-E543-1984-8249-43761517B2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4CE97F-0B85-6464-14A2-F87436794A0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5759997-75FD-ABB7-BD24-FBC99E873233}"/>
              </a:ext>
            </a:extLst>
          </p:cNvPr>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156444650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7344B-E543-1984-8249-43761517B2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4CE97F-0B85-6464-14A2-F87436794A0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5759997-75FD-ABB7-BD24-FBC99E873233}"/>
              </a:ext>
            </a:extLst>
          </p:cNvPr>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400357662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7344B-E543-1984-8249-43761517B2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4CE97F-0B85-6464-14A2-F87436794A0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5759997-75FD-ABB7-BD24-FBC99E873233}"/>
              </a:ext>
            </a:extLst>
          </p:cNvPr>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184324740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7344B-E543-1984-8249-43761517B2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4CE97F-0B85-6464-14A2-F87436794A0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5759997-75FD-ABB7-BD24-FBC99E873233}"/>
              </a:ext>
            </a:extLst>
          </p:cNvPr>
          <p:cNvSpPr>
            <a:spLocks noGrp="1"/>
          </p:cNvSpPr>
          <p:nvPr>
            <p:ph type="body" idx="1"/>
          </p:nvPr>
        </p:nvSpPr>
        <p:spPr/>
        <p:txBody>
          <a:bodyPr/>
          <a:lstStyle/>
          <a:p>
            <a:endParaRPr kumimoji="0" lang="en-IN" sz="2400" b="0" i="0" u="none" strike="noStrike" cap="none" spc="0" normalizeH="0" baseline="0" dirty="0">
              <a:ln>
                <a:noFill/>
              </a:ln>
              <a:solidFill>
                <a:srgbClr val="3B3838"/>
              </a:solidFill>
              <a:effectLst/>
              <a:uFillTx/>
              <a:latin typeface="Calibri" panose="020F0502020204030204" pitchFamily="34" charset="0"/>
              <a:cs typeface="Calibri" panose="020F0502020204030204" pitchFamily="34" charset="0"/>
              <a:sym typeface="Calibri"/>
            </a:endParaRPr>
          </a:p>
        </p:txBody>
      </p:sp>
    </p:spTree>
    <p:extLst>
      <p:ext uri="{BB962C8B-B14F-4D97-AF65-F5344CB8AC3E}">
        <p14:creationId xmlns:p14="http://schemas.microsoft.com/office/powerpoint/2010/main" val="125288649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27967651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72658932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58709744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58865597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9B920-FFD7-3F26-7EBA-8D5C35C06B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4D18D1-DB64-BA3E-F19C-39531F424B4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4CF2729-3E5B-16FF-EA37-6C432A5AD12C}"/>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30700020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49ACE-78BF-6323-DE7F-8686D72607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1ECE11-3893-A42F-B5AE-B00A9927068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9329B37-B7A5-9E9D-4AB2-18F439874073}"/>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16993277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C69F1-B928-AE8B-125E-0E7C544331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47B612-5B43-3BE1-0E74-92B37C5FCE8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9786894-6595-D689-77B4-2A3693BD725B}"/>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44255672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66BEB-6524-21DF-485B-BAFD98591B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333DB0-9FA0-16A8-26EB-CE31C6878EE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C2B0C82-DB37-8E44-09E2-FF6B94E5D3C3}"/>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03831887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A3BA0-0F51-3969-C165-D9B47679EE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F4AA18-F0A8-9D3E-0BD5-4BE1AB73F0D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FB78A63-DA7D-B9EE-E9A2-69B0AD97DB43}"/>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01531036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079EA-10F6-6471-CFE9-6A19A65298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0CB6DA-9D52-44A0-D8DF-9991FB22A5C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518C087-86E7-20CD-978D-44919EE970FA}"/>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69113829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00147-1DB4-C615-5E3B-289111D300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E584E9-EE21-419B-00C6-8BFE1824792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ECEC763-03C2-95DE-2E27-D6B949597290}"/>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73461668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629D9-29A0-B2C8-141F-28AEBB23F9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F663A5-D82C-D12D-26E4-6D40120D053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FD7368F-3640-089B-6287-B1C663573B04}"/>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869579785"/>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F55FC-F647-DC7A-D6D2-757E04386F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AFC476-E1ED-9B63-09DD-017651F750B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92CAD56-3BAC-63E1-FCB8-1135F4F185EC}"/>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71532309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196DD-6CBE-E20C-5610-C040E05E04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653A07-7BB8-E787-23E1-5596F2E9477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1119C04-C53C-F48B-B28E-23F4846138FE}"/>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97555997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6B5BE-FE95-F8EC-4677-55503C2760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763A88-251A-2625-3715-189D546EBEA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D51B116-0908-3602-1AE8-81FCC3EC96C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51271945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AEEA80-3FCC-C2B9-1D44-4646E9EB61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589E3B-1E5E-1776-0229-CC139F7AF11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F7ADE40-5A33-2E31-8782-FA09DCFB138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163521043"/>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1C0D2-5658-040F-17E7-4FA9B75C6F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A94EAA-DF3B-92A4-8485-E4B46C44660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433C854-7AA1-B9A2-A0D0-8F4A7DC74AF4}"/>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1563846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67515-C10F-3E2D-1220-79B0830C0F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4CBB0B-8DA0-9EEA-6F79-C27A00E9393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200721B-D95F-A48E-5BA4-0A88E97661B8}"/>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10911253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6EC6E-7B82-EE0A-2B0C-ED984CE614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2201DA-B744-1C21-49F4-AF07DB6DC58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16E4BF7-2E1F-615F-C774-42AB5B2CDDBE}"/>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47098891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748CF-FE57-43B6-8D2D-5F742A8955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DCE4AE-B268-231F-E77E-57B638AC403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B1523C1-B4F5-CBE3-9E7C-DB6D998B14E2}"/>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208071569"/>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CCB23-ED39-FABE-5923-C1AEF6E5A9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5AA7CA-9367-DCA2-FC6C-3233428D44C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B13CC73-5700-BA16-5858-3C026B666608}"/>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089248637"/>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C8642-57F2-3D0F-6E61-DD137AC85D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D333F3-7A1D-BBDD-6B19-794DC960C7E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2A2C818-200D-7E52-A4C6-6C429558C586}"/>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522948284"/>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6975866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1" name="Title Text"/>
          <p:cNvSpPr txBox="1">
            <a:spLocks noGrp="1"/>
          </p:cNvSpPr>
          <p:nvPr>
            <p:ph type="title"/>
          </p:nvPr>
        </p:nvSpPr>
        <p:spPr>
          <a:prstGeom prst="rect">
            <a:avLst/>
          </a:prstGeom>
        </p:spPr>
        <p:txBody>
          <a:bodyPr/>
          <a:lstStyle/>
          <a:p>
            <a:r>
              <a:t>Title Text</a:t>
            </a:r>
          </a:p>
        </p:txBody>
      </p:sp>
      <p:sp>
        <p:nvSpPr>
          <p:cNvPr id="22"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3"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Section Header">
    <p:spTree>
      <p:nvGrpSpPr>
        <p:cNvPr id="1" name=""/>
        <p:cNvGrpSpPr/>
        <p:nvPr/>
      </p:nvGrpSpPr>
      <p:grpSpPr>
        <a:xfrm>
          <a:off x="0" y="0"/>
          <a:ext cx="0" cy="0"/>
          <a:chOff x="0" y="0"/>
          <a:chExt cx="0" cy="0"/>
        </a:xfrm>
      </p:grpSpPr>
      <p:sp>
        <p:nvSpPr>
          <p:cNvPr id="30" name="Title Text"/>
          <p:cNvSpPr txBox="1">
            <a:spLocks noGrp="1"/>
          </p:cNvSpPr>
          <p:nvPr>
            <p:ph type="title"/>
          </p:nvPr>
        </p:nvSpPr>
        <p:spPr>
          <a:xfrm>
            <a:off x="831852" y="1709738"/>
            <a:ext cx="10515601" cy="2852737"/>
          </a:xfrm>
          <a:prstGeom prst="rect">
            <a:avLst/>
          </a:prstGeom>
        </p:spPr>
        <p:txBody>
          <a:bodyPr anchor="b"/>
          <a:lstStyle>
            <a:lvl1pPr>
              <a:defRPr sz="6000"/>
            </a:lvl1pPr>
          </a:lstStyle>
          <a:p>
            <a:r>
              <a:t>Title Text</a:t>
            </a:r>
          </a:p>
        </p:txBody>
      </p:sp>
      <p:sp>
        <p:nvSpPr>
          <p:cNvPr id="31" name="Body Level One…"/>
          <p:cNvSpPr txBox="1">
            <a:spLocks noGrp="1"/>
          </p:cNvSpPr>
          <p:nvPr>
            <p:ph type="body" sz="quarter" idx="1"/>
          </p:nvPr>
        </p:nvSpPr>
        <p:spPr>
          <a:xfrm>
            <a:off x="831852" y="4589464"/>
            <a:ext cx="10515601" cy="1500188"/>
          </a:xfrm>
          <a:prstGeom prst="rect">
            <a:avLst/>
          </a:prstGeom>
        </p:spPr>
        <p:txBody>
          <a:bodyPr/>
          <a:lstStyle>
            <a:lvl1pPr marL="0" indent="0">
              <a:buSzTx/>
              <a:buFontTx/>
              <a:buNone/>
              <a:defRPr sz="2400">
                <a:solidFill>
                  <a:srgbClr val="888888"/>
                </a:solidFill>
              </a:defRPr>
            </a:lvl1pPr>
            <a:lvl2pPr marL="0" indent="457206">
              <a:buSzTx/>
              <a:buFontTx/>
              <a:buNone/>
              <a:defRPr sz="2400">
                <a:solidFill>
                  <a:srgbClr val="888888"/>
                </a:solidFill>
              </a:defRPr>
            </a:lvl2pPr>
            <a:lvl3pPr marL="0" indent="914411">
              <a:buSzTx/>
              <a:buFontTx/>
              <a:buNone/>
              <a:defRPr sz="2400">
                <a:solidFill>
                  <a:srgbClr val="888888"/>
                </a:solidFill>
              </a:defRPr>
            </a:lvl3pPr>
            <a:lvl4pPr marL="0" indent="1371616">
              <a:buSzTx/>
              <a:buFontTx/>
              <a:buNone/>
              <a:defRPr sz="2400">
                <a:solidFill>
                  <a:srgbClr val="888888"/>
                </a:solidFill>
              </a:defRPr>
            </a:lvl4pPr>
            <a:lvl5pPr marL="0" indent="1828823">
              <a:buSzTx/>
              <a:buFontTx/>
              <a:buNone/>
              <a:defRPr sz="24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2"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wo Content">
    <p:spTree>
      <p:nvGrpSpPr>
        <p:cNvPr id="1" name=""/>
        <p:cNvGrpSpPr/>
        <p:nvPr/>
      </p:nvGrpSpPr>
      <p:grpSpPr>
        <a:xfrm>
          <a:off x="0" y="0"/>
          <a:ext cx="0" cy="0"/>
          <a:chOff x="0" y="0"/>
          <a:chExt cx="0" cy="0"/>
        </a:xfrm>
      </p:grpSpPr>
      <p:sp>
        <p:nvSpPr>
          <p:cNvPr id="39" name="Title Text"/>
          <p:cNvSpPr txBox="1">
            <a:spLocks noGrp="1"/>
          </p:cNvSpPr>
          <p:nvPr>
            <p:ph type="title"/>
          </p:nvPr>
        </p:nvSpPr>
        <p:spPr>
          <a:prstGeom prst="rect">
            <a:avLst/>
          </a:prstGeom>
        </p:spPr>
        <p:txBody>
          <a:bodyPr/>
          <a:lstStyle/>
          <a:p>
            <a:r>
              <a:t>Title Text</a:t>
            </a:r>
          </a:p>
        </p:txBody>
      </p:sp>
      <p:sp>
        <p:nvSpPr>
          <p:cNvPr id="40" name="Body Level One…"/>
          <p:cNvSpPr txBox="1">
            <a:spLocks noGrp="1"/>
          </p:cNvSpPr>
          <p:nvPr>
            <p:ph type="body" sz="half" idx="1"/>
          </p:nvPr>
        </p:nvSpPr>
        <p:spPr>
          <a:xfrm>
            <a:off x="838200" y="1825625"/>
            <a:ext cx="5181601" cy="4351338"/>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1"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Comparison">
    <p:spTree>
      <p:nvGrpSpPr>
        <p:cNvPr id="1" name=""/>
        <p:cNvGrpSpPr/>
        <p:nvPr/>
      </p:nvGrpSpPr>
      <p:grpSpPr>
        <a:xfrm>
          <a:off x="0" y="0"/>
          <a:ext cx="0" cy="0"/>
          <a:chOff x="0" y="0"/>
          <a:chExt cx="0" cy="0"/>
        </a:xfrm>
      </p:grpSpPr>
      <p:sp>
        <p:nvSpPr>
          <p:cNvPr id="48" name="Title Text"/>
          <p:cNvSpPr txBox="1">
            <a:spLocks noGrp="1"/>
          </p:cNvSpPr>
          <p:nvPr>
            <p:ph type="title"/>
          </p:nvPr>
        </p:nvSpPr>
        <p:spPr>
          <a:xfrm>
            <a:off x="839788" y="365125"/>
            <a:ext cx="10515601" cy="1325563"/>
          </a:xfrm>
          <a:prstGeom prst="rect">
            <a:avLst/>
          </a:prstGeom>
        </p:spPr>
        <p:txBody>
          <a:bodyPr/>
          <a:lstStyle/>
          <a:p>
            <a:r>
              <a:t>Title Text</a:t>
            </a:r>
          </a:p>
        </p:txBody>
      </p:sp>
      <p:sp>
        <p:nvSpPr>
          <p:cNvPr id="49" name="Body Level One…"/>
          <p:cNvSpPr txBox="1">
            <a:spLocks noGrp="1"/>
          </p:cNvSpPr>
          <p:nvPr>
            <p:ph type="body" sz="quarter" idx="1"/>
          </p:nvPr>
        </p:nvSpPr>
        <p:spPr>
          <a:xfrm>
            <a:off x="839788" y="1681163"/>
            <a:ext cx="5157789" cy="823913"/>
          </a:xfrm>
          <a:prstGeom prst="rect">
            <a:avLst/>
          </a:prstGeom>
        </p:spPr>
        <p:txBody>
          <a:bodyPr anchor="b"/>
          <a:lstStyle>
            <a:lvl1pPr marL="0" indent="0">
              <a:buSzTx/>
              <a:buFontTx/>
              <a:buNone/>
              <a:defRPr sz="2400" b="1"/>
            </a:lvl1pPr>
            <a:lvl2pPr marL="0" indent="457206">
              <a:buSzTx/>
              <a:buFontTx/>
              <a:buNone/>
              <a:defRPr sz="2400" b="1"/>
            </a:lvl2pPr>
            <a:lvl3pPr marL="0" indent="914411">
              <a:buSzTx/>
              <a:buFontTx/>
              <a:buNone/>
              <a:defRPr sz="2400" b="1"/>
            </a:lvl3pPr>
            <a:lvl4pPr marL="0" indent="1371616">
              <a:buSzTx/>
              <a:buFontTx/>
              <a:buNone/>
              <a:defRPr sz="2400" b="1"/>
            </a:lvl4pPr>
            <a:lvl5pPr marL="0" indent="1828823">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50" name="Text Placeholder 4"/>
          <p:cNvSpPr>
            <a:spLocks noGrp="1"/>
          </p:cNvSpPr>
          <p:nvPr>
            <p:ph type="body" sz="quarter" idx="21"/>
          </p:nvPr>
        </p:nvSpPr>
        <p:spPr>
          <a:xfrm>
            <a:off x="6172201" y="1681163"/>
            <a:ext cx="5183189" cy="823913"/>
          </a:xfrm>
          <a:prstGeom prst="rect">
            <a:avLst/>
          </a:prstGeom>
        </p:spPr>
        <p:txBody>
          <a:bodyPr anchor="b"/>
          <a:lstStyle/>
          <a:p>
            <a:pPr marL="0" indent="0">
              <a:buSzTx/>
              <a:buFontTx/>
              <a:buNone/>
              <a:defRPr sz="2400" b="1"/>
            </a:pPr>
            <a:endParaRPr/>
          </a:p>
        </p:txBody>
      </p:sp>
      <p:sp>
        <p:nvSpPr>
          <p:cNvPr id="51"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Title Only">
    <p:spTree>
      <p:nvGrpSpPr>
        <p:cNvPr id="1" name=""/>
        <p:cNvGrpSpPr/>
        <p:nvPr/>
      </p:nvGrpSpPr>
      <p:grpSpPr>
        <a:xfrm>
          <a:off x="0" y="0"/>
          <a:ext cx="0" cy="0"/>
          <a:chOff x="0" y="0"/>
          <a:chExt cx="0" cy="0"/>
        </a:xfrm>
      </p:grpSpPr>
      <p:sp>
        <p:nvSpPr>
          <p:cNvPr id="58" name="Title Text"/>
          <p:cNvSpPr txBox="1">
            <a:spLocks noGrp="1"/>
          </p:cNvSpPr>
          <p:nvPr>
            <p:ph type="title"/>
          </p:nvPr>
        </p:nvSpPr>
        <p:spPr>
          <a:prstGeom prst="rect">
            <a:avLst/>
          </a:prstGeom>
        </p:spPr>
        <p:txBody>
          <a:bodyPr/>
          <a:lstStyle/>
          <a:p>
            <a:r>
              <a:t>Title Text</a:t>
            </a:r>
          </a:p>
        </p:txBody>
      </p:sp>
      <p:sp>
        <p:nvSpPr>
          <p:cNvPr id="59"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Content with Caption">
    <p:spTree>
      <p:nvGrpSpPr>
        <p:cNvPr id="1" name=""/>
        <p:cNvGrpSpPr/>
        <p:nvPr/>
      </p:nvGrpSpPr>
      <p:grpSpPr>
        <a:xfrm>
          <a:off x="0" y="0"/>
          <a:ext cx="0" cy="0"/>
          <a:chOff x="0" y="0"/>
          <a:chExt cx="0" cy="0"/>
        </a:xfrm>
      </p:grpSpPr>
      <p:sp>
        <p:nvSpPr>
          <p:cNvPr id="73" name="Title Text"/>
          <p:cNvSpPr txBox="1">
            <a:spLocks noGrp="1"/>
          </p:cNvSpPr>
          <p:nvPr>
            <p:ph type="title"/>
          </p:nvPr>
        </p:nvSpPr>
        <p:spPr>
          <a:xfrm>
            <a:off x="839790" y="457200"/>
            <a:ext cx="3932236" cy="1600200"/>
          </a:xfrm>
          <a:prstGeom prst="rect">
            <a:avLst/>
          </a:prstGeom>
        </p:spPr>
        <p:txBody>
          <a:bodyPr anchor="b"/>
          <a:lstStyle>
            <a:lvl1pPr>
              <a:defRPr sz="3200"/>
            </a:lvl1pPr>
          </a:lstStyle>
          <a:p>
            <a:r>
              <a:t>Title Text</a:t>
            </a:r>
          </a:p>
        </p:txBody>
      </p:sp>
      <p:sp>
        <p:nvSpPr>
          <p:cNvPr id="74" name="Body Level One…"/>
          <p:cNvSpPr txBox="1">
            <a:spLocks noGrp="1"/>
          </p:cNvSpPr>
          <p:nvPr>
            <p:ph type="body" sz="half" idx="1"/>
          </p:nvPr>
        </p:nvSpPr>
        <p:spPr>
          <a:xfrm>
            <a:off x="5183187" y="987425"/>
            <a:ext cx="6172203" cy="4873625"/>
          </a:xfrm>
          <a:prstGeom prst="rect">
            <a:avLst/>
          </a:prstGeom>
        </p:spPr>
        <p:txBody>
          <a:bodyPr/>
          <a:lstStyle>
            <a:lvl1pPr>
              <a:defRPr sz="3200"/>
            </a:lvl1pPr>
            <a:lvl2pPr marL="718466" indent="-261261">
              <a:defRPr sz="3200"/>
            </a:lvl2pPr>
            <a:lvl3pPr marL="1219216" indent="-304805">
              <a:defRPr sz="3200"/>
            </a:lvl3pPr>
            <a:lvl4pPr marL="1737383" indent="-365766">
              <a:defRPr sz="3200"/>
            </a:lvl4pPr>
            <a:lvl5pPr marL="2194589" indent="-365766">
              <a:defRPr sz="3200"/>
            </a:lvl5pPr>
          </a:lstStyle>
          <a:p>
            <a:r>
              <a:t>Body Level One</a:t>
            </a:r>
          </a:p>
          <a:p>
            <a:pPr lvl="1"/>
            <a:r>
              <a:t>Body Level Two</a:t>
            </a:r>
          </a:p>
          <a:p>
            <a:pPr lvl="2"/>
            <a:r>
              <a:t>Body Level Three</a:t>
            </a:r>
          </a:p>
          <a:p>
            <a:pPr lvl="3"/>
            <a:r>
              <a:t>Body Level Four</a:t>
            </a:r>
          </a:p>
          <a:p>
            <a:pPr lvl="4"/>
            <a:r>
              <a:t>Body Level Five</a:t>
            </a:r>
          </a:p>
        </p:txBody>
      </p:sp>
      <p:sp>
        <p:nvSpPr>
          <p:cNvPr id="75" name="Text Placeholder 3"/>
          <p:cNvSpPr>
            <a:spLocks noGrp="1"/>
          </p:cNvSpPr>
          <p:nvPr>
            <p:ph type="body" sz="quarter" idx="21"/>
          </p:nvPr>
        </p:nvSpPr>
        <p:spPr>
          <a:xfrm>
            <a:off x="839790" y="2057400"/>
            <a:ext cx="3932236" cy="3811588"/>
          </a:xfrm>
          <a:prstGeom prst="rect">
            <a:avLst/>
          </a:prstGeom>
        </p:spPr>
        <p:txBody>
          <a:bodyPr/>
          <a:lstStyle/>
          <a:p>
            <a:pPr marL="0" indent="0">
              <a:buSzTx/>
              <a:buFontTx/>
              <a:buNone/>
              <a:defRPr sz="1600"/>
            </a:pPr>
            <a:endParaRP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Picture with Caption">
    <p:spTree>
      <p:nvGrpSpPr>
        <p:cNvPr id="1" name=""/>
        <p:cNvGrpSpPr/>
        <p:nvPr/>
      </p:nvGrpSpPr>
      <p:grpSpPr>
        <a:xfrm>
          <a:off x="0" y="0"/>
          <a:ext cx="0" cy="0"/>
          <a:chOff x="0" y="0"/>
          <a:chExt cx="0" cy="0"/>
        </a:xfrm>
      </p:grpSpPr>
      <p:sp>
        <p:nvSpPr>
          <p:cNvPr id="83" name="Title Text"/>
          <p:cNvSpPr txBox="1">
            <a:spLocks noGrp="1"/>
          </p:cNvSpPr>
          <p:nvPr>
            <p:ph type="title"/>
          </p:nvPr>
        </p:nvSpPr>
        <p:spPr>
          <a:xfrm>
            <a:off x="839790" y="457200"/>
            <a:ext cx="3932236" cy="1600200"/>
          </a:xfrm>
          <a:prstGeom prst="rect">
            <a:avLst/>
          </a:prstGeom>
        </p:spPr>
        <p:txBody>
          <a:bodyPr anchor="b"/>
          <a:lstStyle>
            <a:lvl1pPr>
              <a:defRPr sz="3200"/>
            </a:lvl1pPr>
          </a:lstStyle>
          <a:p>
            <a:r>
              <a:t>Title Text</a:t>
            </a:r>
          </a:p>
        </p:txBody>
      </p:sp>
      <p:sp>
        <p:nvSpPr>
          <p:cNvPr id="84" name="Picture Placeholder 2"/>
          <p:cNvSpPr>
            <a:spLocks noGrp="1"/>
          </p:cNvSpPr>
          <p:nvPr>
            <p:ph type="pic" sz="half" idx="21"/>
          </p:nvPr>
        </p:nvSpPr>
        <p:spPr>
          <a:xfrm>
            <a:off x="5183187" y="987425"/>
            <a:ext cx="6172203" cy="4873625"/>
          </a:xfrm>
          <a:prstGeom prst="rect">
            <a:avLst/>
          </a:prstGeom>
        </p:spPr>
        <p:txBody>
          <a:bodyPr lIns="91439" rIns="91439">
            <a:noAutofit/>
          </a:bodyPr>
          <a:lstStyle/>
          <a:p>
            <a:endParaRPr dirty="0"/>
          </a:p>
        </p:txBody>
      </p:sp>
      <p:sp>
        <p:nvSpPr>
          <p:cNvPr id="85" name="Body Level One…"/>
          <p:cNvSpPr txBox="1">
            <a:spLocks noGrp="1"/>
          </p:cNvSpPr>
          <p:nvPr>
            <p:ph type="body" sz="quarter" idx="1"/>
          </p:nvPr>
        </p:nvSpPr>
        <p:spPr>
          <a:xfrm>
            <a:off x="839790" y="2057400"/>
            <a:ext cx="3932236" cy="3811588"/>
          </a:xfrm>
          <a:prstGeom prst="rect">
            <a:avLst/>
          </a:prstGeom>
        </p:spPr>
        <p:txBody>
          <a:bodyPr/>
          <a:lstStyle>
            <a:lvl1pPr marL="0" indent="0">
              <a:buSzTx/>
              <a:buFontTx/>
              <a:buNone/>
              <a:defRPr sz="1600"/>
            </a:lvl1pPr>
            <a:lvl2pPr marL="0" indent="457206">
              <a:buSzTx/>
              <a:buFontTx/>
              <a:buNone/>
              <a:defRPr sz="1600"/>
            </a:lvl2pPr>
            <a:lvl3pPr marL="0" indent="914411">
              <a:buSzTx/>
              <a:buFontTx/>
              <a:buNone/>
              <a:defRPr sz="1600"/>
            </a:lvl3pPr>
            <a:lvl4pPr marL="0" indent="1371616">
              <a:buSzTx/>
              <a:buFontTx/>
              <a:buNone/>
              <a:defRPr sz="1600"/>
            </a:lvl4pPr>
            <a:lvl5pPr marL="0" indent="1828823">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86"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838202" y="365125"/>
            <a:ext cx="10515601" cy="13255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normAutofit/>
          </a:bodyPr>
          <a:lstStyle/>
          <a:p>
            <a:r>
              <a:t>Title Text</a:t>
            </a:r>
          </a:p>
        </p:txBody>
      </p:sp>
      <p:sp>
        <p:nvSpPr>
          <p:cNvPr id="3" name="Body Level One…"/>
          <p:cNvSpPr txBox="1">
            <a:spLocks noGrp="1"/>
          </p:cNvSpPr>
          <p:nvPr>
            <p:ph type="body" idx="1"/>
          </p:nvPr>
        </p:nvSpPr>
        <p:spPr>
          <a:xfrm>
            <a:off x="838202" y="1825625"/>
            <a:ext cx="10515601" cy="435133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4" name="Straight Connector 6"/>
          <p:cNvSpPr/>
          <p:nvPr/>
        </p:nvSpPr>
        <p:spPr>
          <a:xfrm flipH="1" flipV="1">
            <a:off x="11366378" y="6459014"/>
            <a:ext cx="3" cy="159415"/>
          </a:xfrm>
          <a:prstGeom prst="line">
            <a:avLst/>
          </a:prstGeom>
          <a:ln w="19050" cap="rnd">
            <a:solidFill>
              <a:srgbClr val="8ED656"/>
            </a:solidFill>
            <a:miter/>
          </a:ln>
        </p:spPr>
        <p:txBody>
          <a:bodyPr lIns="45719" rIns="45719"/>
          <a:lstStyle/>
          <a:p>
            <a:endParaRPr dirty="0"/>
          </a:p>
        </p:txBody>
      </p:sp>
      <p:sp>
        <p:nvSpPr>
          <p:cNvPr id="5" name="Slide Number"/>
          <p:cNvSpPr txBox="1">
            <a:spLocks noGrp="1"/>
          </p:cNvSpPr>
          <p:nvPr>
            <p:ph type="sldNum" sz="quarter" idx="2"/>
          </p:nvPr>
        </p:nvSpPr>
        <p:spPr>
          <a:xfrm>
            <a:off x="11095177" y="6414761"/>
            <a:ext cx="258624" cy="248306"/>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t>‹#›</a:t>
            </a:fld>
            <a:endParaRPr dirty="0"/>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6" r:id="rId6"/>
    <p:sldLayoutId id="2147483657" r:id="rId7"/>
  </p:sldLayoutIdLst>
  <p:transition spd="med"/>
  <p:txStyles>
    <p:titleStyle>
      <a:lvl1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1pPr>
      <a:lvl2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2pPr>
      <a:lvl3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3pPr>
      <a:lvl4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4pPr>
      <a:lvl5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5pPr>
      <a:lvl6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6pPr>
      <a:lvl7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7pPr>
      <a:lvl8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8pPr>
      <a:lvl9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9pPr>
    </p:titleStyle>
    <p:bodyStyle>
      <a:lvl1pPr marL="228603" marR="0" indent="-228603"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1pPr>
      <a:lvl2pPr marL="723909" marR="0" indent="-266704"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2pPr>
      <a:lvl3pPr marL="1234456" marR="0" indent="-320045"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3pPr>
      <a:lvl4pPr marL="1727223"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4pPr>
      <a:lvl5pPr marL="2184429"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5pPr>
      <a:lvl6pPr marL="2641634"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6pPr>
      <a:lvl7pPr marL="3098840"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7pPr>
      <a:lvl8pPr marL="3556046"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8pPr>
      <a:lvl9pPr marL="4013251"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emf"/></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a:t>
            </a:fld>
            <a:endParaRPr dirty="0"/>
          </a:p>
        </p:txBody>
      </p:sp>
      <p:sp>
        <p:nvSpPr>
          <p:cNvPr id="207" name="TextBox 17"/>
          <p:cNvSpPr txBox="1"/>
          <p:nvPr/>
        </p:nvSpPr>
        <p:spPr>
          <a:xfrm>
            <a:off x="2020186" y="2460208"/>
            <a:ext cx="6847367" cy="5909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IN" sz="3600" dirty="0">
                <a:latin typeface="Calibri" panose="020F0502020204030204" pitchFamily="34" charset="0"/>
                <a:cs typeface="Calibri" panose="020F0502020204030204" pitchFamily="34" charset="0"/>
              </a:rPr>
              <a:t>            Additional ABAP Concepts</a:t>
            </a:r>
            <a:endParaRPr sz="4000" dirty="0">
              <a:latin typeface="Calibri" panose="020F0502020204030204" pitchFamily="34" charset="0"/>
              <a:cs typeface="Calibri" panose="020F0502020204030204" pitchFamily="34" charset="0"/>
            </a:endParaRPr>
          </a:p>
        </p:txBody>
      </p:sp>
      <p:sp>
        <p:nvSpPr>
          <p:cNvPr id="209" name="TextBox 7"/>
          <p:cNvSpPr txBox="1"/>
          <p:nvPr/>
        </p:nvSpPr>
        <p:spPr>
          <a:xfrm>
            <a:off x="14244" y="1263042"/>
            <a:ext cx="11935565" cy="7169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457200" lvl="1" indent="0">
              <a:lnSpc>
                <a:spcPct val="200000"/>
              </a:lnSpc>
              <a:buClr>
                <a:srgbClr val="73C96C"/>
              </a:buClr>
              <a:buSzPct val="100000"/>
              <a:defRPr sz="2400">
                <a:solidFill>
                  <a:srgbClr val="1F4E79"/>
                </a:solidFill>
                <a:latin typeface="Trebuchet MS"/>
                <a:ea typeface="Trebuchet MS"/>
                <a:cs typeface="Trebuchet MS"/>
                <a:sym typeface="Trebuchet MS"/>
              </a:defRPr>
            </a:pPr>
            <a:endParaRPr lang="en-IN" dirty="0"/>
          </a:p>
        </p:txBody>
      </p:sp>
      <p:sp>
        <p:nvSpPr>
          <p:cNvPr id="3" name="Straight Connector 18">
            <a:extLst>
              <a:ext uri="{FF2B5EF4-FFF2-40B4-BE49-F238E27FC236}">
                <a16:creationId xmlns:a16="http://schemas.microsoft.com/office/drawing/2014/main" id="{4DBA8D6F-AFF4-8D71-2B02-737781787B1E}"/>
              </a:ext>
            </a:extLst>
          </p:cNvPr>
          <p:cNvSpPr/>
          <p:nvPr/>
        </p:nvSpPr>
        <p:spPr>
          <a:xfrm flipH="1" flipV="1">
            <a:off x="191386" y="3168502"/>
            <a:ext cx="11758422" cy="53162"/>
          </a:xfrm>
          <a:prstGeom prst="line">
            <a:avLst/>
          </a:prstGeom>
          <a:ln w="69850" cap="rnd">
            <a:solidFill>
              <a:srgbClr val="8ED656"/>
            </a:solidFill>
            <a:miter/>
          </a:ln>
        </p:spPr>
        <p:txBody>
          <a:bodyPr lIns="45719" rIns="45719"/>
          <a:lstStyle/>
          <a:p>
            <a:endParaRPr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E5905-2C75-CF13-CD20-8383643F6931}"/>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210FEAB7-2A8A-C988-0878-84ACBA01C770}"/>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2</a:t>
            </a:fld>
            <a:endParaRPr dirty="0"/>
          </a:p>
        </p:txBody>
      </p:sp>
      <p:sp>
        <p:nvSpPr>
          <p:cNvPr id="207" name="TextBox 17">
            <a:extLst>
              <a:ext uri="{FF2B5EF4-FFF2-40B4-BE49-F238E27FC236}">
                <a16:creationId xmlns:a16="http://schemas.microsoft.com/office/drawing/2014/main" id="{C6FAB099-B933-C228-D5AB-66C5D9C6A6F9}"/>
              </a:ext>
            </a:extLst>
          </p:cNvPr>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Where Used List</a:t>
            </a:r>
          </a:p>
        </p:txBody>
      </p:sp>
      <p:sp>
        <p:nvSpPr>
          <p:cNvPr id="208" name="Straight Connector 18">
            <a:extLst>
              <a:ext uri="{FF2B5EF4-FFF2-40B4-BE49-F238E27FC236}">
                <a16:creationId xmlns:a16="http://schemas.microsoft.com/office/drawing/2014/main" id="{AA8C6FA0-890F-F622-D506-EF78E30025EA}"/>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33EDDE89-9F7B-A587-5E00-3FF9E0EFBBF8}"/>
              </a:ext>
            </a:extLst>
          </p:cNvPr>
          <p:cNvSpPr txBox="1"/>
          <p:nvPr/>
        </p:nvSpPr>
        <p:spPr>
          <a:xfrm>
            <a:off x="14244" y="1263042"/>
            <a:ext cx="11935565" cy="22048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SAP provided a where used list functionality to check the used places of an ABAP object.</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4D5156"/>
              </a:solidFill>
              <a:latin typeface="Google Sans"/>
              <a:cs typeface="Arial" panose="020B0604020202020204" pitchFamily="34" charset="0"/>
            </a:endParaRPr>
          </a:p>
        </p:txBody>
      </p:sp>
      <p:pic>
        <p:nvPicPr>
          <p:cNvPr id="3" name="Picture 2">
            <a:extLst>
              <a:ext uri="{FF2B5EF4-FFF2-40B4-BE49-F238E27FC236}">
                <a16:creationId xmlns:a16="http://schemas.microsoft.com/office/drawing/2014/main" id="{BA169C97-CEB9-685B-9C70-8D35AF380D02}"/>
              </a:ext>
            </a:extLst>
          </p:cNvPr>
          <p:cNvPicPr>
            <a:picLocks noChangeAspect="1"/>
          </p:cNvPicPr>
          <p:nvPr/>
        </p:nvPicPr>
        <p:blipFill>
          <a:blip r:embed="rId3"/>
          <a:stretch>
            <a:fillRect/>
          </a:stretch>
        </p:blipFill>
        <p:spPr>
          <a:xfrm>
            <a:off x="3163078" y="2596918"/>
            <a:ext cx="4823926" cy="3941996"/>
          </a:xfrm>
          <a:prstGeom prst="rect">
            <a:avLst/>
          </a:prstGeom>
          <a:ln>
            <a:solidFill>
              <a:schemeClr val="accent1"/>
            </a:solidFill>
          </a:ln>
        </p:spPr>
      </p:pic>
      <p:sp>
        <p:nvSpPr>
          <p:cNvPr id="4" name="TextBox 3">
            <a:extLst>
              <a:ext uri="{FF2B5EF4-FFF2-40B4-BE49-F238E27FC236}">
                <a16:creationId xmlns:a16="http://schemas.microsoft.com/office/drawing/2014/main" id="{9D956190-272F-DF98-901E-7205D2C1CF3C}"/>
              </a:ext>
            </a:extLst>
          </p:cNvPr>
          <p:cNvSpPr txBox="1"/>
          <p:nvPr/>
        </p:nvSpPr>
        <p:spPr>
          <a:xfrm flipH="1">
            <a:off x="3507398" y="2237093"/>
            <a:ext cx="4320985"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0" i="0" u="none" strike="noStrike" cap="none" spc="0" normalizeH="0" baseline="0" dirty="0">
                <a:ln>
                  <a:noFill/>
                </a:ln>
                <a:solidFill>
                  <a:srgbClr val="000000"/>
                </a:solidFill>
                <a:effectLst/>
                <a:uFillTx/>
                <a:latin typeface="+mj-lt"/>
                <a:ea typeface="+mj-ea"/>
                <a:cs typeface="+mj-cs"/>
                <a:sym typeface="Calibri"/>
              </a:rPr>
              <a:t>  Where used list in SE11 transaction code</a:t>
            </a:r>
            <a:endParaRPr kumimoji="0" lang="en-IN" sz="1800" b="0" i="0" u="none" strike="noStrike" cap="none" spc="0" normalizeH="0" baseline="0" dirty="0">
              <a:ln>
                <a:noFill/>
              </a:ln>
              <a:solidFill>
                <a:srgbClr val="000000"/>
              </a:solidFill>
              <a:effectLst/>
              <a:uFillTx/>
              <a:latin typeface="+mj-lt"/>
              <a:ea typeface="+mj-ea"/>
              <a:cs typeface="+mj-cs"/>
              <a:sym typeface="Calibri"/>
            </a:endParaRPr>
          </a:p>
        </p:txBody>
      </p:sp>
    </p:spTree>
    <p:extLst>
      <p:ext uri="{BB962C8B-B14F-4D97-AF65-F5344CB8AC3E}">
        <p14:creationId xmlns:p14="http://schemas.microsoft.com/office/powerpoint/2010/main" val="1715094005"/>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1F84E-6A36-C0AC-3FA6-D20659AE069E}"/>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FEC9BB66-06DF-928B-5E8F-BFC76E4DA17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a:t>
            </a:fld>
            <a:endParaRPr dirty="0"/>
          </a:p>
        </p:txBody>
      </p:sp>
      <p:sp>
        <p:nvSpPr>
          <p:cNvPr id="207" name="TextBox 17">
            <a:extLst>
              <a:ext uri="{FF2B5EF4-FFF2-40B4-BE49-F238E27FC236}">
                <a16:creationId xmlns:a16="http://schemas.microsoft.com/office/drawing/2014/main" id="{B959A070-109C-97F4-29C6-6564DFF5A65D}"/>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TADIR and TFDIR Tables</a:t>
            </a:r>
          </a:p>
        </p:txBody>
      </p:sp>
      <p:sp>
        <p:nvSpPr>
          <p:cNvPr id="208" name="Straight Connector 18">
            <a:extLst>
              <a:ext uri="{FF2B5EF4-FFF2-40B4-BE49-F238E27FC236}">
                <a16:creationId xmlns:a16="http://schemas.microsoft.com/office/drawing/2014/main" id="{A7C0C4F1-1885-7170-08AB-6580DABD2070}"/>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0E848775-29C4-CAFF-29CE-0BBE4779D241}"/>
              </a:ext>
            </a:extLst>
          </p:cNvPr>
          <p:cNvSpPr txBox="1"/>
          <p:nvPr/>
        </p:nvSpPr>
        <p:spPr>
          <a:xfrm>
            <a:off x="14244" y="1263042"/>
            <a:ext cx="11935565" cy="14662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TADIR - Directory of Repository Objects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TFDIR  - Directory of Function Modules</a:t>
            </a:r>
          </a:p>
        </p:txBody>
      </p:sp>
    </p:spTree>
    <p:extLst>
      <p:ext uri="{BB962C8B-B14F-4D97-AF65-F5344CB8AC3E}">
        <p14:creationId xmlns:p14="http://schemas.microsoft.com/office/powerpoint/2010/main" val="3493429296"/>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E3814-821A-84FD-A7BD-EB23EC37AC70}"/>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7976E3A7-78B9-B5FD-1525-7B14C01AE62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a:t>
            </a:fld>
            <a:endParaRPr dirty="0"/>
          </a:p>
        </p:txBody>
      </p:sp>
      <p:sp>
        <p:nvSpPr>
          <p:cNvPr id="207" name="TextBox 17">
            <a:extLst>
              <a:ext uri="{FF2B5EF4-FFF2-40B4-BE49-F238E27FC236}">
                <a16:creationId xmlns:a16="http://schemas.microsoft.com/office/drawing/2014/main" id="{D3E7B74C-A48F-A3D1-EB7F-A15DDC2005E3}"/>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Type Group </a:t>
            </a:r>
          </a:p>
        </p:txBody>
      </p:sp>
      <p:sp>
        <p:nvSpPr>
          <p:cNvPr id="208" name="Straight Connector 18">
            <a:extLst>
              <a:ext uri="{FF2B5EF4-FFF2-40B4-BE49-F238E27FC236}">
                <a16:creationId xmlns:a16="http://schemas.microsoft.com/office/drawing/2014/main" id="{EB8D25C4-0F76-5FDE-9609-8144E6693A67}"/>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8FA443CE-B7FF-8B48-956B-51BCEF9CEB21}"/>
              </a:ext>
            </a:extLst>
          </p:cNvPr>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Type Group is also called as Type Pool.</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create type group through SE11 transaction code.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is a container or group for defining custom data types like structure type, table type etc.</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most common type groups which are provided by SAP are SLIS and ABAP.</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While creating types within a type group, all names must start with the name of the type group followed by an underscore. </a:t>
            </a:r>
          </a:p>
        </p:txBody>
      </p:sp>
    </p:spTree>
    <p:extLst>
      <p:ext uri="{BB962C8B-B14F-4D97-AF65-F5344CB8AC3E}">
        <p14:creationId xmlns:p14="http://schemas.microsoft.com/office/powerpoint/2010/main" val="2028125432"/>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017F6-1DE0-EEB4-3EA6-ADEEA67B2789}"/>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52345AAF-219E-D453-502B-61D826D7EAAE}"/>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a:t>
            </a:fld>
            <a:endParaRPr dirty="0"/>
          </a:p>
        </p:txBody>
      </p:sp>
      <p:sp>
        <p:nvSpPr>
          <p:cNvPr id="207" name="TextBox 17">
            <a:extLst>
              <a:ext uri="{FF2B5EF4-FFF2-40B4-BE49-F238E27FC236}">
                <a16:creationId xmlns:a16="http://schemas.microsoft.com/office/drawing/2014/main" id="{02E41BDE-B73F-FB60-93FD-B2E76970A3AD}"/>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Type Group(Contd.) </a:t>
            </a:r>
          </a:p>
        </p:txBody>
      </p:sp>
      <p:sp>
        <p:nvSpPr>
          <p:cNvPr id="208" name="Straight Connector 18">
            <a:extLst>
              <a:ext uri="{FF2B5EF4-FFF2-40B4-BE49-F238E27FC236}">
                <a16:creationId xmlns:a16="http://schemas.microsoft.com/office/drawing/2014/main" id="{1A3EAFAD-DDC2-1DEE-3E4B-11CDE73EE2A8}"/>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BF69DFB4-BFDE-16B8-03F8-8784291D3B1E}"/>
              </a:ext>
            </a:extLst>
          </p:cNvPr>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Example - Name of Type Group : ZSDOC and we want to define one structure type LTY_VBAK in that type group, then the naming convention for that structure type is ZSDOC_LTY_VBAK.</a:t>
            </a:r>
          </a:p>
        </p:txBody>
      </p:sp>
    </p:spTree>
    <p:extLst>
      <p:ext uri="{BB962C8B-B14F-4D97-AF65-F5344CB8AC3E}">
        <p14:creationId xmlns:p14="http://schemas.microsoft.com/office/powerpoint/2010/main" val="3115561879"/>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4AA17-FFF0-EFE6-945D-85C7C641CE57}"/>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54252788-B82F-98AF-9421-A6BF32422870}"/>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6</a:t>
            </a:fld>
            <a:endParaRPr dirty="0"/>
          </a:p>
        </p:txBody>
      </p:sp>
      <p:sp>
        <p:nvSpPr>
          <p:cNvPr id="207" name="TextBox 17">
            <a:extLst>
              <a:ext uri="{FF2B5EF4-FFF2-40B4-BE49-F238E27FC236}">
                <a16:creationId xmlns:a16="http://schemas.microsoft.com/office/drawing/2014/main" id="{CE65E3EB-929B-11F7-5A08-CA981C6FEB58}"/>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Type Group - Benefit &amp; Way to Define in a Program </a:t>
            </a:r>
          </a:p>
        </p:txBody>
      </p:sp>
      <p:sp>
        <p:nvSpPr>
          <p:cNvPr id="208" name="Straight Connector 18">
            <a:extLst>
              <a:ext uri="{FF2B5EF4-FFF2-40B4-BE49-F238E27FC236}">
                <a16:creationId xmlns:a16="http://schemas.microsoft.com/office/drawing/2014/main" id="{7054F09F-0DA4-3357-FB53-BC07671913EC}"/>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189064B7-40C4-34D4-3892-3E6DCC172F00}"/>
              </a:ext>
            </a:extLst>
          </p:cNvPr>
          <p:cNvSpPr txBox="1"/>
          <p:nvPr/>
        </p:nvSpPr>
        <p:spPr>
          <a:xfrm>
            <a:off x="14244" y="1263042"/>
            <a:ext cx="11935565" cy="737554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One type group can be used in multiple programs.</a:t>
            </a:r>
          </a:p>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Instead of defining same data types in multiple programs, we can create a type group and use that type group in multiple programs.</a:t>
            </a:r>
          </a:p>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enhances the readability and reusability of the code.</a:t>
            </a:r>
          </a:p>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declare the type group in ABAP program using the TYPE-POOLS statement.</a:t>
            </a:r>
          </a:p>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Tx/>
              <a:buAutoNum type="arabicPeriod" startAt="8"/>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00628720"/>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CF2CA-AFFF-5A38-3C98-06495B4E0ED2}"/>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86633272-C074-AC47-1EC8-2F6C9B7F9965}"/>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7</a:t>
            </a:fld>
            <a:endParaRPr dirty="0"/>
          </a:p>
        </p:txBody>
      </p:sp>
      <p:sp>
        <p:nvSpPr>
          <p:cNvPr id="207" name="TextBox 17">
            <a:extLst>
              <a:ext uri="{FF2B5EF4-FFF2-40B4-BE49-F238E27FC236}">
                <a16:creationId xmlns:a16="http://schemas.microsoft.com/office/drawing/2014/main" id="{5112A5B3-E60D-7266-547D-76DCC3A8075B}"/>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Type Group - Disadvantage  </a:t>
            </a:r>
          </a:p>
        </p:txBody>
      </p:sp>
      <p:sp>
        <p:nvSpPr>
          <p:cNvPr id="208" name="Straight Connector 18">
            <a:extLst>
              <a:ext uri="{FF2B5EF4-FFF2-40B4-BE49-F238E27FC236}">
                <a16:creationId xmlns:a16="http://schemas.microsoft.com/office/drawing/2014/main" id="{CBA0ADA8-A301-4EAD-C846-C519ABC2B6E7}"/>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242C9339-B7E4-709D-700C-FF0EF5E5CC53}"/>
              </a:ext>
            </a:extLst>
          </p:cNvPr>
          <p:cNvSpPr txBox="1"/>
          <p:nvPr/>
        </p:nvSpPr>
        <p:spPr>
          <a:xfrm>
            <a:off x="14244" y="1263042"/>
            <a:ext cx="11935565" cy="66368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drawback of this group is that the entire type group must be loaded, even if only a few types are needed.</a:t>
            </a:r>
          </a:p>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So, instead of creating type groups, we prefer to use the types defined through global classes. </a:t>
            </a:r>
          </a:p>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Tx/>
              <a:buAutoNum type="arabicPeriod" startAt="8"/>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42370887"/>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E5905-2C75-CF13-CD20-8383643F6931}"/>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210FEAB7-2A8A-C988-0878-84ACBA01C770}"/>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8</a:t>
            </a:fld>
            <a:endParaRPr dirty="0"/>
          </a:p>
        </p:txBody>
      </p:sp>
      <p:sp>
        <p:nvSpPr>
          <p:cNvPr id="207" name="TextBox 17">
            <a:extLst>
              <a:ext uri="{FF2B5EF4-FFF2-40B4-BE49-F238E27FC236}">
                <a16:creationId xmlns:a16="http://schemas.microsoft.com/office/drawing/2014/main" id="{C6FAB099-B933-C228-D5AB-66C5D9C6A6F9}"/>
              </a:ext>
            </a:extLst>
          </p:cNvPr>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Conversion Routines</a:t>
            </a:r>
          </a:p>
        </p:txBody>
      </p:sp>
      <p:sp>
        <p:nvSpPr>
          <p:cNvPr id="208" name="Straight Connector 18">
            <a:extLst>
              <a:ext uri="{FF2B5EF4-FFF2-40B4-BE49-F238E27FC236}">
                <a16:creationId xmlns:a16="http://schemas.microsoft.com/office/drawing/2014/main" id="{AA8C6FA0-890F-F622-D506-EF78E30025EA}"/>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33EDDE89-9F7B-A587-5E00-3FF9E0EFBBF8}"/>
              </a:ext>
            </a:extLst>
          </p:cNvPr>
          <p:cNvSpPr txBox="1"/>
          <p:nvPr/>
        </p:nvSpPr>
        <p:spPr>
          <a:xfrm>
            <a:off x="14244" y="1263042"/>
            <a:ext cx="11935565" cy="29435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Conversion Routines are used to convert the values from external display format to internal storage format and vice-versa.</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They are the part of the domain and are the function modules.</a:t>
            </a:r>
          </a:p>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endParaRPr lang="en-US" altLang="en-US" sz="2400" dirty="0">
              <a:solidFill>
                <a:srgbClr val="4D5156"/>
              </a:solidFill>
              <a:latin typeface="Google Sans"/>
              <a:cs typeface="Arial" panose="020B0604020202020204" pitchFamily="34" charset="0"/>
            </a:endParaRPr>
          </a:p>
        </p:txBody>
      </p:sp>
    </p:spTree>
    <p:extLst>
      <p:ext uri="{BB962C8B-B14F-4D97-AF65-F5344CB8AC3E}">
        <p14:creationId xmlns:p14="http://schemas.microsoft.com/office/powerpoint/2010/main" val="188720505"/>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E5905-2C75-CF13-CD20-8383643F6931}"/>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210FEAB7-2A8A-C988-0878-84ACBA01C770}"/>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9</a:t>
            </a:fld>
            <a:endParaRPr dirty="0"/>
          </a:p>
        </p:txBody>
      </p:sp>
      <p:sp>
        <p:nvSpPr>
          <p:cNvPr id="207" name="TextBox 17">
            <a:extLst>
              <a:ext uri="{FF2B5EF4-FFF2-40B4-BE49-F238E27FC236}">
                <a16:creationId xmlns:a16="http://schemas.microsoft.com/office/drawing/2014/main" id="{C6FAB099-B933-C228-D5AB-66C5D9C6A6F9}"/>
              </a:ext>
            </a:extLst>
          </p:cNvPr>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Hot Key in Search Help</a:t>
            </a:r>
          </a:p>
        </p:txBody>
      </p:sp>
      <p:sp>
        <p:nvSpPr>
          <p:cNvPr id="208" name="Straight Connector 18">
            <a:extLst>
              <a:ext uri="{FF2B5EF4-FFF2-40B4-BE49-F238E27FC236}">
                <a16:creationId xmlns:a16="http://schemas.microsoft.com/office/drawing/2014/main" id="{AA8C6FA0-890F-F622-D506-EF78E30025EA}"/>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33EDDE89-9F7B-A587-5E00-3FF9E0EFBBF8}"/>
              </a:ext>
            </a:extLst>
          </p:cNvPr>
          <p:cNvSpPr txBox="1"/>
          <p:nvPr/>
        </p:nvSpPr>
        <p:spPr>
          <a:xfrm>
            <a:off x="121298" y="1263042"/>
            <a:ext cx="11828511" cy="811420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hot key permits the user to select an elementary search help from the collective search help by passing it directly in the input field with the short notation.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This can save time if the user frequently looks for values using the same search help.</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Letters and digits are allowed as hot key.</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shortcut must be entered in the input field according to the following convention -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=HK.S1.S2.S3 etc. where HK = hot key and S1, S2,S3 are the restrictions.</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08980247"/>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E5905-2C75-CF13-CD20-8383643F6931}"/>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210FEAB7-2A8A-C988-0878-84ACBA01C770}"/>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10</a:t>
            </a:fld>
            <a:endParaRPr dirty="0"/>
          </a:p>
        </p:txBody>
      </p:sp>
      <p:sp>
        <p:nvSpPr>
          <p:cNvPr id="207" name="TextBox 17">
            <a:extLst>
              <a:ext uri="{FF2B5EF4-FFF2-40B4-BE49-F238E27FC236}">
                <a16:creationId xmlns:a16="http://schemas.microsoft.com/office/drawing/2014/main" id="{C6FAB099-B933-C228-D5AB-66C5D9C6A6F9}"/>
              </a:ext>
            </a:extLst>
          </p:cNvPr>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Hot Key in Search Help (Contd.)</a:t>
            </a:r>
          </a:p>
        </p:txBody>
      </p:sp>
      <p:sp>
        <p:nvSpPr>
          <p:cNvPr id="208" name="Straight Connector 18">
            <a:extLst>
              <a:ext uri="{FF2B5EF4-FFF2-40B4-BE49-F238E27FC236}">
                <a16:creationId xmlns:a16="http://schemas.microsoft.com/office/drawing/2014/main" id="{AA8C6FA0-890F-F622-D506-EF78E30025EA}"/>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33EDDE89-9F7B-A587-5E00-3FF9E0EFBBF8}"/>
              </a:ext>
            </a:extLst>
          </p:cNvPr>
          <p:cNvSpPr txBox="1"/>
          <p:nvPr/>
        </p:nvSpPr>
        <p:spPr>
          <a:xfrm>
            <a:off x="121298" y="1263042"/>
            <a:ext cx="11828511" cy="44208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If the hot key is entered without restrictions (=HK), the dialog box for restricting values appears.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If restrictions are defined, the dialog box for restricting values does not appear and the hit list is displayed directly.</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If exactly one hit is found, the hit list is not displayed. The values of the hits that are found are returned directly to the screen in this case.</a:t>
            </a:r>
          </a:p>
        </p:txBody>
      </p:sp>
    </p:spTree>
    <p:extLst>
      <p:ext uri="{BB962C8B-B14F-4D97-AF65-F5344CB8AC3E}">
        <p14:creationId xmlns:p14="http://schemas.microsoft.com/office/powerpoint/2010/main" val="3527162485"/>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62C1F-6859-1E53-C884-03AF8199134D}"/>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05F96BD0-A329-7211-8B50-ECEAA4368C43}"/>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11</a:t>
            </a:fld>
            <a:endParaRPr dirty="0"/>
          </a:p>
        </p:txBody>
      </p:sp>
      <p:sp>
        <p:nvSpPr>
          <p:cNvPr id="207" name="TextBox 17">
            <a:extLst>
              <a:ext uri="{FF2B5EF4-FFF2-40B4-BE49-F238E27FC236}">
                <a16:creationId xmlns:a16="http://schemas.microsoft.com/office/drawing/2014/main" id="{21D77DE5-FCCB-AC38-1295-2281A94C44C1}"/>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Search Help Exit - Introduction</a:t>
            </a:r>
          </a:p>
        </p:txBody>
      </p:sp>
      <p:sp>
        <p:nvSpPr>
          <p:cNvPr id="208" name="Straight Connector 18">
            <a:extLst>
              <a:ext uri="{FF2B5EF4-FFF2-40B4-BE49-F238E27FC236}">
                <a16:creationId xmlns:a16="http://schemas.microsoft.com/office/drawing/2014/main" id="{9F2E4FB7-6B7C-2057-CC9C-D5089CE12FD4}"/>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437B0E2F-41D6-6EAC-4FB3-A66F1124349A}"/>
              </a:ext>
            </a:extLst>
          </p:cNvPr>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A search help exit is a function module that has a predefined interface.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This function module is used to write the logic for the search help.</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example search help exit provided by SAP is : F4IF_SHLP_EXIT_EXAMPLE.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make a copy of this search help exit and create our own search help exit.</a:t>
            </a:r>
          </a:p>
        </p:txBody>
      </p:sp>
    </p:spTree>
    <p:extLst>
      <p:ext uri="{BB962C8B-B14F-4D97-AF65-F5344CB8AC3E}">
        <p14:creationId xmlns:p14="http://schemas.microsoft.com/office/powerpoint/2010/main" val="3130804748"/>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FAAA8-5F1D-408E-2C59-E3F9CD924031}"/>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0529FA46-C15B-6BEB-5D3C-C514EB7EE29E}"/>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12</a:t>
            </a:fld>
            <a:endParaRPr dirty="0"/>
          </a:p>
        </p:txBody>
      </p:sp>
      <p:sp>
        <p:nvSpPr>
          <p:cNvPr id="207" name="TextBox 17">
            <a:extLst>
              <a:ext uri="{FF2B5EF4-FFF2-40B4-BE49-F238E27FC236}">
                <a16:creationId xmlns:a16="http://schemas.microsoft.com/office/drawing/2014/main" id="{EC2EA6E8-7AB6-4E5D-7BF5-3F783FCE1A53}"/>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Search Help Exit - Pre-defined Parameters</a:t>
            </a:r>
          </a:p>
        </p:txBody>
      </p:sp>
      <p:sp>
        <p:nvSpPr>
          <p:cNvPr id="208" name="Straight Connector 18">
            <a:extLst>
              <a:ext uri="{FF2B5EF4-FFF2-40B4-BE49-F238E27FC236}">
                <a16:creationId xmlns:a16="http://schemas.microsoft.com/office/drawing/2014/main" id="{94593AD8-6BAD-A966-C2AE-0ED3C7787A2C}"/>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E077C9D1-FF99-0B2F-8582-4ACD60D2FEE1}"/>
              </a:ext>
            </a:extLst>
          </p:cNvPr>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various search help exit pre-defined parameters are as follows :</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SHLP - Parameter for current search help.</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CALLCONTROL - Parameter for control of F4 process.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SHLP_TAB -  Table for elementary search help.</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RECORD_TAB -  Record list/Hit list</a:t>
            </a:r>
          </a:p>
        </p:txBody>
      </p:sp>
    </p:spTree>
    <p:extLst>
      <p:ext uri="{BB962C8B-B14F-4D97-AF65-F5344CB8AC3E}">
        <p14:creationId xmlns:p14="http://schemas.microsoft.com/office/powerpoint/2010/main" val="1165814344"/>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D83AE-CDEA-826E-6211-7FEC5295A517}"/>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9EBD9BF3-BB99-5200-69FE-671E787B8695}"/>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13</a:t>
            </a:fld>
            <a:endParaRPr dirty="0"/>
          </a:p>
        </p:txBody>
      </p:sp>
      <p:sp>
        <p:nvSpPr>
          <p:cNvPr id="207" name="TextBox 17">
            <a:extLst>
              <a:ext uri="{FF2B5EF4-FFF2-40B4-BE49-F238E27FC236}">
                <a16:creationId xmlns:a16="http://schemas.microsoft.com/office/drawing/2014/main" id="{456E149C-414B-8014-839D-B870130602E8}"/>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Search Help Exit - CallControl Steps</a:t>
            </a:r>
          </a:p>
        </p:txBody>
      </p:sp>
      <p:sp>
        <p:nvSpPr>
          <p:cNvPr id="208" name="Straight Connector 18">
            <a:extLst>
              <a:ext uri="{FF2B5EF4-FFF2-40B4-BE49-F238E27FC236}">
                <a16:creationId xmlns:a16="http://schemas.microsoft.com/office/drawing/2014/main" id="{A5EE84D6-335B-2491-B194-A9BFB253BD27}"/>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37AC1668-C053-4CBC-2651-101707FD121D}"/>
              </a:ext>
            </a:extLst>
          </p:cNvPr>
          <p:cNvSpPr txBox="1"/>
          <p:nvPr/>
        </p:nvSpPr>
        <p:spPr>
          <a:xfrm>
            <a:off x="14244" y="1263042"/>
            <a:ext cx="11935565" cy="58876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various callcontrol steps in search help exit process are as follows:</a:t>
            </a:r>
            <a:endParaRPr lang="en-US" altLang="en-US" sz="2400" dirty="0">
              <a:solidFill>
                <a:srgbClr val="4D5156"/>
              </a:solidFill>
              <a:latin typeface="Google Sans"/>
            </a:endParaRP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SELONE  -  Select one of the elementary search helps. This step is applicable for collective search help. </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PRESEL - Enter selection conditions.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SELECT  -  Select values. </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DISP -  Display values. </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RETURN - To return the values.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Trebuchet MS"/>
              <a:cs typeface="Arial" panose="020B0604020202020204" pitchFamily="34" charset="0"/>
            </a:endParaRPr>
          </a:p>
        </p:txBody>
      </p:sp>
    </p:spTree>
    <p:extLst>
      <p:ext uri="{BB962C8B-B14F-4D97-AF65-F5344CB8AC3E}">
        <p14:creationId xmlns:p14="http://schemas.microsoft.com/office/powerpoint/2010/main" val="3990654272"/>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F6952-5DE1-2F37-138A-DF98E5D7C34B}"/>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CE2E666C-DD6A-2823-6844-76ECFEE0420A}"/>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14</a:t>
            </a:fld>
            <a:endParaRPr dirty="0"/>
          </a:p>
        </p:txBody>
      </p:sp>
      <p:sp>
        <p:nvSpPr>
          <p:cNvPr id="207" name="TextBox 17">
            <a:extLst>
              <a:ext uri="{FF2B5EF4-FFF2-40B4-BE49-F238E27FC236}">
                <a16:creationId xmlns:a16="http://schemas.microsoft.com/office/drawing/2014/main" id="{DE334B77-3F52-33D1-048A-AD5831110AFB}"/>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Change Document Log</a:t>
            </a:r>
          </a:p>
        </p:txBody>
      </p:sp>
      <p:sp>
        <p:nvSpPr>
          <p:cNvPr id="208" name="Straight Connector 18">
            <a:extLst>
              <a:ext uri="{FF2B5EF4-FFF2-40B4-BE49-F238E27FC236}">
                <a16:creationId xmlns:a16="http://schemas.microsoft.com/office/drawing/2014/main" id="{AA9E7329-4B31-1D88-DFC7-0C7379CEC5E8}"/>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7C10F99F-1528-1044-6A0B-89A0C8CB7ABD}"/>
              </a:ext>
            </a:extLst>
          </p:cNvPr>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With the help of change document log we can track the changes made to that document.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Change document log/history is available in CDHDR(header table) &amp; CDPOS(item table).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SAP standard program to display the change document log is ‘RSSCD100’.</a:t>
            </a:r>
          </a:p>
        </p:txBody>
      </p:sp>
    </p:spTree>
    <p:extLst>
      <p:ext uri="{BB962C8B-B14F-4D97-AF65-F5344CB8AC3E}">
        <p14:creationId xmlns:p14="http://schemas.microsoft.com/office/powerpoint/2010/main" val="3183429254"/>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66422-E064-2904-6D79-31B7468C2357}"/>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39598EF6-3E7C-E1C4-0474-9A5FDD081C44}"/>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15</a:t>
            </a:fld>
            <a:endParaRPr dirty="0"/>
          </a:p>
        </p:txBody>
      </p:sp>
      <p:sp>
        <p:nvSpPr>
          <p:cNvPr id="207" name="TextBox 17">
            <a:extLst>
              <a:ext uri="{FF2B5EF4-FFF2-40B4-BE49-F238E27FC236}">
                <a16:creationId xmlns:a16="http://schemas.microsoft.com/office/drawing/2014/main" id="{A722A476-9670-86C1-6F6E-05EEC657C0C0}"/>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Steps to Create Change Document Log for Z Tables</a:t>
            </a:r>
          </a:p>
        </p:txBody>
      </p:sp>
      <p:sp>
        <p:nvSpPr>
          <p:cNvPr id="208" name="Straight Connector 18">
            <a:extLst>
              <a:ext uri="{FF2B5EF4-FFF2-40B4-BE49-F238E27FC236}">
                <a16:creationId xmlns:a16="http://schemas.microsoft.com/office/drawing/2014/main" id="{92ECD8D7-41A0-92BA-4F09-C10B32795BC8}"/>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BF71701C-852B-193F-7B4E-44E685AE9FF5}"/>
              </a:ext>
            </a:extLst>
          </p:cNvPr>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various steps to generate a change document log for Z tables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Select the change document checkbox in the data element for the respective fields of the table.</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Create a change document object for the Z table using transaction code SCDO.</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When we generate the change document object, SAP generates a function module automatically.</a:t>
            </a:r>
          </a:p>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endParaRPr lang="en-US" altLang="en-US" sz="2400" dirty="0">
              <a:solidFill>
                <a:srgbClr val="4D5156"/>
              </a:solidFill>
              <a:latin typeface="Google Sans"/>
              <a:cs typeface="Arial" panose="020B0604020202020204" pitchFamily="34" charset="0"/>
            </a:endParaRPr>
          </a:p>
        </p:txBody>
      </p:sp>
    </p:spTree>
    <p:extLst>
      <p:ext uri="{BB962C8B-B14F-4D97-AF65-F5344CB8AC3E}">
        <p14:creationId xmlns:p14="http://schemas.microsoft.com/office/powerpoint/2010/main" val="3319846946"/>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40B17-0410-F914-E0A0-5561D36EACEB}"/>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3EED0D50-9F5E-5C68-C5DD-2721016D1320}"/>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16</a:t>
            </a:fld>
            <a:endParaRPr dirty="0"/>
          </a:p>
        </p:txBody>
      </p:sp>
      <p:sp>
        <p:nvSpPr>
          <p:cNvPr id="207" name="TextBox 17">
            <a:extLst>
              <a:ext uri="{FF2B5EF4-FFF2-40B4-BE49-F238E27FC236}">
                <a16:creationId xmlns:a16="http://schemas.microsoft.com/office/drawing/2014/main" id="{90A4410D-7C91-882E-F2A6-65B42D7F8DD7}"/>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Steps to Create Change Document Log for Z Tables(Contd.)</a:t>
            </a:r>
          </a:p>
        </p:txBody>
      </p:sp>
      <p:sp>
        <p:nvSpPr>
          <p:cNvPr id="208" name="Straight Connector 18">
            <a:extLst>
              <a:ext uri="{FF2B5EF4-FFF2-40B4-BE49-F238E27FC236}">
                <a16:creationId xmlns:a16="http://schemas.microsoft.com/office/drawing/2014/main" id="{16E8A4F7-95B5-7ED5-1922-01D288C7CA5C}"/>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8687E9D7-4B29-DAC9-CA06-8CE4FD7AE3D9}"/>
              </a:ext>
            </a:extLst>
          </p:cNvPr>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naming convention of the generated function module is : change document object name_WRITE_DOCUMENT.</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N(new) parameter of the generated function module is used for insert log, O(old) parameter is used for delete log , N(new) and O(old) both are used for update log.</a:t>
            </a:r>
          </a:p>
        </p:txBody>
      </p:sp>
    </p:spTree>
    <p:extLst>
      <p:ext uri="{BB962C8B-B14F-4D97-AF65-F5344CB8AC3E}">
        <p14:creationId xmlns:p14="http://schemas.microsoft.com/office/powerpoint/2010/main" val="388253042"/>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B8173-14F3-943D-000A-32463F329F68}"/>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97EAD21D-6CE8-0296-F504-2F3C249F4469}"/>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17</a:t>
            </a:fld>
            <a:endParaRPr dirty="0"/>
          </a:p>
        </p:txBody>
      </p:sp>
      <p:sp>
        <p:nvSpPr>
          <p:cNvPr id="207" name="TextBox 17">
            <a:extLst>
              <a:ext uri="{FF2B5EF4-FFF2-40B4-BE49-F238E27FC236}">
                <a16:creationId xmlns:a16="http://schemas.microsoft.com/office/drawing/2014/main" id="{648F66F2-A0A6-59D0-94EB-94751503E147}"/>
              </a:ext>
            </a:extLst>
          </p:cNvPr>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CURSOR</a:t>
            </a:r>
          </a:p>
        </p:txBody>
      </p:sp>
      <p:sp>
        <p:nvSpPr>
          <p:cNvPr id="208" name="Straight Connector 18">
            <a:extLst>
              <a:ext uri="{FF2B5EF4-FFF2-40B4-BE49-F238E27FC236}">
                <a16:creationId xmlns:a16="http://schemas.microsoft.com/office/drawing/2014/main" id="{F0FCCAAD-6AB9-BC2E-AF6A-A63C37CDCFAF}"/>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D33D6754-4CDF-94C7-DDE6-53BF5B4EDE6B}"/>
              </a:ext>
            </a:extLst>
          </p:cNvPr>
          <p:cNvSpPr txBox="1"/>
          <p:nvPr/>
        </p:nvSpPr>
        <p:spPr>
          <a:xfrm>
            <a:off x="14244" y="1263042"/>
            <a:ext cx="11935565" cy="589821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CURSOR is mainly used to extract data in segments/chunks/packets from the database table.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various statements for the cursor are as follows: </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OPEN CURSOR - It is used to open the cursor.</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FETCH NEXT CURSOR - It is used to fetch the data in packets.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CLOSE CURSOR - It is used to close the cursor.</a:t>
            </a:r>
          </a:p>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endParaRPr lang="en-US" altLang="en-US" sz="2400" dirty="0">
              <a:solidFill>
                <a:srgbClr val="040C28"/>
              </a:solidFill>
              <a:latin typeface="Google Sans"/>
              <a:cs typeface="Arial" panose="020B0604020202020204" pitchFamily="34" charset="0"/>
            </a:endParaRPr>
          </a:p>
          <a:p>
            <a:pPr marL="914400" lvl="1" indent="-457200">
              <a:lnSpc>
                <a:spcPct val="200000"/>
              </a:lnSpc>
              <a:buClr>
                <a:srgbClr val="73C96C"/>
              </a:buClr>
              <a:buSzPct val="100000"/>
              <a:buFont typeface="Arial" panose="020B0604020202020204" pitchFamily="34" charset="0"/>
              <a:buChar char="•"/>
              <a:defRPr sz="2400">
                <a:solidFill>
                  <a:srgbClr val="3B3838"/>
                </a:solidFill>
                <a:latin typeface="Trebuchet MS"/>
                <a:ea typeface="Trebuchet MS"/>
                <a:cs typeface="Trebuchet MS"/>
                <a:sym typeface="Trebuchet MS"/>
              </a:defRPr>
            </a:pPr>
            <a:endParaRPr lang="en-US" altLang="en-US" sz="2400" dirty="0">
              <a:solidFill>
                <a:srgbClr val="4D5156"/>
              </a:solidFill>
              <a:latin typeface="Google Sans"/>
              <a:cs typeface="Arial" panose="020B0604020202020204" pitchFamily="34" charset="0"/>
            </a:endParaRPr>
          </a:p>
        </p:txBody>
      </p:sp>
    </p:spTree>
    <p:extLst>
      <p:ext uri="{BB962C8B-B14F-4D97-AF65-F5344CB8AC3E}">
        <p14:creationId xmlns:p14="http://schemas.microsoft.com/office/powerpoint/2010/main" val="350347615"/>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B8173-14F3-943D-000A-32463F329F68}"/>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97EAD21D-6CE8-0296-F504-2F3C249F4469}"/>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18</a:t>
            </a:fld>
            <a:endParaRPr dirty="0"/>
          </a:p>
        </p:txBody>
      </p:sp>
      <p:sp>
        <p:nvSpPr>
          <p:cNvPr id="207" name="TextBox 17">
            <a:extLst>
              <a:ext uri="{FF2B5EF4-FFF2-40B4-BE49-F238E27FC236}">
                <a16:creationId xmlns:a16="http://schemas.microsoft.com/office/drawing/2014/main" id="{648F66F2-A0A6-59D0-94EB-94751503E147}"/>
              </a:ext>
            </a:extLst>
          </p:cNvPr>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SAP Memory and ABAP Memory</a:t>
            </a:r>
          </a:p>
        </p:txBody>
      </p:sp>
      <p:sp>
        <p:nvSpPr>
          <p:cNvPr id="208" name="Straight Connector 18">
            <a:extLst>
              <a:ext uri="{FF2B5EF4-FFF2-40B4-BE49-F238E27FC236}">
                <a16:creationId xmlns:a16="http://schemas.microsoft.com/office/drawing/2014/main" id="{F0FCCAAD-6AB9-BC2E-AF6A-A63C37CDCFAF}"/>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D33D6754-4CDF-94C7-DDE6-53BF5B4EDE6B}"/>
              </a:ext>
            </a:extLst>
          </p:cNvPr>
          <p:cNvSpPr txBox="1"/>
          <p:nvPr/>
        </p:nvSpPr>
        <p:spPr>
          <a:xfrm>
            <a:off x="14244" y="1263042"/>
            <a:ext cx="11935565" cy="22048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Refer to the attached sheet for the detailed explanation of SAP memory and ABAP memory.</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a:t>
            </a:r>
            <a:endParaRPr lang="en-US" altLang="en-US" sz="2400" dirty="0">
              <a:solidFill>
                <a:srgbClr val="4D5156"/>
              </a:solidFill>
              <a:latin typeface="Google Sans"/>
              <a:cs typeface="Arial" panose="020B0604020202020204" pitchFamily="34" charset="0"/>
            </a:endParaRPr>
          </a:p>
        </p:txBody>
      </p:sp>
      <p:graphicFrame>
        <p:nvGraphicFramePr>
          <p:cNvPr id="2" name="Object 1">
            <a:extLst>
              <a:ext uri="{FF2B5EF4-FFF2-40B4-BE49-F238E27FC236}">
                <a16:creationId xmlns:a16="http://schemas.microsoft.com/office/drawing/2014/main" id="{CCA7AAF8-17EB-E6EE-DD5E-B373153C1B0B}"/>
              </a:ext>
            </a:extLst>
          </p:cNvPr>
          <p:cNvGraphicFramePr>
            <a:graphicFrameLocks noChangeAspect="1"/>
          </p:cNvGraphicFramePr>
          <p:nvPr>
            <p:extLst>
              <p:ext uri="{D42A27DB-BD31-4B8C-83A1-F6EECF244321}">
                <p14:modId xmlns:p14="http://schemas.microsoft.com/office/powerpoint/2010/main" val="3522103366"/>
              </p:ext>
            </p:extLst>
          </p:nvPr>
        </p:nvGraphicFramePr>
        <p:xfrm>
          <a:off x="4575110" y="3051580"/>
          <a:ext cx="914400" cy="792163"/>
        </p:xfrm>
        <a:graphic>
          <a:graphicData uri="http://schemas.openxmlformats.org/presentationml/2006/ole">
            <mc:AlternateContent xmlns:mc="http://schemas.openxmlformats.org/markup-compatibility/2006">
              <mc:Choice xmlns:v="urn:schemas-microsoft-com:vml" Requires="v">
                <p:oleObj name="Worksheet" showAsIcon="1" r:id="rId3" imgW="914400" imgH="792685" progId="Excel.Sheet.12">
                  <p:embed/>
                </p:oleObj>
              </mc:Choice>
              <mc:Fallback>
                <p:oleObj name="Worksheet" showAsIcon="1" r:id="rId3" imgW="914400" imgH="792685" progId="Excel.Sheet.12">
                  <p:embed/>
                  <p:pic>
                    <p:nvPicPr>
                      <p:cNvPr id="0" name=""/>
                      <p:cNvPicPr/>
                      <p:nvPr/>
                    </p:nvPicPr>
                    <p:blipFill>
                      <a:blip r:embed="rId4"/>
                      <a:stretch>
                        <a:fillRect/>
                      </a:stretch>
                    </p:blipFill>
                    <p:spPr>
                      <a:xfrm>
                        <a:off x="4575110" y="3051580"/>
                        <a:ext cx="914400" cy="792163"/>
                      </a:xfrm>
                      <a:prstGeom prst="rect">
                        <a:avLst/>
                      </a:prstGeom>
                    </p:spPr>
                  </p:pic>
                </p:oleObj>
              </mc:Fallback>
            </mc:AlternateContent>
          </a:graphicData>
        </a:graphic>
      </p:graphicFrame>
    </p:spTree>
    <p:extLst>
      <p:ext uri="{BB962C8B-B14F-4D97-AF65-F5344CB8AC3E}">
        <p14:creationId xmlns:p14="http://schemas.microsoft.com/office/powerpoint/2010/main" val="3142051712"/>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1F84E-6A36-C0AC-3FA6-D20659AE069E}"/>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FEC9BB66-06DF-928B-5E8F-BFC76E4DA17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19</a:t>
            </a:fld>
            <a:endParaRPr dirty="0"/>
          </a:p>
        </p:txBody>
      </p:sp>
      <p:sp>
        <p:nvSpPr>
          <p:cNvPr id="207" name="TextBox 17">
            <a:extLst>
              <a:ext uri="{FF2B5EF4-FFF2-40B4-BE49-F238E27FC236}">
                <a16:creationId xmlns:a16="http://schemas.microsoft.com/office/drawing/2014/main" id="{B959A070-109C-97F4-29C6-6564DFF5A65D}"/>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Update Function Module - Introduction</a:t>
            </a:r>
          </a:p>
        </p:txBody>
      </p:sp>
      <p:sp>
        <p:nvSpPr>
          <p:cNvPr id="208" name="Straight Connector 18">
            <a:extLst>
              <a:ext uri="{FF2B5EF4-FFF2-40B4-BE49-F238E27FC236}">
                <a16:creationId xmlns:a16="http://schemas.microsoft.com/office/drawing/2014/main" id="{A7C0C4F1-1885-7170-08AB-6580DABD2070}"/>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0E848775-29C4-CAFF-29CE-0BBE4779D241}"/>
              </a:ext>
            </a:extLst>
          </p:cNvPr>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An update function module is a function module having the processing type ‘Update Module’ in the properties tab.</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purpose of update function module is to COMMIT all the changes at once or ROLLBACK them all.</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syntax to call a update function module is - CALL FUNCTION &lt;name of the function module&gt; IN UPDATE TASK.</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72122229"/>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1F84E-6A36-C0AC-3FA6-D20659AE069E}"/>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FEC9BB66-06DF-928B-5E8F-BFC76E4DA17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20</a:t>
            </a:fld>
            <a:endParaRPr dirty="0"/>
          </a:p>
        </p:txBody>
      </p:sp>
      <p:sp>
        <p:nvSpPr>
          <p:cNvPr id="207" name="TextBox 17">
            <a:extLst>
              <a:ext uri="{FF2B5EF4-FFF2-40B4-BE49-F238E27FC236}">
                <a16:creationId xmlns:a16="http://schemas.microsoft.com/office/drawing/2014/main" id="{B959A070-109C-97F4-29C6-6564DFF5A65D}"/>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Update Function Module - Introduction(Contd.)</a:t>
            </a:r>
          </a:p>
        </p:txBody>
      </p:sp>
      <p:sp>
        <p:nvSpPr>
          <p:cNvPr id="208" name="Straight Connector 18">
            <a:extLst>
              <a:ext uri="{FF2B5EF4-FFF2-40B4-BE49-F238E27FC236}">
                <a16:creationId xmlns:a16="http://schemas.microsoft.com/office/drawing/2014/main" id="{A7C0C4F1-1885-7170-08AB-6580DABD2070}"/>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0E848775-29C4-CAFF-29CE-0BBE4779D241}"/>
              </a:ext>
            </a:extLst>
          </p:cNvPr>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During program execution, when the system reaches the statement CALL FUNCTION &lt;name of the function module&gt; IN UPDATE TASK, the function module is not executed immediately.</a:t>
            </a:r>
            <a:endParaRPr lang="en-US" dirty="0">
              <a:solidFill>
                <a:srgbClr val="424242"/>
              </a:solidFill>
              <a:latin typeface="avenir"/>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dirty="0">
                <a:solidFill>
                  <a:srgbClr val="424242"/>
                </a:solidFill>
                <a:latin typeface="avenir"/>
              </a:rPr>
              <a:t>Update function module </a:t>
            </a:r>
            <a:r>
              <a:rPr lang="en-US" b="0" i="0" dirty="0">
                <a:solidFill>
                  <a:srgbClr val="424242"/>
                </a:solidFill>
                <a:effectLst/>
                <a:latin typeface="avenir"/>
              </a:rPr>
              <a:t>executes in a </a:t>
            </a:r>
            <a:r>
              <a:rPr lang="en-US" dirty="0">
                <a:solidFill>
                  <a:srgbClr val="424242"/>
                </a:solidFill>
                <a:latin typeface="avenir"/>
              </a:rPr>
              <a:t>special work process that is called as </a:t>
            </a:r>
            <a:r>
              <a:rPr lang="en-US" b="0" i="0" dirty="0">
                <a:solidFill>
                  <a:srgbClr val="424242"/>
                </a:solidFill>
                <a:effectLst/>
                <a:latin typeface="avenir"/>
              </a:rPr>
              <a:t>update work process.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This actual execution of update work process is triggered by the COMMIT WORK statement.</a:t>
            </a:r>
          </a:p>
        </p:txBody>
      </p:sp>
    </p:spTree>
    <p:extLst>
      <p:ext uri="{BB962C8B-B14F-4D97-AF65-F5344CB8AC3E}">
        <p14:creationId xmlns:p14="http://schemas.microsoft.com/office/powerpoint/2010/main" val="700446506"/>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1F84E-6A36-C0AC-3FA6-D20659AE069E}"/>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FEC9BB66-06DF-928B-5E8F-BFC76E4DA17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21</a:t>
            </a:fld>
            <a:endParaRPr dirty="0"/>
          </a:p>
        </p:txBody>
      </p:sp>
      <p:sp>
        <p:nvSpPr>
          <p:cNvPr id="207" name="TextBox 17">
            <a:extLst>
              <a:ext uri="{FF2B5EF4-FFF2-40B4-BE49-F238E27FC236}">
                <a16:creationId xmlns:a16="http://schemas.microsoft.com/office/drawing/2014/main" id="{B959A070-109C-97F4-29C6-6564DFF5A65D}"/>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Update Function Module - Introduction(Contd.)</a:t>
            </a:r>
          </a:p>
        </p:txBody>
      </p:sp>
      <p:sp>
        <p:nvSpPr>
          <p:cNvPr id="208" name="Straight Connector 18">
            <a:extLst>
              <a:ext uri="{FF2B5EF4-FFF2-40B4-BE49-F238E27FC236}">
                <a16:creationId xmlns:a16="http://schemas.microsoft.com/office/drawing/2014/main" id="{A7C0C4F1-1885-7170-08AB-6580DABD2070}"/>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0E848775-29C4-CAFF-29CE-0BBE4779D241}"/>
              </a:ext>
            </a:extLst>
          </p:cNvPr>
          <p:cNvSpPr txBox="1"/>
          <p:nvPr/>
        </p:nvSpPr>
        <p:spPr>
          <a:xfrm>
            <a:off x="14244" y="1263042"/>
            <a:ext cx="11935565" cy="14662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transaction code for update requests is SM13.</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68078157"/>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1F84E-6A36-C0AC-3FA6-D20659AE069E}"/>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FEC9BB66-06DF-928B-5E8F-BFC76E4DA17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22</a:t>
            </a:fld>
            <a:endParaRPr dirty="0"/>
          </a:p>
        </p:txBody>
      </p:sp>
      <p:sp>
        <p:nvSpPr>
          <p:cNvPr id="207" name="TextBox 17">
            <a:extLst>
              <a:ext uri="{FF2B5EF4-FFF2-40B4-BE49-F238E27FC236}">
                <a16:creationId xmlns:a16="http://schemas.microsoft.com/office/drawing/2014/main" id="{B959A070-109C-97F4-29C6-6564DFF5A65D}"/>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Update Function Module - Important Points</a:t>
            </a:r>
          </a:p>
        </p:txBody>
      </p:sp>
      <p:sp>
        <p:nvSpPr>
          <p:cNvPr id="208" name="Straight Connector 18">
            <a:extLst>
              <a:ext uri="{FF2B5EF4-FFF2-40B4-BE49-F238E27FC236}">
                <a16:creationId xmlns:a16="http://schemas.microsoft.com/office/drawing/2014/main" id="{A7C0C4F1-1885-7170-08AB-6580DABD2070}"/>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0E848775-29C4-CAFF-29CE-0BBE4779D241}"/>
              </a:ext>
            </a:extLst>
          </p:cNvPr>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All parameters needs to be pass by value.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Update function module does not support changing and exporting parameters.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Never write COMMIT WORK in the update function module otherwise system throws runtime error.</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97580687"/>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1F84E-6A36-C0AC-3FA6-D20659AE069E}"/>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FEC9BB66-06DF-928B-5E8F-BFC76E4DA17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23</a:t>
            </a:fld>
            <a:endParaRPr dirty="0"/>
          </a:p>
        </p:txBody>
      </p:sp>
      <p:sp>
        <p:nvSpPr>
          <p:cNvPr id="207" name="TextBox 17">
            <a:extLst>
              <a:ext uri="{FF2B5EF4-FFF2-40B4-BE49-F238E27FC236}">
                <a16:creationId xmlns:a16="http://schemas.microsoft.com/office/drawing/2014/main" id="{B959A070-109C-97F4-29C6-6564DFF5A65D}"/>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Update Function Module - Important Points</a:t>
            </a:r>
          </a:p>
        </p:txBody>
      </p:sp>
      <p:sp>
        <p:nvSpPr>
          <p:cNvPr id="208" name="Straight Connector 18">
            <a:extLst>
              <a:ext uri="{FF2B5EF4-FFF2-40B4-BE49-F238E27FC236}">
                <a16:creationId xmlns:a16="http://schemas.microsoft.com/office/drawing/2014/main" id="{A7C0C4F1-1885-7170-08AB-6580DABD2070}"/>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0E848775-29C4-CAFF-29CE-0BBE4779D241}"/>
              </a:ext>
            </a:extLst>
          </p:cNvPr>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All parameters needs to be pass by value.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Update function module does not support changing and exporting parameters.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Never write COMMIT WORK in the update function module otherwise system throws runtime error.</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51904900"/>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1F84E-6A36-C0AC-3FA6-D20659AE069E}"/>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FEC9BB66-06DF-928B-5E8F-BFC76E4DA17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24</a:t>
            </a:fld>
            <a:endParaRPr dirty="0"/>
          </a:p>
        </p:txBody>
      </p:sp>
      <p:sp>
        <p:nvSpPr>
          <p:cNvPr id="207" name="TextBox 17">
            <a:extLst>
              <a:ext uri="{FF2B5EF4-FFF2-40B4-BE49-F238E27FC236}">
                <a16:creationId xmlns:a16="http://schemas.microsoft.com/office/drawing/2014/main" id="{B959A070-109C-97F4-29C6-6564DFF5A65D}"/>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Displaying Data of More than 128 Characters in ALV</a:t>
            </a:r>
          </a:p>
        </p:txBody>
      </p:sp>
      <p:sp>
        <p:nvSpPr>
          <p:cNvPr id="208" name="Straight Connector 18">
            <a:extLst>
              <a:ext uri="{FF2B5EF4-FFF2-40B4-BE49-F238E27FC236}">
                <a16:creationId xmlns:a16="http://schemas.microsoft.com/office/drawing/2014/main" id="{A7C0C4F1-1885-7170-08AB-6580DABD2070}"/>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0E848775-29C4-CAFF-29CE-0BBE4779D241}"/>
              </a:ext>
            </a:extLst>
          </p:cNvPr>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ALV, we can display data up to 128 characters only.</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If the length of the data is more than 128 characters, we can display the data on a separate screen.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various steps to display the ALV data on a separate screen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Design the layout element custom control through screen painter.</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Create the object of container class CL_GUI_CUSTOM_CONTAINER.</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95673612"/>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1F84E-6A36-C0AC-3FA6-D20659AE069E}"/>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FEC9BB66-06DF-928B-5E8F-BFC76E4DA17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25</a:t>
            </a:fld>
            <a:endParaRPr dirty="0"/>
          </a:p>
        </p:txBody>
      </p:sp>
      <p:sp>
        <p:nvSpPr>
          <p:cNvPr id="207" name="TextBox 17">
            <a:extLst>
              <a:ext uri="{FF2B5EF4-FFF2-40B4-BE49-F238E27FC236}">
                <a16:creationId xmlns:a16="http://schemas.microsoft.com/office/drawing/2014/main" id="{B959A070-109C-97F4-29C6-6564DFF5A65D}"/>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Displaying Data of More than 128 Characters in ALV(Contd.)</a:t>
            </a:r>
          </a:p>
        </p:txBody>
      </p:sp>
      <p:sp>
        <p:nvSpPr>
          <p:cNvPr id="208" name="Straight Connector 18">
            <a:extLst>
              <a:ext uri="{FF2B5EF4-FFF2-40B4-BE49-F238E27FC236}">
                <a16:creationId xmlns:a16="http://schemas.microsoft.com/office/drawing/2014/main" id="{A7C0C4F1-1885-7170-08AB-6580DABD2070}"/>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0E848775-29C4-CAFF-29CE-0BBE4779D241}"/>
              </a:ext>
            </a:extLst>
          </p:cNvPr>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Create the object of text edit class CL_GUI_TEXTEDIT and pass container object as the parent.</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Use the method SET_TEXT_AS_R3TABLE of CL_GUI_TEXTEDIT class to display the text.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97612490"/>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26</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Background Jobs - Introduction</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There are 2 types of jobs.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Foreground jobs(interactive jobs)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Background jobs( non-interactive jobs)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background jobs are the non-interactive jobs in the SAP system that perform their work in the background without affecting the normal operations.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Once the background job is defined, the system makes sure that it runs the defined job at a specific time.</a:t>
            </a:r>
          </a:p>
        </p:txBody>
      </p:sp>
    </p:spTree>
    <p:extLst>
      <p:ext uri="{BB962C8B-B14F-4D97-AF65-F5344CB8AC3E}">
        <p14:creationId xmlns:p14="http://schemas.microsoft.com/office/powerpoint/2010/main" val="2649329217"/>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27</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Background Jobs - Introduction(Contd.)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3298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Background jobs run in the background without any user input and can be scheduled to run when the system load is low.</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They are used to reduce the manual efforts and automate the process.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Trebuchet MS"/>
              <a:cs typeface="Arial" panose="020B0604020202020204" pitchFamily="34" charset="0"/>
            </a:endParaRPr>
          </a:p>
        </p:txBody>
      </p:sp>
    </p:spTree>
    <p:extLst>
      <p:ext uri="{BB962C8B-B14F-4D97-AF65-F5344CB8AC3E}">
        <p14:creationId xmlns:p14="http://schemas.microsoft.com/office/powerpoint/2010/main" val="4125759610"/>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6" name="Slide Number Placeholder 1"/>
          <p:cNvSpPr txBox="1">
            <a:spLocks noGrp="1"/>
          </p:cNvSpPr>
          <p:nvPr>
            <p:ph type="sldNum" sz="quarter" idx="2"/>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28</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Background Jobs - Transaction Codes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3298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SM36 - To schedule the background job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SM37 - To check the status of background job</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JDBG - To Debug a background Job</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Trebuchet MS"/>
              <a:cs typeface="Arial" panose="020B0604020202020204" pitchFamily="34" charset="0"/>
            </a:endParaRPr>
          </a:p>
        </p:txBody>
      </p:sp>
    </p:spTree>
    <p:extLst>
      <p:ext uri="{BB962C8B-B14F-4D97-AF65-F5344CB8AC3E}">
        <p14:creationId xmlns:p14="http://schemas.microsoft.com/office/powerpoint/2010/main" val="716981896"/>
      </p:ext>
    </p:extLst>
  </p:cSld>
  <p:clrMapOvr>
    <a:overrideClrMapping bg1="lt1" tx1="dk1" bg2="lt2" tx2="dk2" accent1="accent1" accent2="accent2" accent3="accent3" accent4="accent4" accent5="accent5" accent6="accent6" hlink="hlink" folHlink="folHlink"/>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29</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Background Jobs - Classification</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131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Background jobs are classified into 3 categories.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Class A - High priority jobs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Class B - Medium priority jobs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Class C - Low priority jobs</a:t>
            </a:r>
          </a:p>
        </p:txBody>
      </p:sp>
    </p:spTree>
    <p:extLst>
      <p:ext uri="{BB962C8B-B14F-4D97-AF65-F5344CB8AC3E}">
        <p14:creationId xmlns:p14="http://schemas.microsoft.com/office/powerpoint/2010/main" val="1586976223"/>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30</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Background Jobs - Classification</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1864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Class A( High Priority) - Some tasks are urgent or critical and must be scheduled with class A priority job. Class A priority jobs reserves one or more background work processes. </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Class B( Medium Priority) - Once class A jobs are completed , class B job will start executing in the background.  </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Class C(Low Priority) - Class C job runs after both class A and class B jobs are completed.</a:t>
            </a:r>
          </a:p>
        </p:txBody>
      </p:sp>
    </p:spTree>
    <p:extLst>
      <p:ext uri="{BB962C8B-B14F-4D97-AF65-F5344CB8AC3E}">
        <p14:creationId xmlns:p14="http://schemas.microsoft.com/office/powerpoint/2010/main" val="2191408045"/>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31</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Background Jobs - Status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4897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various status of background jobs are as follows: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Scheduled</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Released</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Ready</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Active</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Finished</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Cancelled</a:t>
            </a:r>
          </a:p>
        </p:txBody>
      </p:sp>
    </p:spTree>
    <p:extLst>
      <p:ext uri="{BB962C8B-B14F-4D97-AF65-F5344CB8AC3E}">
        <p14:creationId xmlns:p14="http://schemas.microsoft.com/office/powerpoint/2010/main" val="2103893312"/>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32</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Background Jobs - Status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36822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Scheduled - Scheduled status means that all steps required to create the job are completed but the start conditions like start date, end date frequency etc. are still not defined.</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Released - Released status means that all the steps including start conditions that are required for creating a job are finished.</a:t>
            </a:r>
          </a:p>
        </p:txBody>
      </p:sp>
    </p:spTree>
    <p:extLst>
      <p:ext uri="{BB962C8B-B14F-4D97-AF65-F5344CB8AC3E}">
        <p14:creationId xmlns:p14="http://schemas.microsoft.com/office/powerpoint/2010/main" val="507743268"/>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33</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Background Jobs - Status(Contd.)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 typeface="+mj-lt"/>
              <a:buAutoNum type="arabicPeriod" startAt="3"/>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Ready - Ready status means that a job is completely ready for execution but still not running because it has been put in a queue by the job scheduler. The job is waiting for the next available background work process.</a:t>
            </a:r>
          </a:p>
          <a:p>
            <a:pPr marL="914400" lvl="1" indent="-457200">
              <a:lnSpc>
                <a:spcPct val="200000"/>
              </a:lnSpc>
              <a:buClr>
                <a:srgbClr val="73C96C"/>
              </a:buClr>
              <a:buSzPct val="100000"/>
              <a:buFont typeface="+mj-lt"/>
              <a:buAutoNum type="arabicPeriod" startAt="3"/>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Active - Active status means that a job is currently active and running. We cannot change the status of the job once it is in active status.</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altLang="en-US" sz="2400" dirty="0">
              <a:solidFill>
                <a:srgbClr val="4D5156"/>
              </a:solidFill>
              <a:latin typeface="Google Sans"/>
              <a:cs typeface="Arial" panose="020B0604020202020204" pitchFamily="34" charset="0"/>
            </a:endParaRPr>
          </a:p>
        </p:txBody>
      </p:sp>
    </p:spTree>
    <p:extLst>
      <p:ext uri="{BB962C8B-B14F-4D97-AF65-F5344CB8AC3E}">
        <p14:creationId xmlns:p14="http://schemas.microsoft.com/office/powerpoint/2010/main" val="3283263367"/>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34</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Background Jobs - Status(Contd.)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36822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 typeface="+mj-lt"/>
              <a:buAutoNum type="arabicPeriod" startAt="5"/>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Finished - Job is executed successfully. It means the desired task is completed without any error.</a:t>
            </a:r>
          </a:p>
          <a:p>
            <a:pPr marL="914400" lvl="1" indent="-457200">
              <a:lnSpc>
                <a:spcPct val="200000"/>
              </a:lnSpc>
              <a:buClr>
                <a:srgbClr val="73C96C"/>
              </a:buClr>
              <a:buSzPct val="100000"/>
              <a:buFont typeface="+mj-lt"/>
              <a:buAutoNum type="arabicPeriod" startAt="5"/>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Cancelled - There are two possibilities when a job is cancelled. The administrator cancelled forcefully cancelled the job or there might be some issue with job. We can check the reason for the same with the help of job logs.</a:t>
            </a:r>
          </a:p>
        </p:txBody>
      </p:sp>
    </p:spTree>
    <p:extLst>
      <p:ext uri="{BB962C8B-B14F-4D97-AF65-F5344CB8AC3E}">
        <p14:creationId xmlns:p14="http://schemas.microsoft.com/office/powerpoint/2010/main" val="1925796929"/>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35</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Background Jobs - Function Modules/ABAP Statements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36822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below mentioned function modules/statements are involved in background jobs: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JOB_OPEN - This function module creates a background job.</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IN" sz="2400" dirty="0">
                <a:solidFill>
                  <a:srgbClr val="3B3838"/>
                </a:solidFill>
                <a:latin typeface="Calibri" panose="020F0502020204030204" pitchFamily="34" charset="0"/>
                <a:cs typeface="Calibri" panose="020F0502020204030204" pitchFamily="34" charset="0"/>
              </a:rPr>
              <a:t>JOB_SUBMIT / </a:t>
            </a:r>
            <a:r>
              <a:rPr lang="en-US" sz="2400" dirty="0">
                <a:solidFill>
                  <a:srgbClr val="3B3838"/>
                </a:solidFill>
                <a:latin typeface="Calibri" panose="020F0502020204030204" pitchFamily="34" charset="0"/>
                <a:cs typeface="Calibri" panose="020F0502020204030204" pitchFamily="34" charset="0"/>
              </a:rPr>
              <a:t>SUBMIT – The function module </a:t>
            </a:r>
            <a:r>
              <a:rPr lang="en-IN" sz="2400" dirty="0">
                <a:solidFill>
                  <a:srgbClr val="3B3838"/>
                </a:solidFill>
                <a:latin typeface="Calibri" panose="020F0502020204030204" pitchFamily="34" charset="0"/>
                <a:cs typeface="Calibri" panose="020F0502020204030204" pitchFamily="34" charset="0"/>
              </a:rPr>
              <a:t>JOB_SUBMIT or ABAP statement SUBMIT </a:t>
            </a:r>
            <a:r>
              <a:rPr lang="en-US" sz="2400" dirty="0">
                <a:solidFill>
                  <a:srgbClr val="3B3838"/>
                </a:solidFill>
                <a:latin typeface="Calibri" panose="020F0502020204030204" pitchFamily="34" charset="0"/>
                <a:cs typeface="Calibri" panose="020F0502020204030204" pitchFamily="34" charset="0"/>
              </a:rPr>
              <a:t>adds a step to the background Job.</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IN" sz="2400" dirty="0">
                <a:solidFill>
                  <a:srgbClr val="3B3838"/>
                </a:solidFill>
                <a:latin typeface="Calibri" panose="020F0502020204030204" pitchFamily="34" charset="0"/>
                <a:cs typeface="Calibri" panose="020F0502020204030204" pitchFamily="34" charset="0"/>
              </a:rPr>
              <a:t>JOB_CLOSE</a:t>
            </a:r>
            <a:r>
              <a:rPr lang="en-US" sz="2400" dirty="0">
                <a:solidFill>
                  <a:srgbClr val="3B3838"/>
                </a:solidFill>
                <a:latin typeface="Calibri" panose="020F0502020204030204" pitchFamily="34" charset="0"/>
                <a:cs typeface="Calibri" panose="020F0502020204030204" pitchFamily="34" charset="0"/>
              </a:rPr>
              <a:t> – This function module process the background job.</a:t>
            </a: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91621850"/>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36</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Comparison of ABAP Statement SUBMIT and FM JOB_SUBMIT</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With SUBMIT, we can specify selection criteria for an ABAP report dynamically, when the background job is submitted whereas with JOB_SUBMIT, we can only specify an existing variant for a report. </a:t>
            </a: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82392009"/>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1F84E-6A36-C0AC-3FA6-D20659AE069E}"/>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FEC9BB66-06DF-928B-5E8F-BFC76E4DA17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37</a:t>
            </a:fld>
            <a:endParaRPr dirty="0"/>
          </a:p>
        </p:txBody>
      </p:sp>
      <p:sp>
        <p:nvSpPr>
          <p:cNvPr id="207" name="TextBox 17">
            <a:extLst>
              <a:ext uri="{FF2B5EF4-FFF2-40B4-BE49-F238E27FC236}">
                <a16:creationId xmlns:a16="http://schemas.microsoft.com/office/drawing/2014/main" id="{B959A070-109C-97F4-29C6-6564DFF5A65D}"/>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Number Range</a:t>
            </a:r>
          </a:p>
        </p:txBody>
      </p:sp>
      <p:sp>
        <p:nvSpPr>
          <p:cNvPr id="208" name="Straight Connector 18">
            <a:extLst>
              <a:ext uri="{FF2B5EF4-FFF2-40B4-BE49-F238E27FC236}">
                <a16:creationId xmlns:a16="http://schemas.microsoft.com/office/drawing/2014/main" id="{A7C0C4F1-1885-7170-08AB-6580DABD2070}"/>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0E848775-29C4-CAFF-29CE-0BBE4779D241}"/>
              </a:ext>
            </a:extLst>
          </p:cNvPr>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transaction code to create the number range object is SNRO.</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table to store the number range object is TNRO.</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table to store the number range intervals is NRIV.</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function module NUMBER_GET_NEXT provides the next available number.</a:t>
            </a:r>
          </a:p>
        </p:txBody>
      </p:sp>
    </p:spTree>
    <p:extLst>
      <p:ext uri="{BB962C8B-B14F-4D97-AF65-F5344CB8AC3E}">
        <p14:creationId xmlns:p14="http://schemas.microsoft.com/office/powerpoint/2010/main" val="963405936"/>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1F84E-6A36-C0AC-3FA6-D20659AE069E}"/>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FEC9BB66-06DF-928B-5E8F-BFC76E4DA17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38</a:t>
            </a:fld>
            <a:endParaRPr dirty="0"/>
          </a:p>
        </p:txBody>
      </p:sp>
      <p:sp>
        <p:nvSpPr>
          <p:cNvPr id="207" name="TextBox 17">
            <a:extLst>
              <a:ext uri="{FF2B5EF4-FFF2-40B4-BE49-F238E27FC236}">
                <a16:creationId xmlns:a16="http://schemas.microsoft.com/office/drawing/2014/main" id="{B959A070-109C-97F4-29C6-6564DFF5A65D}"/>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Number Range - Steps</a:t>
            </a:r>
          </a:p>
        </p:txBody>
      </p:sp>
      <p:sp>
        <p:nvSpPr>
          <p:cNvPr id="208" name="Straight Connector 18">
            <a:extLst>
              <a:ext uri="{FF2B5EF4-FFF2-40B4-BE49-F238E27FC236}">
                <a16:creationId xmlns:a16="http://schemas.microsoft.com/office/drawing/2014/main" id="{A7C0C4F1-1885-7170-08AB-6580DABD2070}"/>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0E848775-29C4-CAFF-29CE-0BBE4779D241}"/>
              </a:ext>
            </a:extLst>
          </p:cNvPr>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various steps in the number range process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Create a number range object through transaction code SNRO.</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Provides the intervals to that number range object.</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Use the function module : NUMBER_GET_NEXT  in the program to get the next available number for that number range object.</a:t>
            </a:r>
          </a:p>
        </p:txBody>
      </p:sp>
    </p:spTree>
    <p:extLst>
      <p:ext uri="{BB962C8B-B14F-4D97-AF65-F5344CB8AC3E}">
        <p14:creationId xmlns:p14="http://schemas.microsoft.com/office/powerpoint/2010/main" val="2095573176"/>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1F84E-6A36-C0AC-3FA6-D20659AE069E}"/>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FEC9BB66-06DF-928B-5E8F-BFC76E4DA17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39</a:t>
            </a:fld>
            <a:endParaRPr dirty="0"/>
          </a:p>
        </p:txBody>
      </p:sp>
      <p:sp>
        <p:nvSpPr>
          <p:cNvPr id="207" name="TextBox 17">
            <a:extLst>
              <a:ext uri="{FF2B5EF4-FFF2-40B4-BE49-F238E27FC236}">
                <a16:creationId xmlns:a16="http://schemas.microsoft.com/office/drawing/2014/main" id="{B959A070-109C-97F4-29C6-6564DFF5A65D}"/>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AUTHORITY-CHECK</a:t>
            </a:r>
          </a:p>
        </p:txBody>
      </p:sp>
      <p:sp>
        <p:nvSpPr>
          <p:cNvPr id="208" name="Straight Connector 18">
            <a:extLst>
              <a:ext uri="{FF2B5EF4-FFF2-40B4-BE49-F238E27FC236}">
                <a16:creationId xmlns:a16="http://schemas.microsoft.com/office/drawing/2014/main" id="{A7C0C4F1-1885-7170-08AB-6580DABD2070}"/>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0E848775-29C4-CAFF-29CE-0BBE4779D241}"/>
              </a:ext>
            </a:extLst>
          </p:cNvPr>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Authority-check(authorization) is a concept which enables or allow users to perform certain functions/activities in the SAP system.</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SAP, we achieve authorization through authorization object.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These authorization objects are assigned to the user which enables the respective users to work in the system.</a:t>
            </a:r>
          </a:p>
        </p:txBody>
      </p:sp>
    </p:spTree>
    <p:extLst>
      <p:ext uri="{BB962C8B-B14F-4D97-AF65-F5344CB8AC3E}">
        <p14:creationId xmlns:p14="http://schemas.microsoft.com/office/powerpoint/2010/main" val="361673893"/>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1F84E-6A36-C0AC-3FA6-D20659AE069E}"/>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FEC9BB66-06DF-928B-5E8F-BFC76E4DA17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40</a:t>
            </a:fld>
            <a:endParaRPr dirty="0"/>
          </a:p>
        </p:txBody>
      </p:sp>
      <p:sp>
        <p:nvSpPr>
          <p:cNvPr id="207" name="TextBox 17">
            <a:extLst>
              <a:ext uri="{FF2B5EF4-FFF2-40B4-BE49-F238E27FC236}">
                <a16:creationId xmlns:a16="http://schemas.microsoft.com/office/drawing/2014/main" id="{B959A070-109C-97F4-29C6-6564DFF5A65D}"/>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AUTHORITY-CHECK - Terminologies</a:t>
            </a:r>
          </a:p>
        </p:txBody>
      </p:sp>
      <p:sp>
        <p:nvSpPr>
          <p:cNvPr id="208" name="Straight Connector 18">
            <a:extLst>
              <a:ext uri="{FF2B5EF4-FFF2-40B4-BE49-F238E27FC236}">
                <a16:creationId xmlns:a16="http://schemas.microsoft.com/office/drawing/2014/main" id="{A7C0C4F1-1885-7170-08AB-6580DABD2070}"/>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0E848775-29C4-CAFF-29CE-0BBE4779D241}"/>
              </a:ext>
            </a:extLst>
          </p:cNvPr>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various terminologies used in the process of authority-check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Object class - It is a container for the authorization objects.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Authorization object -  Object to check the authorization.</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Authorization field - An authorization object has the authorization field which is used to define the field values.</a:t>
            </a:r>
          </a:p>
          <a:p>
            <a:pPr marL="914400" lvl="1" indent="-457200">
              <a:lnSpc>
                <a:spcPct val="200000"/>
              </a:lnSpc>
              <a:buClr>
                <a:srgbClr val="73C96C"/>
              </a:buClr>
              <a:buSzPct val="100000"/>
              <a:buFont typeface="Wingdings" panose="05000000000000000000" pitchFamily="2" charset="2"/>
              <a:buChar char="ü"/>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Imp point : Object class has authorization objects and authorization object has  authorization  fields.</a:t>
            </a:r>
          </a:p>
        </p:txBody>
      </p:sp>
    </p:spTree>
    <p:extLst>
      <p:ext uri="{BB962C8B-B14F-4D97-AF65-F5344CB8AC3E}">
        <p14:creationId xmlns:p14="http://schemas.microsoft.com/office/powerpoint/2010/main" val="1059261768"/>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1F84E-6A36-C0AC-3FA6-D20659AE069E}"/>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FEC9BB66-06DF-928B-5E8F-BFC76E4DA17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41</a:t>
            </a:fld>
            <a:endParaRPr dirty="0"/>
          </a:p>
        </p:txBody>
      </p:sp>
      <p:sp>
        <p:nvSpPr>
          <p:cNvPr id="207" name="TextBox 17">
            <a:extLst>
              <a:ext uri="{FF2B5EF4-FFF2-40B4-BE49-F238E27FC236}">
                <a16:creationId xmlns:a16="http://schemas.microsoft.com/office/drawing/2014/main" id="{B959A070-109C-97F4-29C6-6564DFF5A65D}"/>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AUTHORITY-CHECK - Transaction Codes</a:t>
            </a:r>
          </a:p>
        </p:txBody>
      </p:sp>
      <p:sp>
        <p:nvSpPr>
          <p:cNvPr id="208" name="Straight Connector 18">
            <a:extLst>
              <a:ext uri="{FF2B5EF4-FFF2-40B4-BE49-F238E27FC236}">
                <a16:creationId xmlns:a16="http://schemas.microsoft.com/office/drawing/2014/main" id="{A7C0C4F1-1885-7170-08AB-6580DABD2070}"/>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0E848775-29C4-CAFF-29CE-0BBE4779D241}"/>
              </a:ext>
            </a:extLst>
          </p:cNvPr>
          <p:cNvSpPr txBox="1"/>
          <p:nvPr/>
        </p:nvSpPr>
        <p:spPr>
          <a:xfrm>
            <a:off x="14244" y="1263042"/>
            <a:ext cx="11935565" cy="14662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Authorization field - SU20</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Object class and authorization object -  SU21</a:t>
            </a:r>
          </a:p>
        </p:txBody>
      </p:sp>
    </p:spTree>
    <p:extLst>
      <p:ext uri="{BB962C8B-B14F-4D97-AF65-F5344CB8AC3E}">
        <p14:creationId xmlns:p14="http://schemas.microsoft.com/office/powerpoint/2010/main" val="359493366"/>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1F84E-6A36-C0AC-3FA6-D20659AE069E}"/>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FEC9BB66-06DF-928B-5E8F-BFC76E4DA17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42</a:t>
            </a:fld>
            <a:endParaRPr dirty="0"/>
          </a:p>
        </p:txBody>
      </p:sp>
      <p:sp>
        <p:nvSpPr>
          <p:cNvPr id="207" name="TextBox 17">
            <a:extLst>
              <a:ext uri="{FF2B5EF4-FFF2-40B4-BE49-F238E27FC236}">
                <a16:creationId xmlns:a16="http://schemas.microsoft.com/office/drawing/2014/main" id="{B959A070-109C-97F4-29C6-6564DFF5A65D}"/>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AUTHORITY-CHECK - Steps</a:t>
            </a:r>
          </a:p>
        </p:txBody>
      </p:sp>
      <p:sp>
        <p:nvSpPr>
          <p:cNvPr id="208" name="Straight Connector 18">
            <a:extLst>
              <a:ext uri="{FF2B5EF4-FFF2-40B4-BE49-F238E27FC236}">
                <a16:creationId xmlns:a16="http://schemas.microsoft.com/office/drawing/2014/main" id="{A7C0C4F1-1885-7170-08AB-6580DABD2070}"/>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0E848775-29C4-CAFF-29CE-0BBE4779D241}"/>
              </a:ext>
            </a:extLst>
          </p:cNvPr>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various steps involved in the process of authority-check are as follows: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Creating authorization field through transaction code SU20.</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Creating object class through transaction code SU21.</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Creating authorization object which contains authorization fields under object class through SU21 transaction code.</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Creating a role through transaction code PFCG</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Assigning authorization object to the role.</a:t>
            </a:r>
          </a:p>
        </p:txBody>
      </p:sp>
    </p:spTree>
    <p:extLst>
      <p:ext uri="{BB962C8B-B14F-4D97-AF65-F5344CB8AC3E}">
        <p14:creationId xmlns:p14="http://schemas.microsoft.com/office/powerpoint/2010/main" val="3403562897"/>
      </p:ext>
    </p:ext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1F84E-6A36-C0AC-3FA6-D20659AE069E}"/>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FEC9BB66-06DF-928B-5E8F-BFC76E4DA17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43</a:t>
            </a:fld>
            <a:endParaRPr dirty="0"/>
          </a:p>
        </p:txBody>
      </p:sp>
      <p:sp>
        <p:nvSpPr>
          <p:cNvPr id="207" name="TextBox 17">
            <a:extLst>
              <a:ext uri="{FF2B5EF4-FFF2-40B4-BE49-F238E27FC236}">
                <a16:creationId xmlns:a16="http://schemas.microsoft.com/office/drawing/2014/main" id="{B959A070-109C-97F4-29C6-6564DFF5A65D}"/>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AUTHORITY-CHECK - Steps(Contd.)</a:t>
            </a:r>
          </a:p>
        </p:txBody>
      </p:sp>
      <p:sp>
        <p:nvSpPr>
          <p:cNvPr id="208" name="Straight Connector 18">
            <a:extLst>
              <a:ext uri="{FF2B5EF4-FFF2-40B4-BE49-F238E27FC236}">
                <a16:creationId xmlns:a16="http://schemas.microsoft.com/office/drawing/2014/main" id="{A7C0C4F1-1885-7170-08AB-6580DABD2070}"/>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0E848775-29C4-CAFF-29CE-0BBE4779D241}"/>
              </a:ext>
            </a:extLst>
          </p:cNvPr>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 typeface="+mj-lt"/>
              <a:buAutoNum type="arabicPeriod" startAt="6"/>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Assigning role to the business user.</a:t>
            </a:r>
          </a:p>
          <a:p>
            <a:pPr marL="914400" lvl="1" indent="-457200">
              <a:lnSpc>
                <a:spcPct val="200000"/>
              </a:lnSpc>
              <a:buClr>
                <a:srgbClr val="73C96C"/>
              </a:buClr>
              <a:buSzPct val="100000"/>
              <a:buFont typeface="+mj-lt"/>
              <a:buAutoNum type="arabicPeriod" startAt="6"/>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Using AUTHORITY-CHECK on authorization object in the program.</a:t>
            </a:r>
          </a:p>
          <a:p>
            <a:pPr marL="914400" lvl="1" indent="-457200">
              <a:lnSpc>
                <a:spcPct val="200000"/>
              </a:lnSpc>
              <a:buClr>
                <a:srgbClr val="73C96C"/>
              </a:buClr>
              <a:buSzPct val="100000"/>
              <a:buFont typeface="Wingdings" panose="05000000000000000000" pitchFamily="2" charset="2"/>
              <a:buChar char="ü"/>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Imp point : steps(4-6) - creation of role through PFCG transaction code, assigning the authorization object to the role and assigning the role to the user is done by SAP basis person/system administrator. </a:t>
            </a:r>
          </a:p>
        </p:txBody>
      </p:sp>
    </p:spTree>
    <p:extLst>
      <p:ext uri="{BB962C8B-B14F-4D97-AF65-F5344CB8AC3E}">
        <p14:creationId xmlns:p14="http://schemas.microsoft.com/office/powerpoint/2010/main" val="1838441645"/>
      </p:ext>
    </p:ext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1F84E-6A36-C0AC-3FA6-D20659AE069E}"/>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FEC9BB66-06DF-928B-5E8F-BFC76E4DA17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44</a:t>
            </a:fld>
            <a:endParaRPr dirty="0"/>
          </a:p>
        </p:txBody>
      </p:sp>
      <p:sp>
        <p:nvSpPr>
          <p:cNvPr id="207" name="TextBox 17">
            <a:extLst>
              <a:ext uri="{FF2B5EF4-FFF2-40B4-BE49-F238E27FC236}">
                <a16:creationId xmlns:a16="http://schemas.microsoft.com/office/drawing/2014/main" id="{B959A070-109C-97F4-29C6-6564DFF5A65D}"/>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AUTHORITY-CHECK - SAP_ALL</a:t>
            </a:r>
          </a:p>
        </p:txBody>
      </p:sp>
      <p:sp>
        <p:nvSpPr>
          <p:cNvPr id="208" name="Straight Connector 18">
            <a:extLst>
              <a:ext uri="{FF2B5EF4-FFF2-40B4-BE49-F238E27FC236}">
                <a16:creationId xmlns:a16="http://schemas.microsoft.com/office/drawing/2014/main" id="{A7C0C4F1-1885-7170-08AB-6580DABD2070}"/>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0E848775-29C4-CAFF-29CE-0BBE4779D241}"/>
              </a:ext>
            </a:extLst>
          </p:cNvPr>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This composite profile SAP_ALL contains all SAP authorizations.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means that a user with this profile can perform all tasks in the SAP System.</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user which is having SAP_ALL authorization has the rights to administer the SAP system.</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projects, it is recommended to have only one user with this SAP_ALL authorization, rest all users have the authorizations based upon their roles.</a:t>
            </a:r>
          </a:p>
        </p:txBody>
      </p:sp>
    </p:spTree>
    <p:extLst>
      <p:ext uri="{BB962C8B-B14F-4D97-AF65-F5344CB8AC3E}">
        <p14:creationId xmlns:p14="http://schemas.microsoft.com/office/powerpoint/2010/main" val="1127762299"/>
      </p:ext>
    </p:ext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1F84E-6A36-C0AC-3FA6-D20659AE069E}"/>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FEC9BB66-06DF-928B-5E8F-BFC76E4DA17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45</a:t>
            </a:fld>
            <a:endParaRPr dirty="0"/>
          </a:p>
        </p:txBody>
      </p:sp>
      <p:sp>
        <p:nvSpPr>
          <p:cNvPr id="207" name="TextBox 17">
            <a:extLst>
              <a:ext uri="{FF2B5EF4-FFF2-40B4-BE49-F238E27FC236}">
                <a16:creationId xmlns:a16="http://schemas.microsoft.com/office/drawing/2014/main" id="{B959A070-109C-97F4-29C6-6564DFF5A65D}"/>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Validations</a:t>
            </a:r>
          </a:p>
        </p:txBody>
      </p:sp>
      <p:sp>
        <p:nvSpPr>
          <p:cNvPr id="208" name="Straight Connector 18">
            <a:extLst>
              <a:ext uri="{FF2B5EF4-FFF2-40B4-BE49-F238E27FC236}">
                <a16:creationId xmlns:a16="http://schemas.microsoft.com/office/drawing/2014/main" id="{A7C0C4F1-1885-7170-08AB-6580DABD2070}"/>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0E848775-29C4-CAFF-29CE-0BBE4779D241}"/>
              </a:ext>
            </a:extLst>
          </p:cNvPr>
          <p:cNvSpPr txBox="1"/>
          <p:nvPr/>
        </p:nvSpPr>
        <p:spPr>
          <a:xfrm>
            <a:off x="14244" y="1263042"/>
            <a:ext cx="11935565" cy="58982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dirty="0">
                <a:highlight>
                  <a:srgbClr val="FFFFFF"/>
                </a:highlight>
                <a:latin typeface="-apple-system"/>
              </a:rPr>
              <a:t>Validations are used to validate the values that are entered in the SAP system.</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dirty="0">
                <a:highlight>
                  <a:srgbClr val="FFFFFF"/>
                </a:highlight>
                <a:latin typeface="-apple-system"/>
              </a:rPr>
              <a:t>Example - Whenever a accounting document is posted for company code ABC, the cost center XYZ is allowed.</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highlight>
                  <a:srgbClr val="FFFFFF"/>
                </a:highlight>
                <a:latin typeface="-apple-system"/>
                <a:cs typeface="Calibri" panose="020F0502020204030204" pitchFamily="34" charset="0"/>
              </a:rPr>
              <a:t>Validation rules are stored in rule manager.</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highlight>
                  <a:srgbClr val="FFFFFF"/>
                </a:highlight>
                <a:latin typeface="-apple-system"/>
                <a:cs typeface="Calibri" panose="020F0502020204030204" pitchFamily="34" charset="0"/>
              </a:rPr>
              <a:t>When we enter the data the integration manager validates the data based upon the  validation rules stored in the rule manager.</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As the data is validated before it is posted, so only valid data save in the system.</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60117236"/>
      </p:ext>
    </p:ext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1F84E-6A36-C0AC-3FA6-D20659AE069E}"/>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FEC9BB66-06DF-928B-5E8F-BFC76E4DA17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46</a:t>
            </a:fld>
            <a:endParaRPr dirty="0"/>
          </a:p>
        </p:txBody>
      </p:sp>
      <p:sp>
        <p:nvSpPr>
          <p:cNvPr id="207" name="TextBox 17">
            <a:extLst>
              <a:ext uri="{FF2B5EF4-FFF2-40B4-BE49-F238E27FC236}">
                <a16:creationId xmlns:a16="http://schemas.microsoft.com/office/drawing/2014/main" id="{B959A070-109C-97F4-29C6-6564DFF5A65D}"/>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Validations(Contd.)</a:t>
            </a:r>
          </a:p>
        </p:txBody>
      </p:sp>
      <p:sp>
        <p:nvSpPr>
          <p:cNvPr id="208" name="Straight Connector 18">
            <a:extLst>
              <a:ext uri="{FF2B5EF4-FFF2-40B4-BE49-F238E27FC236}">
                <a16:creationId xmlns:a16="http://schemas.microsoft.com/office/drawing/2014/main" id="{A7C0C4F1-1885-7170-08AB-6580DABD2070}"/>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0E848775-29C4-CAFF-29CE-0BBE4779D241}"/>
              </a:ext>
            </a:extLst>
          </p:cNvPr>
          <p:cNvSpPr txBox="1"/>
          <p:nvPr/>
        </p:nvSpPr>
        <p:spPr>
          <a:xfrm>
            <a:off x="14244" y="1263042"/>
            <a:ext cx="11935565" cy="72757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transaction code for Validation maintenance is GGB0.</a:t>
            </a:r>
          </a:p>
        </p:txBody>
      </p:sp>
    </p:spTree>
    <p:extLst>
      <p:ext uri="{BB962C8B-B14F-4D97-AF65-F5344CB8AC3E}">
        <p14:creationId xmlns:p14="http://schemas.microsoft.com/office/powerpoint/2010/main" val="527747724"/>
      </p:ext>
    </p:ext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1F84E-6A36-C0AC-3FA6-D20659AE069E}"/>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FEC9BB66-06DF-928B-5E8F-BFC76E4DA17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47</a:t>
            </a:fld>
            <a:endParaRPr dirty="0"/>
          </a:p>
        </p:txBody>
      </p:sp>
      <p:sp>
        <p:nvSpPr>
          <p:cNvPr id="207" name="TextBox 17">
            <a:extLst>
              <a:ext uri="{FF2B5EF4-FFF2-40B4-BE49-F238E27FC236}">
                <a16:creationId xmlns:a16="http://schemas.microsoft.com/office/drawing/2014/main" id="{B959A070-109C-97F4-29C6-6564DFF5A65D}"/>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Substitutions</a:t>
            </a:r>
          </a:p>
        </p:txBody>
      </p:sp>
      <p:sp>
        <p:nvSpPr>
          <p:cNvPr id="208" name="Straight Connector 18">
            <a:extLst>
              <a:ext uri="{FF2B5EF4-FFF2-40B4-BE49-F238E27FC236}">
                <a16:creationId xmlns:a16="http://schemas.microsoft.com/office/drawing/2014/main" id="{A7C0C4F1-1885-7170-08AB-6580DABD2070}"/>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0E848775-29C4-CAFF-29CE-0BBE4779D241}"/>
              </a:ext>
            </a:extLst>
          </p:cNvPr>
          <p:cNvSpPr txBox="1"/>
          <p:nvPr/>
        </p:nvSpPr>
        <p:spPr>
          <a:xfrm>
            <a:off x="14244" y="1263042"/>
            <a:ext cx="11935565" cy="58982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Substitution are </a:t>
            </a:r>
            <a:r>
              <a:rPr lang="en-US" b="0" i="0" dirty="0">
                <a:effectLst/>
                <a:highlight>
                  <a:srgbClr val="FFFFFF"/>
                </a:highlight>
                <a:latin typeface="-apple-system"/>
              </a:rPr>
              <a:t>used to substitute </a:t>
            </a:r>
            <a:r>
              <a:rPr lang="en-US" dirty="0">
                <a:highlight>
                  <a:srgbClr val="FFFFFF"/>
                </a:highlight>
                <a:latin typeface="-apple-system"/>
              </a:rPr>
              <a:t>the </a:t>
            </a:r>
            <a:r>
              <a:rPr lang="en-US" b="0" i="0" dirty="0">
                <a:effectLst/>
                <a:highlight>
                  <a:srgbClr val="FFFFFF"/>
                </a:highlight>
                <a:latin typeface="-apple-system"/>
              </a:rPr>
              <a:t>values based on certain prerequisites.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dirty="0">
                <a:highlight>
                  <a:srgbClr val="FFFFFF"/>
                </a:highlight>
                <a:latin typeface="-apple-system"/>
              </a:rPr>
              <a:t>Example - Whenever a accounting document </a:t>
            </a:r>
            <a:r>
              <a:rPr lang="en-US">
                <a:highlight>
                  <a:srgbClr val="FFFFFF"/>
                </a:highlight>
                <a:latin typeface="-apple-system"/>
              </a:rPr>
              <a:t>is posted with </a:t>
            </a:r>
            <a:r>
              <a:rPr lang="en-US" dirty="0">
                <a:highlight>
                  <a:srgbClr val="FFFFFF"/>
                </a:highlight>
                <a:latin typeface="-apple-system"/>
              </a:rPr>
              <a:t>company code ABC and cost center XYZ, the system substitutes the value X for payment method.</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b="0" i="0" dirty="0">
                <a:effectLst/>
                <a:highlight>
                  <a:srgbClr val="FFFFFF"/>
                </a:highlight>
                <a:latin typeface="-apple-system"/>
              </a:rPr>
              <a:t>Substitution rules are stored in the rule manager.</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b="0" i="0" dirty="0">
                <a:effectLst/>
                <a:highlight>
                  <a:srgbClr val="FFFFFF"/>
                </a:highlight>
                <a:latin typeface="-apple-system"/>
              </a:rPr>
              <a:t>When data is entered in the system the integration </a:t>
            </a:r>
            <a:r>
              <a:rPr lang="en-US" dirty="0">
                <a:highlight>
                  <a:srgbClr val="FFFFFF"/>
                </a:highlight>
                <a:latin typeface="-apple-system"/>
              </a:rPr>
              <a:t>m</a:t>
            </a:r>
            <a:r>
              <a:rPr lang="en-US" b="0" i="0" dirty="0">
                <a:effectLst/>
                <a:highlight>
                  <a:srgbClr val="FFFFFF"/>
                </a:highlight>
                <a:latin typeface="-apple-system"/>
              </a:rPr>
              <a:t>anager substitutes the data based upon the substitution rules defined in the rule manager.</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dirty="0">
                <a:highlight>
                  <a:srgbClr val="FFFFFF"/>
                </a:highlight>
                <a:latin typeface="-apple-system"/>
              </a:rPr>
              <a:t>Substitution occurs before the data posted in the system.</a:t>
            </a:r>
            <a:endParaRPr lang="en-US" b="0" i="0" dirty="0">
              <a:effectLst/>
              <a:highlight>
                <a:srgbClr val="FFFFFF"/>
              </a:highlight>
              <a:latin typeface="-apple-system"/>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b="0" i="0" dirty="0">
              <a:effectLst/>
              <a:highlight>
                <a:srgbClr val="FFFFFF"/>
              </a:highlight>
              <a:latin typeface="-apple-system"/>
            </a:endParaRPr>
          </a:p>
        </p:txBody>
      </p:sp>
    </p:spTree>
    <p:extLst>
      <p:ext uri="{BB962C8B-B14F-4D97-AF65-F5344CB8AC3E}">
        <p14:creationId xmlns:p14="http://schemas.microsoft.com/office/powerpoint/2010/main" val="3545533841"/>
      </p:ext>
    </p:extLst>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1F84E-6A36-C0AC-3FA6-D20659AE069E}"/>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FEC9BB66-06DF-928B-5E8F-BFC76E4DA17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48</a:t>
            </a:fld>
            <a:endParaRPr dirty="0"/>
          </a:p>
        </p:txBody>
      </p:sp>
      <p:sp>
        <p:nvSpPr>
          <p:cNvPr id="207" name="TextBox 17">
            <a:extLst>
              <a:ext uri="{FF2B5EF4-FFF2-40B4-BE49-F238E27FC236}">
                <a16:creationId xmlns:a16="http://schemas.microsoft.com/office/drawing/2014/main" id="{B959A070-109C-97F4-29C6-6564DFF5A65D}"/>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Substitutions(Contd.)</a:t>
            </a:r>
          </a:p>
        </p:txBody>
      </p:sp>
      <p:sp>
        <p:nvSpPr>
          <p:cNvPr id="208" name="Straight Connector 18">
            <a:extLst>
              <a:ext uri="{FF2B5EF4-FFF2-40B4-BE49-F238E27FC236}">
                <a16:creationId xmlns:a16="http://schemas.microsoft.com/office/drawing/2014/main" id="{A7C0C4F1-1885-7170-08AB-6580DABD2070}"/>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0E848775-29C4-CAFF-29CE-0BBE4779D241}"/>
              </a:ext>
            </a:extLst>
          </p:cNvPr>
          <p:cNvSpPr txBox="1"/>
          <p:nvPr/>
        </p:nvSpPr>
        <p:spPr>
          <a:xfrm>
            <a:off x="14244" y="1263042"/>
            <a:ext cx="11935565" cy="72757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transaction code for substitution maintenance is GGB1.</a:t>
            </a:r>
          </a:p>
        </p:txBody>
      </p:sp>
    </p:spTree>
    <p:extLst>
      <p:ext uri="{BB962C8B-B14F-4D97-AF65-F5344CB8AC3E}">
        <p14:creationId xmlns:p14="http://schemas.microsoft.com/office/powerpoint/2010/main" val="1159289591"/>
      </p:ext>
    </p:extLst>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1F84E-6A36-C0AC-3FA6-D20659AE069E}"/>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FEC9BB66-06DF-928B-5E8F-BFC76E4DA17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49</a:t>
            </a:fld>
            <a:endParaRPr dirty="0"/>
          </a:p>
        </p:txBody>
      </p:sp>
      <p:sp>
        <p:nvSpPr>
          <p:cNvPr id="207" name="TextBox 17">
            <a:extLst>
              <a:ext uri="{FF2B5EF4-FFF2-40B4-BE49-F238E27FC236}">
                <a16:creationId xmlns:a16="http://schemas.microsoft.com/office/drawing/2014/main" id="{B959A070-109C-97F4-29C6-6564DFF5A65D}"/>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Validations/Substitutions : Application Area &amp; Callup Point</a:t>
            </a:r>
          </a:p>
        </p:txBody>
      </p:sp>
      <p:sp>
        <p:nvSpPr>
          <p:cNvPr id="208" name="Straight Connector 18">
            <a:extLst>
              <a:ext uri="{FF2B5EF4-FFF2-40B4-BE49-F238E27FC236}">
                <a16:creationId xmlns:a16="http://schemas.microsoft.com/office/drawing/2014/main" id="{A7C0C4F1-1885-7170-08AB-6580DABD2070}"/>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0E848775-29C4-CAFF-29CE-0BBE4779D241}"/>
              </a:ext>
            </a:extLst>
          </p:cNvPr>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When we create validations/substitutions 2 terms plays a vital role.</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Application Area</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Callup Points</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57365559"/>
      </p:ext>
    </p:extLst>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1F84E-6A36-C0AC-3FA6-D20659AE069E}"/>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FEC9BB66-06DF-928B-5E8F-BFC76E4DA17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50</a:t>
            </a:fld>
            <a:endParaRPr dirty="0"/>
          </a:p>
        </p:txBody>
      </p:sp>
      <p:sp>
        <p:nvSpPr>
          <p:cNvPr id="207" name="TextBox 17">
            <a:extLst>
              <a:ext uri="{FF2B5EF4-FFF2-40B4-BE49-F238E27FC236}">
                <a16:creationId xmlns:a16="http://schemas.microsoft.com/office/drawing/2014/main" id="{B959A070-109C-97F4-29C6-6564DFF5A65D}"/>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Validations/Substitutions : Application Area</a:t>
            </a:r>
          </a:p>
        </p:txBody>
      </p:sp>
      <p:sp>
        <p:nvSpPr>
          <p:cNvPr id="208" name="Straight Connector 18">
            <a:extLst>
              <a:ext uri="{FF2B5EF4-FFF2-40B4-BE49-F238E27FC236}">
                <a16:creationId xmlns:a16="http://schemas.microsoft.com/office/drawing/2014/main" id="{A7C0C4F1-1885-7170-08AB-6580DABD2070}"/>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0E848775-29C4-CAFF-29CE-0BBE4779D241}"/>
              </a:ext>
            </a:extLst>
          </p:cNvPr>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Application area specifies the general application area for which the validation or substitution is defined.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Every application area has 2 digit character code which is called as application area code.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Example - FI is a 2 digit code for application area financial accounting.</a:t>
            </a:r>
          </a:p>
        </p:txBody>
      </p:sp>
    </p:spTree>
    <p:extLst>
      <p:ext uri="{BB962C8B-B14F-4D97-AF65-F5344CB8AC3E}">
        <p14:creationId xmlns:p14="http://schemas.microsoft.com/office/powerpoint/2010/main" val="768113281"/>
      </p:ext>
    </p:extLst>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1F84E-6A36-C0AC-3FA6-D20659AE069E}"/>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FEC9BB66-06DF-928B-5E8F-BFC76E4DA17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51</a:t>
            </a:fld>
            <a:endParaRPr dirty="0"/>
          </a:p>
        </p:txBody>
      </p:sp>
      <p:sp>
        <p:nvSpPr>
          <p:cNvPr id="207" name="TextBox 17">
            <a:extLst>
              <a:ext uri="{FF2B5EF4-FFF2-40B4-BE49-F238E27FC236}">
                <a16:creationId xmlns:a16="http://schemas.microsoft.com/office/drawing/2014/main" id="{B959A070-109C-97F4-29C6-6564DFF5A65D}"/>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Validations/Substitutions : Callup Points</a:t>
            </a:r>
          </a:p>
        </p:txBody>
      </p:sp>
      <p:sp>
        <p:nvSpPr>
          <p:cNvPr id="208" name="Straight Connector 18">
            <a:extLst>
              <a:ext uri="{FF2B5EF4-FFF2-40B4-BE49-F238E27FC236}">
                <a16:creationId xmlns:a16="http://schemas.microsoft.com/office/drawing/2014/main" id="{A7C0C4F1-1885-7170-08AB-6580DABD2070}"/>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0E848775-29C4-CAFF-29CE-0BBE4779D241}"/>
              </a:ext>
            </a:extLst>
          </p:cNvPr>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Callup points specifies the exact location of validation or substitution in that application area.</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Every callup point has 4 digit number code which is called as callup point code.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Example -  0001 is a 4 digit code for callup point document header for application area financial accounting(FI).</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Imp point: For the same application area and callup point, if both are implemented, the substitutions calls first, then system calls the validations.</a:t>
            </a:r>
          </a:p>
        </p:txBody>
      </p:sp>
    </p:spTree>
    <p:extLst>
      <p:ext uri="{BB962C8B-B14F-4D97-AF65-F5344CB8AC3E}">
        <p14:creationId xmlns:p14="http://schemas.microsoft.com/office/powerpoint/2010/main" val="3612797239"/>
      </p:ext>
    </p:extLst>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1F84E-6A36-C0AC-3FA6-D20659AE069E}"/>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FEC9BB66-06DF-928B-5E8F-BFC76E4DA17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52</a:t>
            </a:fld>
            <a:endParaRPr dirty="0"/>
          </a:p>
        </p:txBody>
      </p:sp>
      <p:sp>
        <p:nvSpPr>
          <p:cNvPr id="207" name="TextBox 17">
            <a:extLst>
              <a:ext uri="{FF2B5EF4-FFF2-40B4-BE49-F238E27FC236}">
                <a16:creationId xmlns:a16="http://schemas.microsoft.com/office/drawing/2014/main" id="{B959A070-109C-97F4-29C6-6564DFF5A65D}"/>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Steps to Create a Validation </a:t>
            </a:r>
          </a:p>
        </p:txBody>
      </p:sp>
      <p:sp>
        <p:nvSpPr>
          <p:cNvPr id="208" name="Straight Connector 18">
            <a:extLst>
              <a:ext uri="{FF2B5EF4-FFF2-40B4-BE49-F238E27FC236}">
                <a16:creationId xmlns:a16="http://schemas.microsoft.com/office/drawing/2014/main" id="{A7C0C4F1-1885-7170-08AB-6580DABD2070}"/>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0E848775-29C4-CAFF-29CE-0BBE4779D241}"/>
              </a:ext>
            </a:extLst>
          </p:cNvPr>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various steps to create a validation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Go to transaction code GGB0.</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Choose the application area and callup point for the validation.</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Select the callup point and click on to validation creation.</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Provide the validation name, description and message class.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Create step for the validation.</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step has 3 parts - prerequisite, check and message.</a:t>
            </a:r>
          </a:p>
        </p:txBody>
      </p:sp>
    </p:spTree>
    <p:extLst>
      <p:ext uri="{BB962C8B-B14F-4D97-AF65-F5344CB8AC3E}">
        <p14:creationId xmlns:p14="http://schemas.microsoft.com/office/powerpoint/2010/main" val="1192217745"/>
      </p:ext>
    </p:extLst>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1F84E-6A36-C0AC-3FA6-D20659AE069E}"/>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FEC9BB66-06DF-928B-5E8F-BFC76E4DA17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53</a:t>
            </a:fld>
            <a:endParaRPr dirty="0"/>
          </a:p>
        </p:txBody>
      </p:sp>
      <p:sp>
        <p:nvSpPr>
          <p:cNvPr id="207" name="TextBox 17">
            <a:extLst>
              <a:ext uri="{FF2B5EF4-FFF2-40B4-BE49-F238E27FC236}">
                <a16:creationId xmlns:a16="http://schemas.microsoft.com/office/drawing/2014/main" id="{B959A070-109C-97F4-29C6-6564DFF5A65D}"/>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Steps to Create a Validation(Contd.) </a:t>
            </a:r>
          </a:p>
        </p:txBody>
      </p:sp>
      <p:sp>
        <p:nvSpPr>
          <p:cNvPr id="208" name="Straight Connector 18">
            <a:extLst>
              <a:ext uri="{FF2B5EF4-FFF2-40B4-BE49-F238E27FC236}">
                <a16:creationId xmlns:a16="http://schemas.microsoft.com/office/drawing/2014/main" id="{A7C0C4F1-1885-7170-08AB-6580DABD2070}"/>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0E848775-29C4-CAFF-29CE-0BBE4779D241}"/>
              </a:ext>
            </a:extLst>
          </p:cNvPr>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Define the prerequisite statement, which determines whether or not the data should be checked.</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Define the check statement, which validates the data.</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Define the messages that will appear if a check statement is found to be false during validation.</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Activate the validation.</a:t>
            </a:r>
          </a:p>
        </p:txBody>
      </p:sp>
    </p:spTree>
    <p:extLst>
      <p:ext uri="{BB962C8B-B14F-4D97-AF65-F5344CB8AC3E}">
        <p14:creationId xmlns:p14="http://schemas.microsoft.com/office/powerpoint/2010/main" val="2350197992"/>
      </p:ext>
    </p:extLst>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1F84E-6A36-C0AC-3FA6-D20659AE069E}"/>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FEC9BB66-06DF-928B-5E8F-BFC76E4DA17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54</a:t>
            </a:fld>
            <a:endParaRPr dirty="0"/>
          </a:p>
        </p:txBody>
      </p:sp>
      <p:sp>
        <p:nvSpPr>
          <p:cNvPr id="207" name="TextBox 17">
            <a:extLst>
              <a:ext uri="{FF2B5EF4-FFF2-40B4-BE49-F238E27FC236}">
                <a16:creationId xmlns:a16="http://schemas.microsoft.com/office/drawing/2014/main" id="{B959A070-109C-97F4-29C6-6564DFF5A65D}"/>
              </a:ext>
            </a:extLst>
          </p:cNvPr>
          <p:cNvSpPr txBox="1"/>
          <p:nvPr/>
        </p:nvSpPr>
        <p:spPr>
          <a:xfrm>
            <a:off x="14245" y="357542"/>
            <a:ext cx="11882076"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Transaction Code , Tables and Function Modules for Validations </a:t>
            </a:r>
          </a:p>
        </p:txBody>
      </p:sp>
      <p:sp>
        <p:nvSpPr>
          <p:cNvPr id="208" name="Straight Connector 18">
            <a:extLst>
              <a:ext uri="{FF2B5EF4-FFF2-40B4-BE49-F238E27FC236}">
                <a16:creationId xmlns:a16="http://schemas.microsoft.com/office/drawing/2014/main" id="{A7C0C4F1-1885-7170-08AB-6580DABD2070}"/>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0E848775-29C4-CAFF-29CE-0BBE4779D241}"/>
              </a:ext>
            </a:extLst>
          </p:cNvPr>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GGB0 - Transaction code for validation maintenance</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OB28 - Transaction code for validation of accounting documents(financial accounting)</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T001D - Table for validation of accounting documents(financial accounting)</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G_VSR_VALIDATION_CALL - Function module to call the validation</a:t>
            </a:r>
          </a:p>
        </p:txBody>
      </p:sp>
    </p:spTree>
    <p:extLst>
      <p:ext uri="{BB962C8B-B14F-4D97-AF65-F5344CB8AC3E}">
        <p14:creationId xmlns:p14="http://schemas.microsoft.com/office/powerpoint/2010/main" val="2205313190"/>
      </p:ext>
    </p:extLst>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1F84E-6A36-C0AC-3FA6-D20659AE069E}"/>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FEC9BB66-06DF-928B-5E8F-BFC76E4DA17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55</a:t>
            </a:fld>
            <a:endParaRPr dirty="0"/>
          </a:p>
        </p:txBody>
      </p:sp>
      <p:sp>
        <p:nvSpPr>
          <p:cNvPr id="207" name="TextBox 17">
            <a:extLst>
              <a:ext uri="{FF2B5EF4-FFF2-40B4-BE49-F238E27FC236}">
                <a16:creationId xmlns:a16="http://schemas.microsoft.com/office/drawing/2014/main" id="{B959A070-109C-97F4-29C6-6564DFF5A65D}"/>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Steps to Create a Substitution </a:t>
            </a:r>
          </a:p>
        </p:txBody>
      </p:sp>
      <p:sp>
        <p:nvSpPr>
          <p:cNvPr id="208" name="Straight Connector 18">
            <a:extLst>
              <a:ext uri="{FF2B5EF4-FFF2-40B4-BE49-F238E27FC236}">
                <a16:creationId xmlns:a16="http://schemas.microsoft.com/office/drawing/2014/main" id="{A7C0C4F1-1885-7170-08AB-6580DABD2070}"/>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0E848775-29C4-CAFF-29CE-0BBE4779D241}"/>
              </a:ext>
            </a:extLst>
          </p:cNvPr>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various steps to create a substitution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Go to transaction code GGB1.</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Choose the application area and callup point for the validation.</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Select the callup point and click on to substitution creation.</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Provide the substitution name and description.</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Create step for the substitution.</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step has 2 parts - prerequisite and substitutions.</a:t>
            </a:r>
          </a:p>
        </p:txBody>
      </p:sp>
    </p:spTree>
    <p:extLst>
      <p:ext uri="{BB962C8B-B14F-4D97-AF65-F5344CB8AC3E}">
        <p14:creationId xmlns:p14="http://schemas.microsoft.com/office/powerpoint/2010/main" val="1347701506"/>
      </p:ext>
    </p:extLst>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1F84E-6A36-C0AC-3FA6-D20659AE069E}"/>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FEC9BB66-06DF-928B-5E8F-BFC76E4DA17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56</a:t>
            </a:fld>
            <a:endParaRPr dirty="0"/>
          </a:p>
        </p:txBody>
      </p:sp>
      <p:sp>
        <p:nvSpPr>
          <p:cNvPr id="207" name="TextBox 17">
            <a:extLst>
              <a:ext uri="{FF2B5EF4-FFF2-40B4-BE49-F238E27FC236}">
                <a16:creationId xmlns:a16="http://schemas.microsoft.com/office/drawing/2014/main" id="{B959A070-109C-97F4-29C6-6564DFF5A65D}"/>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Steps to Create a Substitution(Contd.) </a:t>
            </a:r>
          </a:p>
        </p:txBody>
      </p:sp>
      <p:sp>
        <p:nvSpPr>
          <p:cNvPr id="208" name="Straight Connector 18">
            <a:extLst>
              <a:ext uri="{FF2B5EF4-FFF2-40B4-BE49-F238E27FC236}">
                <a16:creationId xmlns:a16="http://schemas.microsoft.com/office/drawing/2014/main" id="{A7C0C4F1-1885-7170-08AB-6580DABD2070}"/>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0E848775-29C4-CAFF-29CE-0BBE4779D241}"/>
              </a:ext>
            </a:extLst>
          </p:cNvPr>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Define the prerequisite statement, which determines whether or not the substitution needs to be performed.</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Define the substitutions.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Activate the substitution.</a:t>
            </a:r>
          </a:p>
        </p:txBody>
      </p:sp>
    </p:spTree>
    <p:extLst>
      <p:ext uri="{BB962C8B-B14F-4D97-AF65-F5344CB8AC3E}">
        <p14:creationId xmlns:p14="http://schemas.microsoft.com/office/powerpoint/2010/main" val="4007852411"/>
      </p:ext>
    </p:extLst>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1F84E-6A36-C0AC-3FA6-D20659AE069E}"/>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FEC9BB66-06DF-928B-5E8F-BFC76E4DA17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57</a:t>
            </a:fld>
            <a:endParaRPr dirty="0"/>
          </a:p>
        </p:txBody>
      </p:sp>
      <p:sp>
        <p:nvSpPr>
          <p:cNvPr id="207" name="TextBox 17">
            <a:extLst>
              <a:ext uri="{FF2B5EF4-FFF2-40B4-BE49-F238E27FC236}">
                <a16:creationId xmlns:a16="http://schemas.microsoft.com/office/drawing/2014/main" id="{B959A070-109C-97F4-29C6-6564DFF5A65D}"/>
              </a:ext>
            </a:extLst>
          </p:cNvPr>
          <p:cNvSpPr txBox="1"/>
          <p:nvPr/>
        </p:nvSpPr>
        <p:spPr>
          <a:xfrm>
            <a:off x="14245" y="357542"/>
            <a:ext cx="11882076"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Transaction Code , Tables and Function Modules for Substitutions </a:t>
            </a:r>
          </a:p>
        </p:txBody>
      </p:sp>
      <p:sp>
        <p:nvSpPr>
          <p:cNvPr id="208" name="Straight Connector 18">
            <a:extLst>
              <a:ext uri="{FF2B5EF4-FFF2-40B4-BE49-F238E27FC236}">
                <a16:creationId xmlns:a16="http://schemas.microsoft.com/office/drawing/2014/main" id="{A7C0C4F1-1885-7170-08AB-6580DABD2070}"/>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0E848775-29C4-CAFF-29CE-0BBE4779D241}"/>
              </a:ext>
            </a:extLst>
          </p:cNvPr>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GGB1 - Transaction code for substitution maintenance</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OBBH - Transaction code for substitution of accounting documents(financial accounting)</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T001Q - Table for substitution of accounting documents(financial accounting)</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G_VSR_SUBSTITUTION_CALL - Function module to call the substitution</a:t>
            </a:r>
          </a:p>
        </p:txBody>
      </p:sp>
    </p:spTree>
    <p:extLst>
      <p:ext uri="{BB962C8B-B14F-4D97-AF65-F5344CB8AC3E}">
        <p14:creationId xmlns:p14="http://schemas.microsoft.com/office/powerpoint/2010/main" val="1291694152"/>
      </p:ext>
    </p:extLst>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1F84E-6A36-C0AC-3FA6-D20659AE069E}"/>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FEC9BB66-06DF-928B-5E8F-BFC76E4DA17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58</a:t>
            </a:fld>
            <a:endParaRPr dirty="0"/>
          </a:p>
        </p:txBody>
      </p:sp>
      <p:sp>
        <p:nvSpPr>
          <p:cNvPr id="207" name="TextBox 17">
            <a:extLst>
              <a:ext uri="{FF2B5EF4-FFF2-40B4-BE49-F238E27FC236}">
                <a16:creationId xmlns:a16="http://schemas.microsoft.com/office/drawing/2014/main" id="{B959A070-109C-97F4-29C6-6564DFF5A65D}"/>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Standard Text</a:t>
            </a:r>
          </a:p>
        </p:txBody>
      </p:sp>
      <p:sp>
        <p:nvSpPr>
          <p:cNvPr id="208" name="Straight Connector 18">
            <a:extLst>
              <a:ext uri="{FF2B5EF4-FFF2-40B4-BE49-F238E27FC236}">
                <a16:creationId xmlns:a16="http://schemas.microsoft.com/office/drawing/2014/main" id="{A7C0C4F1-1885-7170-08AB-6580DABD2070}"/>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0E848775-29C4-CAFF-29CE-0BBE4779D241}"/>
              </a:ext>
            </a:extLst>
          </p:cNvPr>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transaction code to create a standard text is SO10.</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is a reuseable text which can be used in smartforms, scripts, ABAP code etc.</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 standard text is identified by text name, language, text id and text object.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tables to store the standard text are STXH(standard text header) and STXL(standard text item tables).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standard function module used to save and read the standard text are SAVE_TEXT and READ_TEXT.</a:t>
            </a:r>
          </a:p>
        </p:txBody>
      </p:sp>
    </p:spTree>
    <p:extLst>
      <p:ext uri="{BB962C8B-B14F-4D97-AF65-F5344CB8AC3E}">
        <p14:creationId xmlns:p14="http://schemas.microsoft.com/office/powerpoint/2010/main" val="2498446174"/>
      </p:ext>
    </p:extLst>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1F84E-6A36-C0AC-3FA6-D20659AE069E}"/>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FEC9BB66-06DF-928B-5E8F-BFC76E4DA17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59</a:t>
            </a:fld>
            <a:endParaRPr dirty="0"/>
          </a:p>
        </p:txBody>
      </p:sp>
      <p:sp>
        <p:nvSpPr>
          <p:cNvPr id="207" name="TextBox 17">
            <a:extLst>
              <a:ext uri="{FF2B5EF4-FFF2-40B4-BE49-F238E27FC236}">
                <a16:creationId xmlns:a16="http://schemas.microsoft.com/office/drawing/2014/main" id="{B959A070-109C-97F4-29C6-6564DFF5A65D}"/>
              </a:ext>
            </a:extLst>
          </p:cNvPr>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Adding Standard Text/Include Text to Transport Request</a:t>
            </a:r>
          </a:p>
        </p:txBody>
      </p:sp>
      <p:sp>
        <p:nvSpPr>
          <p:cNvPr id="208" name="Straight Connector 18">
            <a:extLst>
              <a:ext uri="{FF2B5EF4-FFF2-40B4-BE49-F238E27FC236}">
                <a16:creationId xmlns:a16="http://schemas.microsoft.com/office/drawing/2014/main" id="{A7C0C4F1-1885-7170-08AB-6580DABD2070}"/>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0E848775-29C4-CAFF-29CE-0BBE4779D241}"/>
              </a:ext>
            </a:extLst>
          </p:cNvPr>
          <p:cNvSpPr txBox="1"/>
          <p:nvPr/>
        </p:nvSpPr>
        <p:spPr>
          <a:xfrm>
            <a:off x="14244" y="1263042"/>
            <a:ext cx="11935565" cy="44208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various steps to add the standard text to the transport request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Create a workbench transport request through transaction code SE09.</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Change the type of the transport request task to development/correction.</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Run the SAP standard program RSTXTRAN.</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Pass the transport request task and name of the standard text.</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Press enter and click on to add to task button.</a:t>
            </a:r>
          </a:p>
        </p:txBody>
      </p:sp>
    </p:spTree>
    <p:extLst>
      <p:ext uri="{BB962C8B-B14F-4D97-AF65-F5344CB8AC3E}">
        <p14:creationId xmlns:p14="http://schemas.microsoft.com/office/powerpoint/2010/main" val="3329838069"/>
      </p:ext>
    </p:extLst>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1F84E-6A36-C0AC-3FA6-D20659AE069E}"/>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FEC9BB66-06DF-928B-5E8F-BFC76E4DA17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60</a:t>
            </a:fld>
            <a:endParaRPr dirty="0"/>
          </a:p>
        </p:txBody>
      </p:sp>
      <p:sp>
        <p:nvSpPr>
          <p:cNvPr id="207" name="TextBox 17">
            <a:extLst>
              <a:ext uri="{FF2B5EF4-FFF2-40B4-BE49-F238E27FC236}">
                <a16:creationId xmlns:a16="http://schemas.microsoft.com/office/drawing/2014/main" id="{B959A070-109C-97F4-29C6-6564DFF5A65D}"/>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Adding Report Variant to Transport Request</a:t>
            </a:r>
          </a:p>
        </p:txBody>
      </p:sp>
      <p:sp>
        <p:nvSpPr>
          <p:cNvPr id="208" name="Straight Connector 18">
            <a:extLst>
              <a:ext uri="{FF2B5EF4-FFF2-40B4-BE49-F238E27FC236}">
                <a16:creationId xmlns:a16="http://schemas.microsoft.com/office/drawing/2014/main" id="{A7C0C4F1-1885-7170-08AB-6580DABD2070}"/>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0E848775-29C4-CAFF-29CE-0BBE4779D241}"/>
              </a:ext>
            </a:extLst>
          </p:cNvPr>
          <p:cNvSpPr txBox="1"/>
          <p:nvPr/>
        </p:nvSpPr>
        <p:spPr>
          <a:xfrm>
            <a:off x="14244" y="1263042"/>
            <a:ext cx="11935565" cy="58982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various steps to add the report variant to the transport request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Run the standard program RSTRANSP through transaction code SE38.</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Pass the report name , variant name and click on to execute button.</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One pop-up appears for the selection of the variants. Click on to ok button.</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One pop-up window appears to pass the transport request.</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Pass the transport request and click on to ok button.</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27776369"/>
      </p:ext>
    </p:extLst>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1F84E-6A36-C0AC-3FA6-D20659AE069E}"/>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FEC9BB66-06DF-928B-5E8F-BFC76E4DA17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61</a:t>
            </a:fld>
            <a:endParaRPr dirty="0"/>
          </a:p>
        </p:txBody>
      </p:sp>
      <p:sp>
        <p:nvSpPr>
          <p:cNvPr id="207" name="TextBox 17">
            <a:extLst>
              <a:ext uri="{FF2B5EF4-FFF2-40B4-BE49-F238E27FC236}">
                <a16:creationId xmlns:a16="http://schemas.microsoft.com/office/drawing/2014/main" id="{B959A070-109C-97F4-29C6-6564DFF5A65D}"/>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Adding Report Variant to Transport Request(Contd.)</a:t>
            </a:r>
          </a:p>
        </p:txBody>
      </p:sp>
      <p:sp>
        <p:nvSpPr>
          <p:cNvPr id="208" name="Straight Connector 18">
            <a:extLst>
              <a:ext uri="{FF2B5EF4-FFF2-40B4-BE49-F238E27FC236}">
                <a16:creationId xmlns:a16="http://schemas.microsoft.com/office/drawing/2014/main" id="{A7C0C4F1-1885-7170-08AB-6580DABD2070}"/>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0E848775-29C4-CAFF-29CE-0BBE4779D241}"/>
              </a:ext>
            </a:extLst>
          </p:cNvPr>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can follow the below mentioned steps also to add a report variant to transport request.</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Go to transaction code SE38 and pass the program name.</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Click on to variant button. One screen appears having program name and variant.</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Go to Utilities-Transport request, which navigates to standard program RSTRANSP only. </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After that follow the same steps which is mentioned in the previous slide. </a:t>
            </a:r>
          </a:p>
        </p:txBody>
      </p:sp>
    </p:spTree>
    <p:extLst>
      <p:ext uri="{BB962C8B-B14F-4D97-AF65-F5344CB8AC3E}">
        <p14:creationId xmlns:p14="http://schemas.microsoft.com/office/powerpoint/2010/main" val="2869417518"/>
      </p:ext>
    </p:extLst>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1F84E-6A36-C0AC-3FA6-D20659AE069E}"/>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FEC9BB66-06DF-928B-5E8F-BFC76E4DA17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62</a:t>
            </a:fld>
            <a:endParaRPr dirty="0"/>
          </a:p>
        </p:txBody>
      </p:sp>
      <p:sp>
        <p:nvSpPr>
          <p:cNvPr id="207" name="TextBox 17">
            <a:extLst>
              <a:ext uri="{FF2B5EF4-FFF2-40B4-BE49-F238E27FC236}">
                <a16:creationId xmlns:a16="http://schemas.microsoft.com/office/drawing/2014/main" id="{B959A070-109C-97F4-29C6-6564DFF5A65D}"/>
              </a:ext>
            </a:extLst>
          </p:cNvPr>
          <p:cNvSpPr txBox="1"/>
          <p:nvPr/>
        </p:nvSpPr>
        <p:spPr>
          <a:xfrm>
            <a:off x="14244" y="357542"/>
            <a:ext cx="11808336"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SE63 Translation Export(Adding Translation to Transport Request)</a:t>
            </a:r>
          </a:p>
        </p:txBody>
      </p:sp>
      <p:sp>
        <p:nvSpPr>
          <p:cNvPr id="208" name="Straight Connector 18">
            <a:extLst>
              <a:ext uri="{FF2B5EF4-FFF2-40B4-BE49-F238E27FC236}">
                <a16:creationId xmlns:a16="http://schemas.microsoft.com/office/drawing/2014/main" id="{A7C0C4F1-1885-7170-08AB-6580DABD2070}"/>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0E848775-29C4-CAFF-29CE-0BBE4779D241}"/>
              </a:ext>
            </a:extLst>
          </p:cNvPr>
          <p:cNvSpPr txBox="1"/>
          <p:nvPr/>
        </p:nvSpPr>
        <p:spPr>
          <a:xfrm>
            <a:off x="14244" y="1263042"/>
            <a:ext cx="11935565" cy="58982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various steps to add the translation to the transport request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Go to transaction code - SLXT.</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Target Language - Choose the target language. There is an option to choose the individual , multiple or all target languages.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Transport Request - We can create the new transport request or pass the existing transport request which stores the translated text.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90307228"/>
      </p:ext>
    </p:extLst>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1F84E-6A36-C0AC-3FA6-D20659AE069E}"/>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FEC9BB66-06DF-928B-5E8F-BFC76E4DA17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63</a:t>
            </a:fld>
            <a:endParaRPr dirty="0"/>
          </a:p>
        </p:txBody>
      </p:sp>
      <p:sp>
        <p:nvSpPr>
          <p:cNvPr id="207" name="TextBox 17">
            <a:extLst>
              <a:ext uri="{FF2B5EF4-FFF2-40B4-BE49-F238E27FC236}">
                <a16:creationId xmlns:a16="http://schemas.microsoft.com/office/drawing/2014/main" id="{B959A070-109C-97F4-29C6-6564DFF5A65D}"/>
              </a:ext>
            </a:extLst>
          </p:cNvPr>
          <p:cNvSpPr txBox="1"/>
          <p:nvPr/>
        </p:nvSpPr>
        <p:spPr>
          <a:xfrm>
            <a:off x="14244" y="357542"/>
            <a:ext cx="11808336"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SE63 Translation Export(Adding Translation to Transport Request)</a:t>
            </a:r>
          </a:p>
        </p:txBody>
      </p:sp>
      <p:sp>
        <p:nvSpPr>
          <p:cNvPr id="208" name="Straight Connector 18">
            <a:extLst>
              <a:ext uri="{FF2B5EF4-FFF2-40B4-BE49-F238E27FC236}">
                <a16:creationId xmlns:a16="http://schemas.microsoft.com/office/drawing/2014/main" id="{A7C0C4F1-1885-7170-08AB-6580DABD2070}"/>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0E848775-29C4-CAFF-29CE-0BBE4779D241}"/>
              </a:ext>
            </a:extLst>
          </p:cNvPr>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Time period - We can pass the processing date/delta date and system considers the translated text of that time period.</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Execute the transaction code and the translated text stores in the transport request.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74329086"/>
      </p:ext>
    </p:extLst>
  </p:cSld>
  <p:clrMapOvr>
    <a:masterClrMapping/>
  </p:clrMapOvr>
  <p:transition spd="me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64</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Sending ALV Output as an E-Mail Attachment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8982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To send the ALV output as an e-mail attachment, we will make use of the various standard classes of SAP related to BCS( Business Communication Services). The various standard classes are as follows :</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CL_BCS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CL_DOCUMENT_BCS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CL_SAPUSER_BCS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CL_CAM_ADDRESS_BCS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90444872"/>
      </p:ext>
    </p:extLst>
  </p:cSld>
  <p:clrMapOvr>
    <a:masterClrMapping/>
  </p:clrMapOvr>
  <p:transition spd="me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65</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Sending ALV Output as an E-Mail Attachment(Contd.)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CL_BCS - This class is used for creating the send request, adding the recipient, sending the document etc.</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CL_DOCUMENT_BCS - This class is used for creating the document, adding the attachment etc.</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CL_SAPUSER_BCS - This class is used to create SAP users. </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CL_CAM_ADDRESS_BCS - This class is used to create the external recipients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12660446"/>
      </p:ext>
    </p:extLst>
  </p:cSld>
  <p:clrMapOvr>
    <a:masterClrMapping/>
  </p:clrMapOvr>
  <p:transition spd="me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66</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Steps to Send ALV Output as an E-Mail Attachment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Prepare a text format for ALV data.</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Convert the </a:t>
            </a:r>
            <a:r>
              <a:rPr lang="en-US" altLang="en-US" sz="2400">
                <a:solidFill>
                  <a:srgbClr val="3B3838"/>
                </a:solidFill>
                <a:latin typeface="Calibri" panose="020F0502020204030204" pitchFamily="34" charset="0"/>
                <a:cs typeface="Calibri" panose="020F0502020204030204" pitchFamily="34" charset="0"/>
              </a:rPr>
              <a:t>text format </a:t>
            </a:r>
            <a:r>
              <a:rPr lang="en-US" altLang="en-US" sz="2400" dirty="0">
                <a:solidFill>
                  <a:srgbClr val="3B3838"/>
                </a:solidFill>
                <a:latin typeface="Calibri" panose="020F0502020204030204" pitchFamily="34" charset="0"/>
                <a:cs typeface="Calibri" panose="020F0502020204030204" pitchFamily="34" charset="0"/>
              </a:rPr>
              <a:t>to binary format</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Create the send request.</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Create the SAP user/external user( recipient)</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Add the recipient</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Create the document.</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Add the attachment.</a:t>
            </a:r>
          </a:p>
        </p:txBody>
      </p:sp>
    </p:spTree>
    <p:extLst>
      <p:ext uri="{BB962C8B-B14F-4D97-AF65-F5344CB8AC3E}">
        <p14:creationId xmlns:p14="http://schemas.microsoft.com/office/powerpoint/2010/main" val="4082774874"/>
      </p:ext>
    </p:extLst>
  </p:cSld>
  <p:clrMapOvr>
    <a:masterClrMapping/>
  </p:clrMapOvr>
  <p:transition spd="me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67</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Steps to Send ALV Output as an E-Mail Attachment(Contd.)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 typeface="+mj-lt"/>
              <a:buAutoNum type="arabicPeriod" startAt="8"/>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Set </a:t>
            </a:r>
            <a:r>
              <a:rPr lang="en-US" altLang="en-US" sz="2400">
                <a:solidFill>
                  <a:srgbClr val="3B3838"/>
                </a:solidFill>
                <a:latin typeface="Calibri" panose="020F0502020204030204" pitchFamily="34" charset="0"/>
                <a:cs typeface="Calibri" panose="020F0502020204030204" pitchFamily="34" charset="0"/>
              </a:rPr>
              <a:t>the document</a:t>
            </a:r>
            <a:endParaRPr lang="en-US" altLang="en-US" sz="2400" dirty="0">
              <a:solidFill>
                <a:srgbClr val="3B3838"/>
              </a:solidFill>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 typeface="+mj-lt"/>
              <a:buAutoNum type="arabicPeriod" startAt="8"/>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Activate/deactivate immediate sending</a:t>
            </a:r>
          </a:p>
          <a:p>
            <a:pPr marL="914400" lvl="1" indent="-457200">
              <a:lnSpc>
                <a:spcPct val="200000"/>
              </a:lnSpc>
              <a:buClr>
                <a:srgbClr val="73C96C"/>
              </a:buClr>
              <a:buSzPct val="100000"/>
              <a:buFont typeface="+mj-lt"/>
              <a:buAutoNum type="arabicPeriod" startAt="8"/>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Send</a:t>
            </a:r>
          </a:p>
          <a:p>
            <a:pPr marL="914400" lvl="1" indent="-457200">
              <a:lnSpc>
                <a:spcPct val="200000"/>
              </a:lnSpc>
              <a:buClr>
                <a:srgbClr val="73C96C"/>
              </a:buClr>
              <a:buSzPct val="100000"/>
              <a:buFont typeface="+mj-lt"/>
              <a:buAutoNum type="arabicPeriod" startAt="8"/>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Commit</a:t>
            </a:r>
          </a:p>
          <a:p>
            <a:pPr marL="914400" lvl="1" indent="-457200">
              <a:lnSpc>
                <a:spcPct val="200000"/>
              </a:lnSpc>
              <a:buClr>
                <a:srgbClr val="73C96C"/>
              </a:buClr>
              <a:buSzPct val="100000"/>
              <a:buFont typeface="+mj-lt"/>
              <a:buAutoNum type="arabicPeriod" startAt="8"/>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02573507"/>
      </p:ext>
    </p:extLst>
  </p:cSld>
  <p:clrMapOvr>
    <a:masterClrMapping/>
  </p:clrMapOvr>
  <p:transition spd="me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C0403-09B8-B012-D3FC-1C7C3D851746}"/>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89AFA2C5-F3DE-D7B5-8C82-DB47B45DC2D4}"/>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68</a:t>
            </a:fld>
            <a:endParaRPr dirty="0"/>
          </a:p>
        </p:txBody>
      </p:sp>
      <p:sp>
        <p:nvSpPr>
          <p:cNvPr id="207" name="TextBox 17">
            <a:extLst>
              <a:ext uri="{FF2B5EF4-FFF2-40B4-BE49-F238E27FC236}">
                <a16:creationId xmlns:a16="http://schemas.microsoft.com/office/drawing/2014/main" id="{E6F6893F-A521-268A-E0B4-F368B02F008C}"/>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Concept of Table TVARVC </a:t>
            </a:r>
          </a:p>
        </p:txBody>
      </p:sp>
      <p:sp>
        <p:nvSpPr>
          <p:cNvPr id="208" name="Straight Connector 18">
            <a:extLst>
              <a:ext uri="{FF2B5EF4-FFF2-40B4-BE49-F238E27FC236}">
                <a16:creationId xmlns:a16="http://schemas.microsoft.com/office/drawing/2014/main" id="{D417B27D-9824-1243-F2FF-CB1BAED290A0}"/>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1DAC206E-B353-6F59-2E42-5449A1B15BD9}"/>
              </a:ext>
            </a:extLst>
          </p:cNvPr>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TVARVC is standard table provided by SAP which is used to store the data under variants.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can put the values in TVARVC table to avoid hardcoding or creation of custom tables.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transaction code STVARV is used to maintain the data in table TVARVC.</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There are 2 sections for transaction code STVARV - Parameter and Selection Options.</a:t>
            </a:r>
          </a:p>
        </p:txBody>
      </p:sp>
    </p:spTree>
    <p:extLst>
      <p:ext uri="{BB962C8B-B14F-4D97-AF65-F5344CB8AC3E}">
        <p14:creationId xmlns:p14="http://schemas.microsoft.com/office/powerpoint/2010/main" val="870722334"/>
      </p:ext>
    </p:extLst>
  </p:cSld>
  <p:clrMapOvr>
    <a:masterClrMapping/>
  </p:clrMapOvr>
  <p:transition spd="me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DE58F-9BD8-49A4-692B-E13102AB455B}"/>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8212C69A-D02F-EA86-BC9C-C691A4B7E0F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69</a:t>
            </a:fld>
            <a:endParaRPr dirty="0"/>
          </a:p>
        </p:txBody>
      </p:sp>
      <p:sp>
        <p:nvSpPr>
          <p:cNvPr id="207" name="TextBox 17">
            <a:extLst>
              <a:ext uri="{FF2B5EF4-FFF2-40B4-BE49-F238E27FC236}">
                <a16:creationId xmlns:a16="http://schemas.microsoft.com/office/drawing/2014/main" id="{D86302B0-9CED-46B6-683C-1004DA2382DC}"/>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Concept of TVARVC Table</a:t>
            </a:r>
          </a:p>
        </p:txBody>
      </p:sp>
      <p:sp>
        <p:nvSpPr>
          <p:cNvPr id="208" name="Straight Connector 18">
            <a:extLst>
              <a:ext uri="{FF2B5EF4-FFF2-40B4-BE49-F238E27FC236}">
                <a16:creationId xmlns:a16="http://schemas.microsoft.com/office/drawing/2014/main" id="{C1F75021-60A3-1B0A-5664-9865B1CC912D}"/>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BF31E085-DAAC-EA7D-B011-038BD9099F3A}"/>
              </a:ext>
            </a:extLst>
          </p:cNvPr>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TVARVC is standard table provided by SAP which is used to store the data under variants.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can put the values in TVARVC table to avoid hardcoding or creation of custom tables.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transaction code STVARV is used to maintain the data in table TVARVC.</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There are 2 sections for transaction code STVARV - Parameter and Selection Options.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Parameter section is used to store the single values under a name.</a:t>
            </a:r>
          </a:p>
        </p:txBody>
      </p:sp>
    </p:spTree>
    <p:extLst>
      <p:ext uri="{BB962C8B-B14F-4D97-AF65-F5344CB8AC3E}">
        <p14:creationId xmlns:p14="http://schemas.microsoft.com/office/powerpoint/2010/main" val="2794398222"/>
      </p:ext>
    </p:extLst>
  </p:cSld>
  <p:clrMapOvr>
    <a:masterClrMapping/>
  </p:clrMapOvr>
  <p:transition spd="me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1515B-7151-BBC7-FAFF-CCF6EB1221E7}"/>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D3021567-20D9-5B0B-10F5-3ED0A38C99DB}"/>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70</a:t>
            </a:fld>
            <a:endParaRPr dirty="0"/>
          </a:p>
        </p:txBody>
      </p:sp>
      <p:sp>
        <p:nvSpPr>
          <p:cNvPr id="207" name="TextBox 17">
            <a:extLst>
              <a:ext uri="{FF2B5EF4-FFF2-40B4-BE49-F238E27FC236}">
                <a16:creationId xmlns:a16="http://schemas.microsoft.com/office/drawing/2014/main" id="{4FFF0049-7E63-B44B-1CA2-3FC8E841ED7B}"/>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Concept of Table TVARVC(Contd.) </a:t>
            </a:r>
          </a:p>
        </p:txBody>
      </p:sp>
      <p:sp>
        <p:nvSpPr>
          <p:cNvPr id="208" name="Straight Connector 18">
            <a:extLst>
              <a:ext uri="{FF2B5EF4-FFF2-40B4-BE49-F238E27FC236}">
                <a16:creationId xmlns:a16="http://schemas.microsoft.com/office/drawing/2014/main" id="{0B785228-9822-FD04-C6D0-B6A29C7E55EF}"/>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2B46537C-1780-22CB-4566-4561B508ED81}"/>
              </a:ext>
            </a:extLst>
          </p:cNvPr>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Selection Option section is used to store the multiple values under a name.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Disadvantage : We can not refer to the valid values with in the SAP system. This can lead to errors if we store values that are not actually valid with in the SAP system.</a:t>
            </a:r>
          </a:p>
        </p:txBody>
      </p:sp>
    </p:spTree>
    <p:extLst>
      <p:ext uri="{BB962C8B-B14F-4D97-AF65-F5344CB8AC3E}">
        <p14:creationId xmlns:p14="http://schemas.microsoft.com/office/powerpoint/2010/main" val="4129499611"/>
      </p:ext>
    </p:extLst>
  </p:cSld>
  <p:clrMapOvr>
    <a:masterClrMapping/>
  </p:clrMapOvr>
  <p:transition spd="me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A5F25-0986-D7A2-C4B7-ABCE89E9BE53}"/>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9BD45971-3A03-9501-C8AF-5F9A29A11EAF}"/>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71</a:t>
            </a:fld>
            <a:endParaRPr dirty="0"/>
          </a:p>
        </p:txBody>
      </p:sp>
      <p:sp>
        <p:nvSpPr>
          <p:cNvPr id="207" name="TextBox 17">
            <a:extLst>
              <a:ext uri="{FF2B5EF4-FFF2-40B4-BE49-F238E27FC236}">
                <a16:creationId xmlns:a16="http://schemas.microsoft.com/office/drawing/2014/main" id="{CBFC68AC-ADE2-2C88-275F-0AA11FB08E9A}"/>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Concept of Table TVARVC(Contd.) </a:t>
            </a:r>
          </a:p>
        </p:txBody>
      </p:sp>
      <p:sp>
        <p:nvSpPr>
          <p:cNvPr id="208" name="Straight Connector 18">
            <a:extLst>
              <a:ext uri="{FF2B5EF4-FFF2-40B4-BE49-F238E27FC236}">
                <a16:creationId xmlns:a16="http://schemas.microsoft.com/office/drawing/2014/main" id="{EBF89522-C5E7-5E2E-8539-64815DA3B543}"/>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52C9E710-66D3-BBED-2978-413F03BD17D9}"/>
              </a:ext>
            </a:extLst>
          </p:cNvPr>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Selection Option section is used to store the multiple values under a name.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Disadvantage : We can not refer to the valid values with in the SAP system. This can lead to errors if we store values that are not actually valid with in the SAP system.</a:t>
            </a:r>
          </a:p>
        </p:txBody>
      </p:sp>
    </p:spTree>
    <p:extLst>
      <p:ext uri="{BB962C8B-B14F-4D97-AF65-F5344CB8AC3E}">
        <p14:creationId xmlns:p14="http://schemas.microsoft.com/office/powerpoint/2010/main" val="412231922"/>
      </p:ext>
    </p:extLst>
  </p:cSld>
  <p:clrMapOvr>
    <a:masterClrMapping/>
  </p:clrMapOvr>
  <p:transition spd="me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C800E-5ABD-19D3-26FC-9F62FCC8FEDF}"/>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42EEDE79-03B4-7E83-2142-5D0DD5221B91}"/>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72</a:t>
            </a:fld>
            <a:endParaRPr dirty="0"/>
          </a:p>
        </p:txBody>
      </p:sp>
      <p:sp>
        <p:nvSpPr>
          <p:cNvPr id="207" name="TextBox 17">
            <a:extLst>
              <a:ext uri="{FF2B5EF4-FFF2-40B4-BE49-F238E27FC236}">
                <a16:creationId xmlns:a16="http://schemas.microsoft.com/office/drawing/2014/main" id="{607F1B63-A395-4185-6502-B8EFD01D2C36}"/>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Concept of Table SETLEAF </a:t>
            </a:r>
          </a:p>
        </p:txBody>
      </p:sp>
      <p:sp>
        <p:nvSpPr>
          <p:cNvPr id="208" name="Straight Connector 18">
            <a:extLst>
              <a:ext uri="{FF2B5EF4-FFF2-40B4-BE49-F238E27FC236}">
                <a16:creationId xmlns:a16="http://schemas.microsoft.com/office/drawing/2014/main" id="{5CB8EF37-5F6E-DC89-80EA-E2071FA4CA17}"/>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887C38A9-A839-385F-C0DD-58BC9ECCB095}"/>
              </a:ext>
            </a:extLst>
          </p:cNvPr>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SETLEAF is also a standard table in SAP like TVARVC where we store the data in sets.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can store single data, multiple data, range of data.</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main advantage of SETLEAF over TVARVC is, we can refer to the valid values with in the SAP system.</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various transaction codes involved in the process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GS01 - Transaction code to create the set.</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GS02 - Transaction code to change the set.  </a:t>
            </a:r>
          </a:p>
        </p:txBody>
      </p:sp>
    </p:spTree>
    <p:extLst>
      <p:ext uri="{BB962C8B-B14F-4D97-AF65-F5344CB8AC3E}">
        <p14:creationId xmlns:p14="http://schemas.microsoft.com/office/powerpoint/2010/main" val="915117644"/>
      </p:ext>
    </p:extLst>
  </p:cSld>
  <p:clrMapOvr>
    <a:masterClrMapping/>
  </p:clrMapOvr>
  <p:transition spd="me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001A8-A160-DF85-08CD-E43CBE091891}"/>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A193F87D-65B5-3361-8ADA-02E3566C3F3A}"/>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73</a:t>
            </a:fld>
            <a:endParaRPr dirty="0"/>
          </a:p>
        </p:txBody>
      </p:sp>
      <p:sp>
        <p:nvSpPr>
          <p:cNvPr id="207" name="TextBox 17">
            <a:extLst>
              <a:ext uri="{FF2B5EF4-FFF2-40B4-BE49-F238E27FC236}">
                <a16:creationId xmlns:a16="http://schemas.microsoft.com/office/drawing/2014/main" id="{A9621FF7-78F9-68E6-4277-5FD4ECF4B392}"/>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Concept of Table SETLEAF(Contd.) </a:t>
            </a:r>
          </a:p>
        </p:txBody>
      </p:sp>
      <p:sp>
        <p:nvSpPr>
          <p:cNvPr id="208" name="Straight Connector 18">
            <a:extLst>
              <a:ext uri="{FF2B5EF4-FFF2-40B4-BE49-F238E27FC236}">
                <a16:creationId xmlns:a16="http://schemas.microsoft.com/office/drawing/2014/main" id="{4D26EFD7-346B-607A-E32B-E7B9651B4CEC}"/>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E925ED31-AB69-D950-DCD3-3A1AB1D20977}"/>
              </a:ext>
            </a:extLst>
          </p:cNvPr>
          <p:cNvSpPr txBox="1"/>
          <p:nvPr/>
        </p:nvSpPr>
        <p:spPr>
          <a:xfrm>
            <a:off x="14244" y="1263042"/>
            <a:ext cx="11935565" cy="72757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GS03 - Transaction code to display the set.  </a:t>
            </a:r>
          </a:p>
        </p:txBody>
      </p:sp>
    </p:spTree>
    <p:extLst>
      <p:ext uri="{BB962C8B-B14F-4D97-AF65-F5344CB8AC3E}">
        <p14:creationId xmlns:p14="http://schemas.microsoft.com/office/powerpoint/2010/main" val="87787626"/>
      </p:ext>
    </p:extLst>
  </p:cSld>
  <p:clrMapOvr>
    <a:masterClrMapping/>
  </p:clrMapOvr>
  <p:transition spd="me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C4F64-CA59-AEEA-5964-A351C7CE6185}"/>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B4047277-38C8-AA21-435F-B61B4021BB72}"/>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74</a:t>
            </a:fld>
            <a:endParaRPr dirty="0"/>
          </a:p>
        </p:txBody>
      </p:sp>
      <p:sp>
        <p:nvSpPr>
          <p:cNvPr id="207" name="TextBox 17">
            <a:extLst>
              <a:ext uri="{FF2B5EF4-FFF2-40B4-BE49-F238E27FC236}">
                <a16:creationId xmlns:a16="http://schemas.microsoft.com/office/drawing/2014/main" id="{04A3B0EC-DA92-061D-FD06-4D72AF9E071F}"/>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Concept of Parallel Processing </a:t>
            </a:r>
          </a:p>
        </p:txBody>
      </p:sp>
      <p:sp>
        <p:nvSpPr>
          <p:cNvPr id="208" name="Straight Connector 18">
            <a:extLst>
              <a:ext uri="{FF2B5EF4-FFF2-40B4-BE49-F238E27FC236}">
                <a16:creationId xmlns:a16="http://schemas.microsoft.com/office/drawing/2014/main" id="{D3ECE869-E2BB-CDD9-2E8E-3445528605D7}"/>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40ECB699-09DC-73AA-18AF-B927714B45F6}"/>
              </a:ext>
            </a:extLst>
          </p:cNvPr>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latin typeface="Calibri" panose="020F0502020204030204" pitchFamily="34" charset="0"/>
                <a:cs typeface="Calibri" panose="020F0502020204030204" pitchFamily="34" charset="0"/>
              </a:rPr>
              <a:t>Parallel Processing is a technique where a large task is divided into smaller, independent parts.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latin typeface="Calibri" panose="020F0502020204030204" pitchFamily="34" charset="0"/>
                <a:cs typeface="Calibri" panose="020F0502020204030204" pitchFamily="34" charset="0"/>
              </a:rPr>
              <a:t>These smaller, independent parts processed simultaneously by multiple work-processes.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latin typeface="Calibri" panose="020F0502020204030204" pitchFamily="34" charset="0"/>
                <a:cs typeface="Calibri" panose="020F0502020204030204" pitchFamily="34" charset="0"/>
              </a:rPr>
              <a:t>This technique is very useful while dealing with time consuming tasks such as mass updates, large report generation etc.</a:t>
            </a:r>
          </a:p>
        </p:txBody>
      </p:sp>
    </p:spTree>
    <p:extLst>
      <p:ext uri="{BB962C8B-B14F-4D97-AF65-F5344CB8AC3E}">
        <p14:creationId xmlns:p14="http://schemas.microsoft.com/office/powerpoint/2010/main" val="127567018"/>
      </p:ext>
    </p:extLst>
  </p:cSld>
  <p:clrMapOvr>
    <a:masterClrMapping/>
  </p:clrMapOvr>
  <p:transition spd="me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58748-5BCF-3898-299B-90D96EE5D076}"/>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2794AFA6-8C8D-6D8C-BE7B-EA00C15F5CC0}"/>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75</a:t>
            </a:fld>
            <a:endParaRPr dirty="0"/>
          </a:p>
        </p:txBody>
      </p:sp>
      <p:sp>
        <p:nvSpPr>
          <p:cNvPr id="207" name="TextBox 17">
            <a:extLst>
              <a:ext uri="{FF2B5EF4-FFF2-40B4-BE49-F238E27FC236}">
                <a16:creationId xmlns:a16="http://schemas.microsoft.com/office/drawing/2014/main" id="{A14334C7-DB26-D6ED-E0B6-1C4197FDDE83}"/>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Benefits of Parallel Processing </a:t>
            </a:r>
          </a:p>
        </p:txBody>
      </p:sp>
      <p:sp>
        <p:nvSpPr>
          <p:cNvPr id="208" name="Straight Connector 18">
            <a:extLst>
              <a:ext uri="{FF2B5EF4-FFF2-40B4-BE49-F238E27FC236}">
                <a16:creationId xmlns:a16="http://schemas.microsoft.com/office/drawing/2014/main" id="{49AB83A9-B1CD-5D2C-0E4B-C7D537924225}"/>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1F608252-6A9B-C188-0AFE-6A80F76E79B1}"/>
              </a:ext>
            </a:extLst>
          </p:cNvPr>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b="1" dirty="0">
                <a:latin typeface="Calibri" panose="020F0502020204030204" pitchFamily="34" charset="0"/>
                <a:cs typeface="Calibri" panose="020F0502020204030204" pitchFamily="34" charset="0"/>
              </a:rPr>
              <a:t>Faster Execution : </a:t>
            </a:r>
            <a:r>
              <a:rPr lang="en-US" sz="2400" dirty="0">
                <a:latin typeface="Calibri" panose="020F0502020204030204" pitchFamily="34" charset="0"/>
                <a:cs typeface="Calibri" panose="020F0502020204030204" pitchFamily="34" charset="0"/>
              </a:rPr>
              <a:t>By dividing a large task into smaller parallel tasks, execution time is significantly reduced. It significantly improves the execution time while dealing with large volume of data.</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b="1" dirty="0">
                <a:latin typeface="Calibri" panose="020F0502020204030204" pitchFamily="34" charset="0"/>
                <a:cs typeface="Calibri" panose="020F0502020204030204" pitchFamily="34" charset="0"/>
              </a:rPr>
              <a:t>Resource Optimization :  </a:t>
            </a:r>
            <a:r>
              <a:rPr lang="en-US" sz="2400" dirty="0">
                <a:latin typeface="Calibri" panose="020F0502020204030204" pitchFamily="34" charset="0"/>
                <a:cs typeface="Calibri" panose="020F0502020204030204" pitchFamily="34" charset="0"/>
              </a:rPr>
              <a:t>SAP systems generally have multiple work processes available. It allow us to utilize the available resources by running multiple processes in parallel.</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b="1" dirty="0">
                <a:latin typeface="Calibri" panose="020F0502020204030204" pitchFamily="34" charset="0"/>
                <a:cs typeface="Calibri" panose="020F0502020204030204" pitchFamily="34" charset="0"/>
              </a:rPr>
              <a:t>Scalability : </a:t>
            </a:r>
            <a:r>
              <a:rPr lang="en-US" sz="2400" dirty="0">
                <a:latin typeface="Calibri" panose="020F0502020204030204" pitchFamily="34" charset="0"/>
                <a:cs typeface="Calibri" panose="020F0502020204030204" pitchFamily="34" charset="0"/>
              </a:rPr>
              <a:t>Scalability refers to handle the increasing amount of work or data without compromising on performance. It allows us to scale the performance of our application.</a:t>
            </a:r>
          </a:p>
        </p:txBody>
      </p:sp>
    </p:spTree>
    <p:extLst>
      <p:ext uri="{BB962C8B-B14F-4D97-AF65-F5344CB8AC3E}">
        <p14:creationId xmlns:p14="http://schemas.microsoft.com/office/powerpoint/2010/main" val="3333357453"/>
      </p:ext>
    </p:extLst>
  </p:cSld>
  <p:clrMapOvr>
    <a:masterClrMapping/>
  </p:clrMapOvr>
  <p:transition spd="me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85A33-8F85-EB87-C735-BC994916E76C}"/>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AFB7E65C-33C6-A07F-48FC-9A4A317D0604}"/>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76</a:t>
            </a:fld>
            <a:endParaRPr dirty="0"/>
          </a:p>
        </p:txBody>
      </p:sp>
      <p:sp>
        <p:nvSpPr>
          <p:cNvPr id="207" name="TextBox 17">
            <a:extLst>
              <a:ext uri="{FF2B5EF4-FFF2-40B4-BE49-F238E27FC236}">
                <a16:creationId xmlns:a16="http://schemas.microsoft.com/office/drawing/2014/main" id="{1D9C60EA-862D-E0F5-2C37-FDC149065C68}"/>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Steps of Parallel Processing  </a:t>
            </a:r>
          </a:p>
        </p:txBody>
      </p:sp>
      <p:sp>
        <p:nvSpPr>
          <p:cNvPr id="208" name="Straight Connector 18">
            <a:extLst>
              <a:ext uri="{FF2B5EF4-FFF2-40B4-BE49-F238E27FC236}">
                <a16:creationId xmlns:a16="http://schemas.microsoft.com/office/drawing/2014/main" id="{FF58D8E7-34DC-8FE9-3CBC-0A94771C0E90}"/>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E4F1AFE4-34DA-B264-B221-DDCEC89B5300}"/>
              </a:ext>
            </a:extLst>
          </p:cNvPr>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latin typeface="Calibri" panose="020F0502020204030204" pitchFamily="34" charset="0"/>
                <a:cs typeface="Calibri" panose="020F0502020204030204" pitchFamily="34" charset="0"/>
              </a:rPr>
              <a:t>The various steps involved in parallel processing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latin typeface="Calibri" panose="020F0502020204030204" pitchFamily="34" charset="0"/>
                <a:cs typeface="Calibri" panose="020F0502020204030204" pitchFamily="34" charset="0"/>
              </a:rPr>
              <a:t>Dividing the task</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latin typeface="Calibri" panose="020F0502020204030204" pitchFamily="34" charset="0"/>
                <a:cs typeface="Calibri" panose="020F0502020204030204" pitchFamily="34" charset="0"/>
              </a:rPr>
              <a:t>Calling function modules for </a:t>
            </a:r>
            <a:r>
              <a:rPr lang="en-US" sz="2400">
                <a:latin typeface="Calibri" panose="020F0502020204030204" pitchFamily="34" charset="0"/>
                <a:cs typeface="Calibri" panose="020F0502020204030204" pitchFamily="34" charset="0"/>
              </a:rPr>
              <a:t>processing of subtasks</a:t>
            </a:r>
            <a:endParaRPr lang="en-US" sz="2400" dirty="0">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dirty="0">
                <a:latin typeface="Calibri" panose="020F0502020204030204" pitchFamily="34" charset="0"/>
                <a:cs typeface="Calibri" panose="020F0502020204030204" pitchFamily="34" charset="0"/>
              </a:rPr>
              <a:t>Collecting the results</a:t>
            </a:r>
          </a:p>
        </p:txBody>
      </p:sp>
    </p:spTree>
    <p:extLst>
      <p:ext uri="{BB962C8B-B14F-4D97-AF65-F5344CB8AC3E}">
        <p14:creationId xmlns:p14="http://schemas.microsoft.com/office/powerpoint/2010/main" val="4185420017"/>
      </p:ext>
    </p:extLst>
  </p:cSld>
  <p:clrMapOvr>
    <a:masterClrMapping/>
  </p:clrMapOvr>
  <p:transition spd="me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52444-EACE-D532-051E-0EB57A429716}"/>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92E0775F-7DDC-E403-F882-72149034509F}"/>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77</a:t>
            </a:fld>
            <a:endParaRPr dirty="0"/>
          </a:p>
        </p:txBody>
      </p:sp>
      <p:sp>
        <p:nvSpPr>
          <p:cNvPr id="207" name="TextBox 17">
            <a:extLst>
              <a:ext uri="{FF2B5EF4-FFF2-40B4-BE49-F238E27FC236}">
                <a16:creationId xmlns:a16="http://schemas.microsoft.com/office/drawing/2014/main" id="{68B87DA0-9F74-C411-7842-BA7E26C0319C}"/>
              </a:ext>
            </a:extLst>
          </p:cNvPr>
          <p:cNvSpPr txBox="1"/>
          <p:nvPr/>
        </p:nvSpPr>
        <p:spPr>
          <a:xfrm>
            <a:off x="369419" y="357542"/>
            <a:ext cx="10925133"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Steps of Parallel Processing - Dividing the Task </a:t>
            </a:r>
          </a:p>
        </p:txBody>
      </p:sp>
      <p:sp>
        <p:nvSpPr>
          <p:cNvPr id="208" name="Straight Connector 18">
            <a:extLst>
              <a:ext uri="{FF2B5EF4-FFF2-40B4-BE49-F238E27FC236}">
                <a16:creationId xmlns:a16="http://schemas.microsoft.com/office/drawing/2014/main" id="{D562E7F1-D04C-C7D6-F7E6-D8F96DB05FF3}"/>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BE1E59BE-9156-523F-B0C8-80324DA0F26D}"/>
              </a:ext>
            </a:extLst>
          </p:cNvPr>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This is the key step in parallel processing. In this step, we divide a large task into smaller, independent units of work that can be executed in parallel. Example - We have a large data set. We can divide that into chunks and process each chunk in a separate work process.      </a:t>
            </a:r>
          </a:p>
        </p:txBody>
      </p:sp>
    </p:spTree>
    <p:extLst>
      <p:ext uri="{BB962C8B-B14F-4D97-AF65-F5344CB8AC3E}">
        <p14:creationId xmlns:p14="http://schemas.microsoft.com/office/powerpoint/2010/main" val="749270132"/>
      </p:ext>
    </p:extLst>
  </p:cSld>
  <p:clrMapOvr>
    <a:masterClrMapping/>
  </p:clrMapOvr>
  <p:transition spd="me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0B7F7-C211-E5D8-6FE6-67ED1A1365D3}"/>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71CA72E0-5BBD-0CB1-8E53-2139D5A14B24}"/>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78</a:t>
            </a:fld>
            <a:endParaRPr dirty="0"/>
          </a:p>
        </p:txBody>
      </p:sp>
      <p:sp>
        <p:nvSpPr>
          <p:cNvPr id="207" name="TextBox 17">
            <a:extLst>
              <a:ext uri="{FF2B5EF4-FFF2-40B4-BE49-F238E27FC236}">
                <a16:creationId xmlns:a16="http://schemas.microsoft.com/office/drawing/2014/main" id="{38288C34-A99F-519E-8991-85712A4BC738}"/>
              </a:ext>
            </a:extLst>
          </p:cNvPr>
          <p:cNvSpPr txBox="1"/>
          <p:nvPr/>
        </p:nvSpPr>
        <p:spPr>
          <a:xfrm>
            <a:off x="14244" y="357542"/>
            <a:ext cx="12080346"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Steps of Parallel Processing - Calling Function Modules  </a:t>
            </a:r>
          </a:p>
        </p:txBody>
      </p:sp>
      <p:sp>
        <p:nvSpPr>
          <p:cNvPr id="208" name="Straight Connector 18">
            <a:extLst>
              <a:ext uri="{FF2B5EF4-FFF2-40B4-BE49-F238E27FC236}">
                <a16:creationId xmlns:a16="http://schemas.microsoft.com/office/drawing/2014/main" id="{CB5E4B23-BDB1-6581-F90A-E0D703F6C3F7}"/>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5101E7CE-371D-A856-9CE6-1A564810020E}"/>
              </a:ext>
            </a:extLst>
          </p:cNvPr>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sym typeface="Trebuchet MS"/>
              </a:rPr>
              <a:t>Parallel processing in ABAP is typically done using Remote Function Calls (RFC). The CALL FUNCTION ... STARTING NEW TASK statement is used to invoke a function module in a new task (work process). Each of these function calls can execute simultaneously, processing its portion of the data.</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40529687"/>
      </p:ext>
    </p:extLst>
  </p:cSld>
  <p:clrMapOvr>
    <a:masterClrMapping/>
  </p:clrMapOvr>
  <p:transition spd="me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F05A8-4EC3-BC2B-4106-2FE8F0EFA61B}"/>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95DC9B24-7EFF-5C02-BB8A-AC8BCDB6A202}"/>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79</a:t>
            </a:fld>
            <a:endParaRPr dirty="0"/>
          </a:p>
        </p:txBody>
      </p:sp>
      <p:sp>
        <p:nvSpPr>
          <p:cNvPr id="207" name="TextBox 17">
            <a:extLst>
              <a:ext uri="{FF2B5EF4-FFF2-40B4-BE49-F238E27FC236}">
                <a16:creationId xmlns:a16="http://schemas.microsoft.com/office/drawing/2014/main" id="{F323EB99-93AD-E477-B24D-D4DE7EDE0B4A}"/>
              </a:ext>
            </a:extLst>
          </p:cNvPr>
          <p:cNvSpPr txBox="1"/>
          <p:nvPr/>
        </p:nvSpPr>
        <p:spPr>
          <a:xfrm>
            <a:off x="14244" y="357542"/>
            <a:ext cx="12080346"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Steps of Parallel Processing - Collecting Results  </a:t>
            </a:r>
          </a:p>
        </p:txBody>
      </p:sp>
      <p:sp>
        <p:nvSpPr>
          <p:cNvPr id="208" name="Straight Connector 18">
            <a:extLst>
              <a:ext uri="{FF2B5EF4-FFF2-40B4-BE49-F238E27FC236}">
                <a16:creationId xmlns:a16="http://schemas.microsoft.com/office/drawing/2014/main" id="{5E6B9CE5-8986-225A-EF35-3AF047D1FC8F}"/>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8440B714-9B2C-4B1C-61D8-37CF24ADF284}"/>
              </a:ext>
            </a:extLst>
          </p:cNvPr>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sym typeface="Trebuchet MS"/>
              </a:rPr>
              <a:t>After all the parallel tasks have been executed, their results need to be collected and processed together. The RECEIVE RESULTS FROM FUNCTION statement is used to collect the results from each of the parallel tasks once they complete.</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93669664"/>
      </p:ext>
    </p:extLst>
  </p:cSld>
  <p:clrMapOvr>
    <a:masterClrMapping/>
  </p:clrMapOvr>
  <p:transition spd="me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3678F-29A0-FD28-DE36-63705D8601DB}"/>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AA1C7A44-31BB-A140-34BC-C297399F2F3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80</a:t>
            </a:fld>
            <a:endParaRPr dirty="0"/>
          </a:p>
        </p:txBody>
      </p:sp>
      <p:sp>
        <p:nvSpPr>
          <p:cNvPr id="207" name="TextBox 17">
            <a:extLst>
              <a:ext uri="{FF2B5EF4-FFF2-40B4-BE49-F238E27FC236}">
                <a16:creationId xmlns:a16="http://schemas.microsoft.com/office/drawing/2014/main" id="{C4282CB0-B423-685B-BB08-05AB205BCFCC}"/>
              </a:ext>
            </a:extLst>
          </p:cNvPr>
          <p:cNvSpPr txBox="1"/>
          <p:nvPr/>
        </p:nvSpPr>
        <p:spPr>
          <a:xfrm>
            <a:off x="14244" y="357542"/>
            <a:ext cx="12080346"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Parallel Processing - Significance of WAIT UNTIL Statement  </a:t>
            </a:r>
          </a:p>
        </p:txBody>
      </p:sp>
      <p:sp>
        <p:nvSpPr>
          <p:cNvPr id="208" name="Straight Connector 18">
            <a:extLst>
              <a:ext uri="{FF2B5EF4-FFF2-40B4-BE49-F238E27FC236}">
                <a16:creationId xmlns:a16="http://schemas.microsoft.com/office/drawing/2014/main" id="{B7465ADF-FCA9-4D37-AE01-1163E55FF048}"/>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446CE739-D728-C5F6-8963-03FD6D55E654}"/>
              </a:ext>
            </a:extLst>
          </p:cNvPr>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sym typeface="Trebuchet MS"/>
              </a:rPr>
              <a:t>WAIT UNTIL allows the main program to pause its execution until a specific condition.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latin typeface="Calibri" panose="020F0502020204030204" pitchFamily="34" charset="0"/>
                <a:cs typeface="Calibri" panose="020F0502020204030204" pitchFamily="34" charset="0"/>
              </a:rPr>
              <a:t>The WAIT UNTIL statement will repeatedly check its condition. When the condition becomes true, the relevant code is executed.</a:t>
            </a:r>
            <a:endParaRPr lang="en-US" sz="2400" dirty="0">
              <a:solidFill>
                <a:srgbClr val="3B3838"/>
              </a:solidFill>
              <a:latin typeface="Calibri" panose="020F0502020204030204" pitchFamily="34" charset="0"/>
              <a:cs typeface="Calibri" panose="020F0502020204030204" pitchFamily="34" charset="0"/>
              <a:sym typeface="Trebuchet MS"/>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b="1" dirty="0">
                <a:solidFill>
                  <a:srgbClr val="3B3838"/>
                </a:solidFill>
                <a:latin typeface="Calibri" panose="020F0502020204030204" pitchFamily="34" charset="0"/>
                <a:cs typeface="Calibri" panose="020F0502020204030204" pitchFamily="34" charset="0"/>
                <a:sym typeface="Trebuchet MS"/>
              </a:rPr>
              <a:t>Real time use </a:t>
            </a:r>
            <a:r>
              <a:rPr lang="en-US" sz="2400" dirty="0">
                <a:solidFill>
                  <a:srgbClr val="3B3838"/>
                </a:solidFill>
                <a:latin typeface="Calibri" panose="020F0502020204030204" pitchFamily="34" charset="0"/>
                <a:cs typeface="Calibri" panose="020F0502020204030204" pitchFamily="34" charset="0"/>
                <a:sym typeface="Trebuchet MS"/>
              </a:rPr>
              <a:t>- The WAIT UNTIL statement serves to synchronize the execution of a program with the completion of asynchronous tasks.</a:t>
            </a:r>
          </a:p>
        </p:txBody>
      </p:sp>
    </p:spTree>
    <p:extLst>
      <p:ext uri="{BB962C8B-B14F-4D97-AF65-F5344CB8AC3E}">
        <p14:creationId xmlns:p14="http://schemas.microsoft.com/office/powerpoint/2010/main" val="424466092"/>
      </p:ext>
    </p:extLst>
  </p:cSld>
  <p:clrMapOvr>
    <a:masterClrMapping/>
  </p:clrMapOvr>
  <p:transition spd="me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B9FA17-C930-9C06-9FD4-86C86E74CCCB}"/>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41D98A4E-CD5F-118A-990E-6739BF2D9B9C}"/>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81</a:t>
            </a:fld>
            <a:endParaRPr dirty="0"/>
          </a:p>
        </p:txBody>
      </p:sp>
      <p:sp>
        <p:nvSpPr>
          <p:cNvPr id="207" name="TextBox 17">
            <a:extLst>
              <a:ext uri="{FF2B5EF4-FFF2-40B4-BE49-F238E27FC236}">
                <a16:creationId xmlns:a16="http://schemas.microsoft.com/office/drawing/2014/main" id="{B35CAE36-0329-8226-688C-01C0553358DB}"/>
              </a:ext>
            </a:extLst>
          </p:cNvPr>
          <p:cNvSpPr txBox="1"/>
          <p:nvPr/>
        </p:nvSpPr>
        <p:spPr>
          <a:xfrm>
            <a:off x="14244" y="357542"/>
            <a:ext cx="12080346" cy="9787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Challenges and Best Practices of Parallel Processing </a:t>
            </a:r>
          </a:p>
          <a:p>
            <a:endParaRPr lang="en-US" sz="3200" dirty="0">
              <a:latin typeface="Calibri" panose="020F0502020204030204" pitchFamily="34" charset="0"/>
              <a:cs typeface="Calibri" panose="020F0502020204030204" pitchFamily="34" charset="0"/>
            </a:endParaRPr>
          </a:p>
        </p:txBody>
      </p:sp>
      <p:sp>
        <p:nvSpPr>
          <p:cNvPr id="208" name="Straight Connector 18">
            <a:extLst>
              <a:ext uri="{FF2B5EF4-FFF2-40B4-BE49-F238E27FC236}">
                <a16:creationId xmlns:a16="http://schemas.microsoft.com/office/drawing/2014/main" id="{64FC44F1-D245-0076-366D-F97B4D3445C4}"/>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8DA0B6A3-BDB2-5B5E-2677-3FF154FD9C93}"/>
              </a:ext>
            </a:extLst>
          </p:cNvPr>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marR="0" lvl="1" indent="-457200" algn="l" defTabSz="914400" rtl="0" eaLnBrk="1" fontAlgn="auto" latinLnBrk="0" hangingPunct="0">
              <a:lnSpc>
                <a:spcPct val="200000"/>
              </a:lnSpc>
              <a:spcBef>
                <a:spcPts val="0"/>
              </a:spcBef>
              <a:spcAft>
                <a:spcPts val="0"/>
              </a:spcAft>
              <a:buClr>
                <a:srgbClr val="73C96C"/>
              </a:buClr>
              <a:buSzPct val="100000"/>
              <a:buFontTx/>
              <a:buChar char="▪"/>
              <a:tabLst/>
              <a:defRPr sz="2400">
                <a:solidFill>
                  <a:srgbClr val="3B3838"/>
                </a:solidFill>
                <a:latin typeface="Trebuchet MS"/>
                <a:ea typeface="Trebuchet MS"/>
                <a:cs typeface="Trebuchet MS"/>
                <a:sym typeface="Trebuchet MS"/>
              </a:defRPr>
            </a:pPr>
            <a:r>
              <a:rPr kumimoji="0" lang="en-US" sz="2400" b="0" i="0" u="none" strike="noStrike" kern="0" cap="none" spc="0" normalizeH="0" baseline="0" noProof="0" dirty="0">
                <a:ln>
                  <a:noFill/>
                </a:ln>
                <a:solidFill>
                  <a:srgbClr val="3B3838"/>
                </a:solidFill>
                <a:effectLst/>
                <a:uLnTx/>
                <a:uFillTx/>
                <a:latin typeface="Calibri" panose="020F0502020204030204" pitchFamily="34" charset="0"/>
                <a:cs typeface="Calibri" panose="020F0502020204030204" pitchFamily="34" charset="0"/>
                <a:sym typeface="Trebuchet MS"/>
              </a:rPr>
              <a:t>The various challenges and the best practices to overcome those challenge during parallel processing are as follows:</a:t>
            </a:r>
            <a:endParaRPr lang="en-US" sz="2400" b="1" dirty="0">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sz="2400" b="1" dirty="0">
                <a:latin typeface="Calibri" panose="020F0502020204030204" pitchFamily="34" charset="0"/>
                <a:cs typeface="Calibri" panose="020F0502020204030204" pitchFamily="34" charset="0"/>
              </a:rPr>
              <a:t>Uneven distribution of load : </a:t>
            </a:r>
            <a:r>
              <a:rPr lang="en-US" sz="2400" dirty="0">
                <a:latin typeface="Calibri" panose="020F0502020204030204" pitchFamily="34" charset="0"/>
                <a:cs typeface="Calibri" panose="020F0502020204030204" pitchFamily="34" charset="0"/>
              </a:rPr>
              <a:t>In parallel processing, we divide a large task into multiple subtasks and because of that, we face the challenge of uneven distribution of load across multiple tasks. Example - If the task is too large, it will continue for long time and we will not get the benefit of parallel processing.</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b="1" dirty="0">
                <a:latin typeface="Calibri" panose="020F0502020204030204" pitchFamily="34" charset="0"/>
                <a:cs typeface="Calibri" panose="020F0502020204030204" pitchFamily="34" charset="0"/>
              </a:rPr>
              <a:t>Best Practice : </a:t>
            </a:r>
            <a:r>
              <a:rPr lang="en-US" sz="2400" dirty="0">
                <a:latin typeface="Calibri" panose="020F0502020204030204" pitchFamily="34" charset="0"/>
                <a:cs typeface="Calibri" panose="020F0502020204030204" pitchFamily="34" charset="0"/>
              </a:rPr>
              <a:t>Load must be evenly distributed across multiple tasks. </a:t>
            </a: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91975668"/>
      </p:ext>
    </p:extLst>
  </p:cSld>
  <p:clrMapOvr>
    <a:masterClrMapping/>
  </p:clrMapOvr>
  <p:transition spd="me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C977E-B445-8BAF-F8AB-ECDB2BA8E7C8}"/>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9DAB07FB-E0D7-2F83-0440-4E61F6B4A1C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82</a:t>
            </a:fld>
            <a:endParaRPr dirty="0"/>
          </a:p>
        </p:txBody>
      </p:sp>
      <p:sp>
        <p:nvSpPr>
          <p:cNvPr id="207" name="TextBox 17">
            <a:extLst>
              <a:ext uri="{FF2B5EF4-FFF2-40B4-BE49-F238E27FC236}">
                <a16:creationId xmlns:a16="http://schemas.microsoft.com/office/drawing/2014/main" id="{BF6B0C4C-82D9-7F72-C79E-CFC378209EC1}"/>
              </a:ext>
            </a:extLst>
          </p:cNvPr>
          <p:cNvSpPr txBox="1"/>
          <p:nvPr/>
        </p:nvSpPr>
        <p:spPr>
          <a:xfrm>
            <a:off x="14244" y="357542"/>
            <a:ext cx="12080346" cy="9787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Challenges and Best Practices of Parallel Processing(Contd.) </a:t>
            </a:r>
          </a:p>
          <a:p>
            <a:endParaRPr lang="en-US" sz="3200" dirty="0">
              <a:latin typeface="Calibri" panose="020F0502020204030204" pitchFamily="34" charset="0"/>
              <a:cs typeface="Calibri" panose="020F0502020204030204" pitchFamily="34" charset="0"/>
            </a:endParaRPr>
          </a:p>
        </p:txBody>
      </p:sp>
      <p:sp>
        <p:nvSpPr>
          <p:cNvPr id="208" name="Straight Connector 18">
            <a:extLst>
              <a:ext uri="{FF2B5EF4-FFF2-40B4-BE49-F238E27FC236}">
                <a16:creationId xmlns:a16="http://schemas.microsoft.com/office/drawing/2014/main" id="{96C526CF-91D4-8E68-0CFB-FD0275372A45}"/>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854A1ACE-5F9E-10EA-498D-E827EB1EC60B}"/>
              </a:ext>
            </a:extLst>
          </p:cNvPr>
          <p:cNvSpPr txBox="1"/>
          <p:nvPr/>
        </p:nvSpPr>
        <p:spPr>
          <a:xfrm>
            <a:off x="14244" y="1263042"/>
            <a:ext cx="11935565" cy="29435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 typeface="+mj-lt"/>
              <a:buAutoNum type="arabicPeriod" startAt="2"/>
              <a:defRPr sz="2400">
                <a:solidFill>
                  <a:srgbClr val="3B3838"/>
                </a:solidFill>
                <a:latin typeface="Trebuchet MS"/>
                <a:ea typeface="Trebuchet MS"/>
                <a:cs typeface="Trebuchet MS"/>
                <a:sym typeface="Trebuchet MS"/>
              </a:defRPr>
            </a:pPr>
            <a:r>
              <a:rPr lang="en-US" sz="2400" b="1" dirty="0">
                <a:latin typeface="Calibri" panose="020F0502020204030204" pitchFamily="34" charset="0"/>
                <a:cs typeface="Calibri" panose="020F0502020204030204" pitchFamily="34" charset="0"/>
              </a:rPr>
              <a:t>Data inconsistency : </a:t>
            </a:r>
            <a:r>
              <a:rPr lang="en-US" sz="2400" dirty="0">
                <a:latin typeface="Calibri" panose="020F0502020204030204" pitchFamily="34" charset="0"/>
                <a:cs typeface="Calibri" panose="020F0502020204030204" pitchFamily="34" charset="0"/>
              </a:rPr>
              <a:t>The parallel processing might lead to data inconsistency issues when multiple tasks access the same data at the same time.</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b="1" dirty="0">
                <a:latin typeface="Calibri" panose="020F0502020204030204" pitchFamily="34" charset="0"/>
                <a:cs typeface="Calibri" panose="020F0502020204030204" pitchFamily="34" charset="0"/>
              </a:rPr>
              <a:t>Best Practice : </a:t>
            </a:r>
            <a:r>
              <a:rPr lang="en-US" sz="2400" dirty="0">
                <a:solidFill>
                  <a:srgbClr val="3B3838"/>
                </a:solidFill>
                <a:latin typeface="Calibri" panose="020F0502020204030204" pitchFamily="34" charset="0"/>
                <a:cs typeface="Calibri" panose="020F0502020204030204" pitchFamily="34" charset="0"/>
              </a:rPr>
              <a:t>Each parallel task must be independent of the others. It means they should not require simultaneous access to the same data.</a:t>
            </a:r>
          </a:p>
        </p:txBody>
      </p:sp>
    </p:spTree>
    <p:extLst>
      <p:ext uri="{BB962C8B-B14F-4D97-AF65-F5344CB8AC3E}">
        <p14:creationId xmlns:p14="http://schemas.microsoft.com/office/powerpoint/2010/main" val="792722469"/>
      </p:ext>
    </p:extLst>
  </p:cSld>
  <p:clrMapOvr>
    <a:masterClrMapping/>
  </p:clrMapOvr>
  <p:transition spd="me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D53B7-57F4-C8A9-7455-4ABBCC1D2F76}"/>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469CED68-2DE0-239A-1AB2-6C2ED8D266BC}"/>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83</a:t>
            </a:fld>
            <a:endParaRPr dirty="0"/>
          </a:p>
        </p:txBody>
      </p:sp>
      <p:sp>
        <p:nvSpPr>
          <p:cNvPr id="207" name="TextBox 17">
            <a:extLst>
              <a:ext uri="{FF2B5EF4-FFF2-40B4-BE49-F238E27FC236}">
                <a16:creationId xmlns:a16="http://schemas.microsoft.com/office/drawing/2014/main" id="{D4055E1E-FD18-9080-E1F8-61319B36E26D}"/>
              </a:ext>
            </a:extLst>
          </p:cNvPr>
          <p:cNvSpPr txBox="1"/>
          <p:nvPr/>
        </p:nvSpPr>
        <p:spPr>
          <a:xfrm>
            <a:off x="14244" y="357542"/>
            <a:ext cx="12080346" cy="9787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    Challenges and Best Practices of Parallel Processing(Contd.) </a:t>
            </a:r>
          </a:p>
          <a:p>
            <a:endParaRPr lang="en-US" sz="3200" dirty="0">
              <a:latin typeface="Calibri" panose="020F0502020204030204" pitchFamily="34" charset="0"/>
              <a:cs typeface="Calibri" panose="020F0502020204030204" pitchFamily="34" charset="0"/>
            </a:endParaRPr>
          </a:p>
        </p:txBody>
      </p:sp>
      <p:sp>
        <p:nvSpPr>
          <p:cNvPr id="208" name="Straight Connector 18">
            <a:extLst>
              <a:ext uri="{FF2B5EF4-FFF2-40B4-BE49-F238E27FC236}">
                <a16:creationId xmlns:a16="http://schemas.microsoft.com/office/drawing/2014/main" id="{0293996B-92FD-20A9-3434-1985019CA17E}"/>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225AFC53-DECE-8E86-CCBE-3FD13340207F}"/>
              </a:ext>
            </a:extLst>
          </p:cNvPr>
          <p:cNvSpPr txBox="1"/>
          <p:nvPr/>
        </p:nvSpPr>
        <p:spPr>
          <a:xfrm>
            <a:off x="14244" y="1263042"/>
            <a:ext cx="11935565" cy="5159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 typeface="+mj-lt"/>
              <a:buAutoNum type="arabicPeriod" startAt="3"/>
              <a:defRPr sz="2400">
                <a:solidFill>
                  <a:srgbClr val="3B3838"/>
                </a:solidFill>
                <a:latin typeface="Trebuchet MS"/>
                <a:ea typeface="Trebuchet MS"/>
                <a:cs typeface="Trebuchet MS"/>
                <a:sym typeface="Trebuchet MS"/>
              </a:defRPr>
            </a:pPr>
            <a:r>
              <a:rPr lang="en-US" sz="2400" b="1" dirty="0">
                <a:latin typeface="Calibri" panose="020F0502020204030204" pitchFamily="34" charset="0"/>
                <a:cs typeface="Calibri" panose="020F0502020204030204" pitchFamily="34" charset="0"/>
              </a:rPr>
              <a:t>Increases system load : </a:t>
            </a:r>
            <a:r>
              <a:rPr lang="en-US" sz="2400" dirty="0">
                <a:latin typeface="Calibri" panose="020F0502020204030204" pitchFamily="34" charset="0"/>
                <a:cs typeface="Calibri" panose="020F0502020204030204" pitchFamily="34" charset="0"/>
              </a:rPr>
              <a:t>While parallel processing improves performance, it can also increase the load on the system. Too many parallel tasks running at the same time may lead to resource unavailability and will lead to performance bottlenecks.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sz="2400" b="1" dirty="0">
                <a:latin typeface="Calibri" panose="020F0502020204030204" pitchFamily="34" charset="0"/>
                <a:cs typeface="Calibri" panose="020F0502020204030204" pitchFamily="34" charset="0"/>
              </a:rPr>
              <a:t>Best Practice : </a:t>
            </a:r>
            <a:r>
              <a:rPr lang="en-US" sz="2400" dirty="0">
                <a:solidFill>
                  <a:srgbClr val="3B3838"/>
                </a:solidFill>
                <a:latin typeface="Calibri" panose="020F0502020204030204" pitchFamily="34" charset="0"/>
                <a:cs typeface="Calibri" panose="020F0502020204030204" pitchFamily="34" charset="0"/>
              </a:rPr>
              <a:t>The various best practices to handle the system load are as follows: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parallel tasks needs to be decided based upon the system capacity.</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For long-running processes, consider executing parallel tasks in background jobs.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Use system monitoring tool SM50 and adjust parameters accordingly.</a:t>
            </a:r>
          </a:p>
        </p:txBody>
      </p:sp>
    </p:spTree>
    <p:extLst>
      <p:ext uri="{BB962C8B-B14F-4D97-AF65-F5344CB8AC3E}">
        <p14:creationId xmlns:p14="http://schemas.microsoft.com/office/powerpoint/2010/main" val="3468659553"/>
      </p:ext>
    </p:extLst>
  </p:cSld>
  <p:clrMapOvr>
    <a:masterClrMapping/>
  </p:clrMapOvr>
  <p:transition spd="me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8BC7C-3AA1-E07D-45F5-E07F09A26D89}"/>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DB08A10D-FCE8-3EFD-BF2A-56E0343039EF}"/>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84</a:t>
            </a:fld>
            <a:endParaRPr dirty="0"/>
          </a:p>
        </p:txBody>
      </p:sp>
      <p:sp>
        <p:nvSpPr>
          <p:cNvPr id="207" name="TextBox 17">
            <a:extLst>
              <a:ext uri="{FF2B5EF4-FFF2-40B4-BE49-F238E27FC236}">
                <a16:creationId xmlns:a16="http://schemas.microsoft.com/office/drawing/2014/main" id="{BB3A0323-F781-C78A-AC8D-2DA649546999}"/>
              </a:ext>
            </a:extLst>
          </p:cNvPr>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Challenges and Best Practices of Parallel Processing(Contd.)</a:t>
            </a:r>
          </a:p>
        </p:txBody>
      </p:sp>
      <p:sp>
        <p:nvSpPr>
          <p:cNvPr id="208" name="Straight Connector 18">
            <a:extLst>
              <a:ext uri="{FF2B5EF4-FFF2-40B4-BE49-F238E27FC236}">
                <a16:creationId xmlns:a16="http://schemas.microsoft.com/office/drawing/2014/main" id="{08EF4469-676A-1589-CD92-1D50EE085210}"/>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01B609B1-A03D-CACC-F02A-C1ACED53E1CC}"/>
              </a:ext>
            </a:extLst>
          </p:cNvPr>
          <p:cNvSpPr txBox="1"/>
          <p:nvPr/>
        </p:nvSpPr>
        <p:spPr>
          <a:xfrm>
            <a:off x="14244" y="1263042"/>
            <a:ext cx="11935565" cy="29435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 typeface="+mj-lt"/>
              <a:buAutoNum type="arabicPeriod" startAt="4"/>
              <a:defRPr sz="2400">
                <a:solidFill>
                  <a:srgbClr val="3B3838"/>
                </a:solidFill>
                <a:latin typeface="Trebuchet MS"/>
                <a:ea typeface="Trebuchet MS"/>
                <a:cs typeface="Trebuchet MS"/>
                <a:sym typeface="Trebuchet MS"/>
              </a:defRPr>
            </a:pPr>
            <a:r>
              <a:rPr lang="en-US" sz="2400" b="1" dirty="0">
                <a:latin typeface="Calibri" panose="020F0502020204030204" pitchFamily="34" charset="0"/>
                <a:cs typeface="Calibri" panose="020F0502020204030204" pitchFamily="34" charset="0"/>
              </a:rPr>
              <a:t>Error Handling : </a:t>
            </a:r>
            <a:r>
              <a:rPr lang="en-US" sz="2400" dirty="0">
                <a:solidFill>
                  <a:srgbClr val="3B3838"/>
                </a:solidFill>
                <a:latin typeface="Calibri" panose="020F0502020204030204" pitchFamily="34" charset="0"/>
                <a:cs typeface="Calibri" panose="020F0502020204030204" pitchFamily="34" charset="0"/>
              </a:rPr>
              <a:t>In parallel processing, errors in individual tasks must be handled separately. There must be a logging process for each task and the failed tasks must be managed properly.</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kumimoji="0" lang="en-US" sz="2400" b="1" i="0" u="none" strike="noStrike" kern="0" cap="none" spc="0" normalizeH="0" baseline="0" noProof="0" dirty="0">
                <a:ln>
                  <a:noFill/>
                </a:ln>
                <a:solidFill>
                  <a:srgbClr val="3B3838"/>
                </a:solidFill>
                <a:effectLst/>
                <a:uLnTx/>
                <a:uFillTx/>
                <a:latin typeface="Calibri" panose="020F0502020204030204" pitchFamily="34" charset="0"/>
                <a:cs typeface="Calibri" panose="020F0502020204030204" pitchFamily="34" charset="0"/>
                <a:sym typeface="Trebuchet MS"/>
              </a:rPr>
              <a:t>Best Practice : </a:t>
            </a:r>
            <a:r>
              <a:rPr lang="en-US" sz="2400" dirty="0">
                <a:solidFill>
                  <a:srgbClr val="3B3838"/>
                </a:solidFill>
                <a:latin typeface="Calibri" panose="020F0502020204030204" pitchFamily="34" charset="0"/>
                <a:cs typeface="Calibri" panose="020F0502020204030204" pitchFamily="34" charset="0"/>
                <a:sym typeface="Trebuchet MS"/>
              </a:rPr>
              <a:t>I</a:t>
            </a:r>
            <a:r>
              <a:rPr kumimoji="0" lang="en-US" sz="2400" b="0" i="0" u="none" strike="noStrike" kern="0" cap="none" spc="0" normalizeH="0" baseline="0" noProof="0" dirty="0">
                <a:ln>
                  <a:noFill/>
                </a:ln>
                <a:solidFill>
                  <a:srgbClr val="3B3838"/>
                </a:solidFill>
                <a:effectLst/>
                <a:uLnTx/>
                <a:uFillTx/>
                <a:latin typeface="Calibri" panose="020F0502020204030204" pitchFamily="34" charset="0"/>
                <a:cs typeface="Calibri" panose="020F0502020204030204" pitchFamily="34" charset="0"/>
                <a:sym typeface="Trebuchet MS"/>
              </a:rPr>
              <a:t>t is important to thoroughly test all scenarios, including error cases.</a:t>
            </a: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4601026"/>
      </p:ext>
    </p:extLst>
  </p:cSld>
  <p:clrMapOvr>
    <a:masterClrMapping/>
  </p:clrMapOvr>
  <p:transition spd="me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D594D-914F-C88D-308B-AB4A3C088E17}"/>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D82AF467-BBF6-5DC1-704D-5A040B786C0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85</a:t>
            </a:fld>
            <a:endParaRPr dirty="0"/>
          </a:p>
        </p:txBody>
      </p:sp>
      <p:sp>
        <p:nvSpPr>
          <p:cNvPr id="207" name="TextBox 17">
            <a:extLst>
              <a:ext uri="{FF2B5EF4-FFF2-40B4-BE49-F238E27FC236}">
                <a16:creationId xmlns:a16="http://schemas.microsoft.com/office/drawing/2014/main" id="{D096B0E5-DD4B-9177-B3C7-17B94AB7F8B1}"/>
              </a:ext>
            </a:extLst>
          </p:cNvPr>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Parallel Processing - Conclusion</a:t>
            </a:r>
          </a:p>
        </p:txBody>
      </p:sp>
      <p:sp>
        <p:nvSpPr>
          <p:cNvPr id="208" name="Straight Connector 18">
            <a:extLst>
              <a:ext uri="{FF2B5EF4-FFF2-40B4-BE49-F238E27FC236}">
                <a16:creationId xmlns:a16="http://schemas.microsoft.com/office/drawing/2014/main" id="{79650788-68FC-E6EC-10E0-EDC6973B6226}"/>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F91C9E6A-ADA8-DD15-26EE-53CDAB536CD8}"/>
              </a:ext>
            </a:extLst>
          </p:cNvPr>
          <p:cNvSpPr txBox="1"/>
          <p:nvPr/>
        </p:nvSpPr>
        <p:spPr>
          <a:xfrm>
            <a:off x="14244" y="1263042"/>
            <a:ext cx="11935565" cy="44208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sym typeface="Trebuchet MS"/>
              </a:rPr>
              <a:t>Parallel processing in ABAP is a powerful technique for optimizing performance, specially for large data and complex operations. By distributing the load across multiple work processes, we can significantly reduce the execution time and improve the performance. However, this technique requires careful planning to ensure task independence, proper load distribution, system resource management and effective error handling.</a:t>
            </a:r>
            <a:endParaRPr 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13341792"/>
      </p:ext>
    </p:extLst>
  </p:cSld>
  <p:clrMapOvr>
    <a:masterClrMapping/>
  </p:clrMapOvr>
  <p:transition spd="me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86</a:t>
            </a:fld>
            <a:endParaRPr dirty="0"/>
          </a:p>
        </p:txBody>
      </p:sp>
      <p:sp>
        <p:nvSpPr>
          <p:cNvPr id="207" name="TextBox 17"/>
          <p:cNvSpPr txBox="1"/>
          <p:nvPr/>
        </p:nvSpPr>
        <p:spPr>
          <a:xfrm>
            <a:off x="2020186" y="2460208"/>
            <a:ext cx="6847367" cy="6463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IN" sz="3600" dirty="0">
                <a:latin typeface="Calibri" panose="020F0502020204030204" pitchFamily="34" charset="0"/>
                <a:cs typeface="Calibri" panose="020F0502020204030204" pitchFamily="34" charset="0"/>
              </a:rPr>
              <a:t>                       </a:t>
            </a:r>
            <a:r>
              <a:rPr lang="en-IN" sz="4000" dirty="0">
                <a:latin typeface="Calibri" panose="020F0502020204030204" pitchFamily="34" charset="0"/>
                <a:cs typeface="Calibri" panose="020F0502020204030204" pitchFamily="34" charset="0"/>
              </a:rPr>
              <a:t>Thank You</a:t>
            </a:r>
            <a:endParaRPr sz="4000" dirty="0">
              <a:latin typeface="Calibri" panose="020F0502020204030204" pitchFamily="34" charset="0"/>
              <a:cs typeface="Calibri" panose="020F0502020204030204" pitchFamily="34" charset="0"/>
            </a:endParaRPr>
          </a:p>
        </p:txBody>
      </p:sp>
      <p:sp>
        <p:nvSpPr>
          <p:cNvPr id="209" name="TextBox 7"/>
          <p:cNvSpPr txBox="1"/>
          <p:nvPr/>
        </p:nvSpPr>
        <p:spPr>
          <a:xfrm>
            <a:off x="14244" y="1263042"/>
            <a:ext cx="11935565" cy="7169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457200" lvl="1" indent="0">
              <a:lnSpc>
                <a:spcPct val="200000"/>
              </a:lnSpc>
              <a:buClr>
                <a:srgbClr val="73C96C"/>
              </a:buClr>
              <a:buSzPct val="100000"/>
              <a:defRPr sz="2400">
                <a:solidFill>
                  <a:srgbClr val="1F4E79"/>
                </a:solidFill>
                <a:latin typeface="Trebuchet MS"/>
                <a:ea typeface="Trebuchet MS"/>
                <a:cs typeface="Trebuchet MS"/>
                <a:sym typeface="Trebuchet MS"/>
              </a:defRPr>
            </a:pPr>
            <a:endParaRPr lang="en-IN" dirty="0"/>
          </a:p>
        </p:txBody>
      </p:sp>
      <p:sp>
        <p:nvSpPr>
          <p:cNvPr id="3" name="Straight Connector 18">
            <a:extLst>
              <a:ext uri="{FF2B5EF4-FFF2-40B4-BE49-F238E27FC236}">
                <a16:creationId xmlns:a16="http://schemas.microsoft.com/office/drawing/2014/main" id="{4DBA8D6F-AFF4-8D71-2B02-737781787B1E}"/>
              </a:ext>
            </a:extLst>
          </p:cNvPr>
          <p:cNvSpPr/>
          <p:nvPr/>
        </p:nvSpPr>
        <p:spPr>
          <a:xfrm flipH="1" flipV="1">
            <a:off x="191386" y="3168502"/>
            <a:ext cx="11758422" cy="53162"/>
          </a:xfrm>
          <a:prstGeom prst="line">
            <a:avLst/>
          </a:prstGeom>
          <a:ln w="69850" cap="rnd">
            <a:solidFill>
              <a:srgbClr val="8ED656"/>
            </a:solidFill>
            <a:miter/>
          </a:ln>
        </p:spPr>
        <p:txBody>
          <a:bodyPr lIns="45719" rIns="45719"/>
          <a:lstStyle/>
          <a:p>
            <a:endParaRPr dirty="0"/>
          </a:p>
        </p:txBody>
      </p:sp>
    </p:spTree>
    <p:extLst>
      <p:ext uri="{BB962C8B-B14F-4D97-AF65-F5344CB8AC3E}">
        <p14:creationId xmlns:p14="http://schemas.microsoft.com/office/powerpoint/2010/main" val="883752571"/>
      </p:ext>
    </p:extLst>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Override1.xml><?xml version="1.0" encoding="utf-8"?>
<a:themeOverride xmlns:a="http://schemas.openxmlformats.org/drawingml/2006/main">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themeOverride>
</file>

<file path=docProps/app.xml><?xml version="1.0" encoding="utf-8"?>
<Properties xmlns="http://schemas.openxmlformats.org/officeDocument/2006/extended-properties" xmlns:vt="http://schemas.openxmlformats.org/officeDocument/2006/docPropsVTypes">
  <Template/>
  <TotalTime>9527</TotalTime>
  <Words>5035</Words>
  <Application>Microsoft Office PowerPoint</Application>
  <PresentationFormat>Widescreen</PresentationFormat>
  <Paragraphs>474</Paragraphs>
  <Slides>86</Slides>
  <Notes>86</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86</vt:i4>
      </vt:variant>
    </vt:vector>
  </HeadingPairs>
  <TitlesOfParts>
    <vt:vector size="96" baseType="lpstr">
      <vt:lpstr>-apple-system</vt:lpstr>
      <vt:lpstr>Arial</vt:lpstr>
      <vt:lpstr>avenir</vt:lpstr>
      <vt:lpstr>Calibri</vt:lpstr>
      <vt:lpstr>Calibri Light</vt:lpstr>
      <vt:lpstr>Google Sans</vt:lpstr>
      <vt:lpstr>Trebuchet MS</vt:lpstr>
      <vt:lpstr>Wingdings</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Rahul Mehta</dc:creator>
  <cp:lastModifiedBy>Rahul Mehta</cp:lastModifiedBy>
  <cp:revision>3005</cp:revision>
  <dcterms:modified xsi:type="dcterms:W3CDTF">2025-11-10T19:44:13Z</dcterms:modified>
</cp:coreProperties>
</file>