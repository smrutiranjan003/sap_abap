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9" r:id="rId2"/>
    <p:sldId id="837" r:id="rId3"/>
    <p:sldId id="920" r:id="rId4"/>
    <p:sldId id="921" r:id="rId5"/>
    <p:sldId id="922" r:id="rId6"/>
    <p:sldId id="923" r:id="rId7"/>
    <p:sldId id="924" r:id="rId8"/>
    <p:sldId id="925" r:id="rId9"/>
    <p:sldId id="926" r:id="rId10"/>
    <p:sldId id="927" r:id="rId11"/>
    <p:sldId id="928" r:id="rId12"/>
    <p:sldId id="929" r:id="rId13"/>
    <p:sldId id="930" r:id="rId14"/>
    <p:sldId id="931" r:id="rId15"/>
    <p:sldId id="932" r:id="rId16"/>
    <p:sldId id="933" r:id="rId17"/>
    <p:sldId id="934" r:id="rId18"/>
    <p:sldId id="936" r:id="rId19"/>
    <p:sldId id="919" r:id="rId2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7" autoAdjust="0"/>
    <p:restoredTop sz="83308" autoAdjust="0"/>
  </p:normalViewPr>
  <p:slideViewPr>
    <p:cSldViewPr snapToGrid="0">
      <p:cViewPr varScale="1">
        <p:scale>
          <a:sx n="72" d="100"/>
          <a:sy n="72" d="100"/>
        </p:scale>
        <p:origin x="94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93" name="Shape 9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6631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1898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55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5342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84348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7465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2242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85849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2144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11270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84723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04895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90979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82068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85120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06476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23726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02587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7586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831852" y="1709738"/>
            <a:ext cx="10515601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2" y="4589464"/>
            <a:ext cx="10515601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6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11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16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23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1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8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6">
              <a:buSzTx/>
              <a:buFontTx/>
              <a:buNone/>
              <a:defRPr sz="2400" b="1"/>
            </a:lvl2pPr>
            <a:lvl3pPr marL="0" indent="914411">
              <a:buSzTx/>
              <a:buFontTx/>
              <a:buNone/>
              <a:defRPr sz="2400" b="1"/>
            </a:lvl3pPr>
            <a:lvl4pPr marL="0" indent="1371616">
              <a:buSzTx/>
              <a:buFontTx/>
              <a:buNone/>
              <a:defRPr sz="2400" b="1"/>
            </a:lvl4pPr>
            <a:lvl5pPr marL="0" indent="1828823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1" y="1681163"/>
            <a:ext cx="5183189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Text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66" indent="-261261">
              <a:defRPr sz="3200"/>
            </a:lvl2pPr>
            <a:lvl3pPr marL="1219216" indent="-304805">
              <a:defRPr sz="3200"/>
            </a:lvl3pPr>
            <a:lvl4pPr marL="1737383" indent="-365766">
              <a:defRPr sz="3200"/>
            </a:lvl4pPr>
            <a:lvl5pPr marL="2194589" indent="-365766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le Text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4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 dirty="0"/>
          </a:p>
        </p:txBody>
      </p:sp>
      <p:sp>
        <p:nvSpPr>
          <p:cNvPr id="8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6">
              <a:buSzTx/>
              <a:buFontTx/>
              <a:buNone/>
              <a:defRPr sz="1600"/>
            </a:lvl2pPr>
            <a:lvl3pPr marL="0" indent="914411">
              <a:buSzTx/>
              <a:buFontTx/>
              <a:buNone/>
              <a:defRPr sz="1600"/>
            </a:lvl3pPr>
            <a:lvl4pPr marL="0" indent="1371616">
              <a:buSzTx/>
              <a:buFontTx/>
              <a:buNone/>
              <a:defRPr sz="1600"/>
            </a:lvl4pPr>
            <a:lvl5pPr marL="0" indent="1828823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1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2" y="1825625"/>
            <a:ext cx="10515601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traight Connector 6"/>
          <p:cNvSpPr/>
          <p:nvPr/>
        </p:nvSpPr>
        <p:spPr>
          <a:xfrm flipH="1" flipV="1">
            <a:off x="11366378" y="6459014"/>
            <a:ext cx="3" cy="159415"/>
          </a:xfrm>
          <a:prstGeom prst="line">
            <a:avLst/>
          </a:prstGeom>
          <a:ln w="190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7" y="6414761"/>
            <a:ext cx="258624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6" r:id="rId6"/>
    <p:sldLayoutId id="2147483657" r:id="rId7"/>
  </p:sldLayoutIdLst>
  <p:transition spd="med"/>
  <p:txStyles>
    <p:titleStyle>
      <a:lvl1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3" marR="0" indent="-228603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9" marR="0" indent="-266704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56" marR="0" indent="-320045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23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29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34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40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46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51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1392865" y="2460208"/>
            <a:ext cx="8984511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IN" sz="3600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 </a:t>
            </a:r>
            <a:r>
              <a:rPr lang="en-IN" sz="4000" dirty="0">
                <a:latin typeface="Calibri" panose="020F0502020204030204" pitchFamily="34" charset="0"/>
                <a:cs typeface="Calibri" panose="020F0502020204030204" pitchFamily="34" charset="0"/>
              </a:rPr>
              <a:t>Module Pool Programming</a:t>
            </a:r>
            <a:endParaRPr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716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1F4E79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IN" dirty="0"/>
          </a:p>
        </p:txBody>
      </p:sp>
      <p:sp>
        <p:nvSpPr>
          <p:cNvPr id="3" name="Straight Connector 18">
            <a:extLst>
              <a:ext uri="{FF2B5EF4-FFF2-40B4-BE49-F238E27FC236}">
                <a16:creationId xmlns:a16="http://schemas.microsoft.com/office/drawing/2014/main" id="{4DBA8D6F-AFF4-8D71-2B02-737781787B1E}"/>
              </a:ext>
            </a:extLst>
          </p:cNvPr>
          <p:cNvSpPr/>
          <p:nvPr/>
        </p:nvSpPr>
        <p:spPr>
          <a:xfrm flipH="1" flipV="1">
            <a:off x="191386" y="3168502"/>
            <a:ext cx="11758422" cy="53162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5159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also called as dialog programming.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a pool of modules like screens, includes, transactions etc.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module pool is mainly a pool of screens.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type of module pool program is ‘M’.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difference between executable program and module pool program is - An executable program runs independently, whereas a  module pool program can not run independently. A transaction code is required to run a module pool program.  </a:t>
            </a:r>
          </a:p>
        </p:txBody>
      </p:sp>
    </p:spTree>
    <p:extLst>
      <p:ext uri="{BB962C8B-B14F-4D97-AF65-F5344CB8AC3E}">
        <p14:creationId xmlns:p14="http://schemas.microsoft.com/office/powerpoint/2010/main" val="242441063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3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Screen Types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There are 4 types of screen.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Normal screen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Subscreen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Modal dialog box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Selection screen</a:t>
            </a:r>
          </a:p>
        </p:txBody>
      </p:sp>
    </p:spTree>
    <p:extLst>
      <p:ext uri="{BB962C8B-B14F-4D97-AF65-F5344CB8AC3E}">
        <p14:creationId xmlns:p14="http://schemas.microsoft.com/office/powerpoint/2010/main" val="88416521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4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Tabs(Parts) of Screen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screen has 3 parts.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Attributes - It provides the generic information like description, type of screen, package etc. of that screen.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Element list - It provides the list of elements available on that screen.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Flow logic </a:t>
            </a:r>
            <a:r>
              <a:rPr lang="en-US" altLang="en-US" sz="2400" b="1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It’s purpose is to write the logic.</a:t>
            </a:r>
          </a:p>
        </p:txBody>
      </p:sp>
    </p:spTree>
    <p:extLst>
      <p:ext uri="{BB962C8B-B14F-4D97-AF65-F5344CB8AC3E}">
        <p14:creationId xmlns:p14="http://schemas.microsoft.com/office/powerpoint/2010/main" val="355235588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5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Module Pool Events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There are 4 module pool events.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 before output(PBO)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 after input(PAI) 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 on value request(POV)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 on help request(POH)</a:t>
            </a:r>
          </a:p>
        </p:txBody>
      </p:sp>
    </p:spTree>
    <p:extLst>
      <p:ext uri="{BB962C8B-B14F-4D97-AF65-F5344CB8AC3E}">
        <p14:creationId xmlns:p14="http://schemas.microsoft.com/office/powerpoint/2010/main" val="424093063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6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Module Pool Events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5159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 before output - This event calls before displaying a particular screen.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 after input - This event calls after performing some action on a particular screen.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 on value request - This event calls when we click F4 on a field of a screen.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 on help request - This event calls when we click F1(technical information) on a field of a screen.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US" altLang="en-US" sz="2400" dirty="0">
              <a:solidFill>
                <a:srgbClr val="3B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154074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7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Module Pool Events(Contd.)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 point : Process before output and process after input are the default events available in the flow logic tab of a screen.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US" altLang="en-US" sz="2400" dirty="0">
              <a:solidFill>
                <a:srgbClr val="3B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37317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8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Screen Painter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4420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can design the layout through screen painter.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can open the screen painter by clicking on the layout button of a screen.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can open the screen painter through transaction code SE51 also.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can design the various layout elements through screen painter like - text field, input/output field , checkbox , push button , tabstrip with wizard , tablecontrol with wizard , subscreen area , custom control etc. </a:t>
            </a:r>
          </a:p>
        </p:txBody>
      </p:sp>
    </p:spTree>
    <p:extLst>
      <p:ext uri="{BB962C8B-B14F-4D97-AF65-F5344CB8AC3E}">
        <p14:creationId xmlns:p14="http://schemas.microsoft.com/office/powerpoint/2010/main" val="396764932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9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Sub Screen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a type of screen.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Depends upon the requirement, we need to call the sub screen into normal screen.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various steps to call a sub screen into normal screen are as follows: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Create a sub screen area in the normal screen.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Call the sub screen in to sub screen area of normal screen.</a:t>
            </a:r>
          </a:p>
        </p:txBody>
      </p:sp>
    </p:spTree>
    <p:extLst>
      <p:ext uri="{BB962C8B-B14F-4D97-AF65-F5344CB8AC3E}">
        <p14:creationId xmlns:p14="http://schemas.microsoft.com/office/powerpoint/2010/main" val="428891656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10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Sub Screen (Contd.)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Syntax to call subscreen into normal screen : CALL SUBSCREEN &lt;sub&gt; INCLUDING SY-REPID '0101’.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the above syntax : CALL SUBSCREEN = keyword , &lt;sub&gt; = sub screen area name, 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INCLUDING = keyword , SY-REPID - system variable for report id(report name) , 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0101 = sub screen number.</a:t>
            </a:r>
          </a:p>
        </p:txBody>
      </p:sp>
    </p:spTree>
    <p:extLst>
      <p:ext uri="{BB962C8B-B14F-4D97-AF65-F5344CB8AC3E}">
        <p14:creationId xmlns:p14="http://schemas.microsoft.com/office/powerpoint/2010/main" val="402267538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11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Modal Dialog Box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4420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also a type of screen.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screen appears in the form of a dialog box.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Syntax : CALL SCREEN ‘0101’ STARTING AT 10 20 ENDING AT 50 60.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the above syntax : CALL SCREEN = keyword , 0101 = modal dialog box screen number, STARTING AT = keyword , 10 20 - top left coordinate, ENDING AT = keyword , 50 60 - bottom right coordinate.</a:t>
            </a:r>
          </a:p>
        </p:txBody>
      </p:sp>
    </p:spTree>
    <p:extLst>
      <p:ext uri="{BB962C8B-B14F-4D97-AF65-F5344CB8AC3E}">
        <p14:creationId xmlns:p14="http://schemas.microsoft.com/office/powerpoint/2010/main" val="142212331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12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Table Control With Wizard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purpose of table control is to display the output in the form of a table( rows and columns).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table control with wizard , we need to perform a set of pre-defined steps.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After performing the pre-defined steps, SAP automatically generates the code. </a:t>
            </a:r>
          </a:p>
        </p:txBody>
      </p:sp>
    </p:spTree>
    <p:extLst>
      <p:ext uri="{BB962C8B-B14F-4D97-AF65-F5344CB8AC3E}">
        <p14:creationId xmlns:p14="http://schemas.microsoft.com/office/powerpoint/2010/main" val="44200888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13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Tab Strip With Wizard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purpose of tab strip is to display the output in the form of tabs.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tab strip with wizard , we need to perform a set of pre-defined steps.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After performing the pre-defined steps, SAP automatically generates the code.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every tab SAP generates a sub screen. </a:t>
            </a:r>
          </a:p>
        </p:txBody>
      </p:sp>
    </p:spTree>
    <p:extLst>
      <p:ext uri="{BB962C8B-B14F-4D97-AF65-F5344CB8AC3E}">
        <p14:creationId xmlns:p14="http://schemas.microsoft.com/office/powerpoint/2010/main" val="409645091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14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AT EXIT-COMMAND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4420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 EXIT-COMMAND is used to leave the current screen without the automatic input check take place.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need to take the function type of the button = ‘E’(exit).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Syntax :  MODULE &lt;module name&gt; AT EXIT-COMMAND.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the above syntax : MODULE = keyword , &lt;module name&gt; = user defined module name , AT EXIT-COMMAND = keyword.</a:t>
            </a:r>
          </a:p>
        </p:txBody>
      </p:sp>
    </p:spTree>
    <p:extLst>
      <p:ext uri="{BB962C8B-B14F-4D97-AF65-F5344CB8AC3E}">
        <p14:creationId xmlns:p14="http://schemas.microsoft.com/office/powerpoint/2010/main" val="63973405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15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CHAIN ENDCHAIN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4420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purpose of CHAIN ENDCHAIN is to validate the field inputs and the field inputs remain enabled after error message.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Syntax :  CHAIN.  FIELD: &lt;field1, field2&gt; MODULE &lt;module name&gt;. ENDCHAIN. 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the above syntax : CHAIN = keyword , FIELD = keyword , &lt;field1, field2&gt; = validating fields , MODULE = Keyword , module name = user defined module name, ENDCHAIN = Keyword.</a:t>
            </a:r>
          </a:p>
        </p:txBody>
      </p:sp>
    </p:spTree>
    <p:extLst>
      <p:ext uri="{BB962C8B-B14F-4D97-AF65-F5344CB8AC3E}">
        <p14:creationId xmlns:p14="http://schemas.microsoft.com/office/powerpoint/2010/main" val="375560086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16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Changing the Screen Field Properties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Depends upon the requirement, we can change the properties of screen fields.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can set the properties like invisible, required, input ,output etc. of screen fields.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the below example, we disable the screen field(LV_DATE) by setting the input property to 0.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5C5CF7-B05E-16FD-AD9E-30C7AFF02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217" y="4818670"/>
            <a:ext cx="4216807" cy="1552575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3267DD-E7BB-6891-7CDB-0CF651CFBFC6}"/>
              </a:ext>
            </a:extLst>
          </p:cNvPr>
          <p:cNvSpPr txBox="1"/>
          <p:nvPr/>
        </p:nvSpPr>
        <p:spPr>
          <a:xfrm flipH="1">
            <a:off x="3698359" y="4225769"/>
            <a:ext cx="3147237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     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Screen Field Disable Example</a:t>
            </a: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5128184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17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Q &amp; A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5159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are the 4 parts of GUI status?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Answer : Menu bar, Function Keys, Title bar, Application toolbar.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the transaction code to create transaction codes?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	Answer :   SE93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the system variable for user command which captures the value of function code?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	Answer : SY-UCOMM.</a:t>
            </a:r>
          </a:p>
        </p:txBody>
      </p:sp>
    </p:spTree>
    <p:extLst>
      <p:ext uri="{BB962C8B-B14F-4D97-AF65-F5344CB8AC3E}">
        <p14:creationId xmlns:p14="http://schemas.microsoft.com/office/powerpoint/2010/main" val="262337622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18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Q &amp; A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6636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the significance of leave to screen 0?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	Answer : Go to the previous stacked screen.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the difference between CALL SCREEN &lt;screen no&gt; and LEAVE TO SCREEN &lt;screen no&gt;?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Answer : CALL SCREEN &lt;screen no&gt; calls the specified screen by adding the specified 		   screen to the stack, whereas LEAVE TO SCREEN &lt;screen no&gt; calls the specified 		  screen by replacing  the last stacked screen.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US" altLang="en-US" sz="2400" dirty="0">
              <a:solidFill>
                <a:srgbClr val="3B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11698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19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2020186" y="2460208"/>
            <a:ext cx="6847367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IN" sz="3600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    </a:t>
            </a:r>
            <a:r>
              <a:rPr lang="en-IN" sz="4000" dirty="0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716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1F4E79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IN" dirty="0"/>
          </a:p>
        </p:txBody>
      </p:sp>
      <p:sp>
        <p:nvSpPr>
          <p:cNvPr id="3" name="Straight Connector 18">
            <a:extLst>
              <a:ext uri="{FF2B5EF4-FFF2-40B4-BE49-F238E27FC236}">
                <a16:creationId xmlns:a16="http://schemas.microsoft.com/office/drawing/2014/main" id="{4DBA8D6F-AFF4-8D71-2B02-737781787B1E}"/>
              </a:ext>
            </a:extLst>
          </p:cNvPr>
          <p:cNvSpPr/>
          <p:nvPr/>
        </p:nvSpPr>
        <p:spPr>
          <a:xfrm flipH="1" flipV="1">
            <a:off x="191386" y="3168502"/>
            <a:ext cx="11758422" cy="53162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375257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3648</TotalTime>
  <Words>1089</Words>
  <Application>Microsoft Office PowerPoint</Application>
  <PresentationFormat>Widescreen</PresentationFormat>
  <Paragraphs>108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Rahul Mehta</dc:creator>
  <cp:lastModifiedBy>Rahul Mehta</cp:lastModifiedBy>
  <cp:revision>1794</cp:revision>
  <dcterms:modified xsi:type="dcterms:W3CDTF">2023-03-09T17:08:21Z</dcterms:modified>
</cp:coreProperties>
</file>