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9" r:id="rId2"/>
    <p:sldId id="837" r:id="rId3"/>
    <p:sldId id="926" r:id="rId4"/>
    <p:sldId id="927" r:id="rId5"/>
    <p:sldId id="928" r:id="rId6"/>
    <p:sldId id="929" r:id="rId7"/>
    <p:sldId id="930" r:id="rId8"/>
    <p:sldId id="931" r:id="rId9"/>
    <p:sldId id="932" r:id="rId10"/>
    <p:sldId id="933" r:id="rId11"/>
    <p:sldId id="935" r:id="rId12"/>
    <p:sldId id="936" r:id="rId13"/>
    <p:sldId id="937" r:id="rId14"/>
    <p:sldId id="938" r:id="rId15"/>
    <p:sldId id="939" r:id="rId16"/>
    <p:sldId id="940" r:id="rId17"/>
    <p:sldId id="941" r:id="rId18"/>
    <p:sldId id="942" r:id="rId19"/>
    <p:sldId id="943" r:id="rId20"/>
    <p:sldId id="944" r:id="rId21"/>
    <p:sldId id="949" r:id="rId22"/>
    <p:sldId id="945" r:id="rId23"/>
    <p:sldId id="946" r:id="rId24"/>
    <p:sldId id="947" r:id="rId25"/>
    <p:sldId id="948" r:id="rId26"/>
    <p:sldId id="950" r:id="rId27"/>
    <p:sldId id="925" r:id="rId2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7" autoAdjust="0"/>
    <p:restoredTop sz="83645" autoAdjust="0"/>
  </p:normalViewPr>
  <p:slideViewPr>
    <p:cSldViewPr snapToGrid="0">
      <p:cViewPr varScale="1">
        <p:scale>
          <a:sx n="72" d="100"/>
          <a:sy n="72" d="100"/>
        </p:scale>
        <p:origin x="94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23057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9952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53991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65794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71270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349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44747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61748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52238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24760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66144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77236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09475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4826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822726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00219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2982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65186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80246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98121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77001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217862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19918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52460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Data Migration Techniques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migration is also called as data transfer.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Data migration means migrating the data from legacy system to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system other than the SAP system is called as legacy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Legacy system is also called as Non-SAP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Legacy system contains the data which needs to be transferred.</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of Data Migration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of data migration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Extracting the data - Extracting the data from the legacy system into a file.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Converting the data - Converting the data to appropriate format. This is called as conversion.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Importing the data - Importing the data in to SAP system.</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Verifying the data - Checking the accuracy of data in SAP system.</a:t>
            </a:r>
          </a:p>
        </p:txBody>
      </p:sp>
    </p:spTree>
    <p:extLst>
      <p:ext uri="{BB962C8B-B14F-4D97-AF65-F5344CB8AC3E}">
        <p14:creationId xmlns:p14="http://schemas.microsoft.com/office/powerpoint/2010/main" val="258385982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Data Migration Techniques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data migration techniques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BDC -  Batch Data Communication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LSMW - Legacy System Migration Workbench</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 Business Application Programming Interface</a:t>
            </a:r>
          </a:p>
        </p:txBody>
      </p:sp>
    </p:spTree>
    <p:extLst>
      <p:ext uri="{BB962C8B-B14F-4D97-AF65-F5344CB8AC3E}">
        <p14:creationId xmlns:p14="http://schemas.microsoft.com/office/powerpoint/2010/main" val="252787559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BDC - Introduction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BDC stands for ‘Batch Data Communication’.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BDC is to transfer data from Non-SAP(legacy) system to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BDC works on the principle of screen recording.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BDC recording is SHDB.</a:t>
            </a:r>
          </a:p>
        </p:txBody>
      </p:sp>
    </p:spTree>
    <p:extLst>
      <p:ext uri="{BB962C8B-B14F-4D97-AF65-F5344CB8AC3E}">
        <p14:creationId xmlns:p14="http://schemas.microsoft.com/office/powerpoint/2010/main" val="307397774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Precautions for Recording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Never use any help(F4 &amp; F1) while recording.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Do not pass wrong values.</a:t>
            </a:r>
          </a:p>
        </p:txBody>
      </p:sp>
    </p:spTree>
    <p:extLst>
      <p:ext uri="{BB962C8B-B14F-4D97-AF65-F5344CB8AC3E}">
        <p14:creationId xmlns:p14="http://schemas.microsoft.com/office/powerpoint/2010/main" val="268919822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BDC Methods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BDC methods.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 transaction method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Session method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Direct input method.</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Call transaction method and session method are called as batch input methods.</a:t>
            </a:r>
          </a:p>
        </p:txBody>
      </p:sp>
    </p:spTree>
    <p:extLst>
      <p:ext uri="{BB962C8B-B14F-4D97-AF65-F5344CB8AC3E}">
        <p14:creationId xmlns:p14="http://schemas.microsoft.com/office/powerpoint/2010/main" val="229428553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CALL TRANSACTION ‘transaction code’ USING &lt;BDC internal table&gt; MODE &lt; A or N or E&gt; UPDATE &lt; A or S or L&gt; MESSAGES INTO &lt;message internal table&gt;.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CALL TRANSACTION 'MM01’ USING lt_bdcdata MODE ‘A’ UPDATE ‘S’ MESSAGES INTO lt_messtab.</a:t>
            </a:r>
          </a:p>
        </p:txBody>
      </p:sp>
    </p:spTree>
    <p:extLst>
      <p:ext uri="{BB962C8B-B14F-4D97-AF65-F5344CB8AC3E}">
        <p14:creationId xmlns:p14="http://schemas.microsoft.com/office/powerpoint/2010/main" val="19818698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 Processing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processing modes of call transaction method.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screen(A)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No screen(N)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Error(E)</a:t>
            </a:r>
          </a:p>
        </p:txBody>
      </p:sp>
    </p:spTree>
    <p:extLst>
      <p:ext uri="{BB962C8B-B14F-4D97-AF65-F5344CB8AC3E}">
        <p14:creationId xmlns:p14="http://schemas.microsoft.com/office/powerpoint/2010/main" val="15115670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 Processing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screen(A) - It shows screen by screen processing.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No screen(N) -</a:t>
            </a:r>
            <a:r>
              <a:rPr lang="en-US" altLang="en-US" sz="2400" b="1" dirty="0">
                <a:solidFill>
                  <a:srgbClr val="3B3838"/>
                </a:solidFill>
                <a:latin typeface="Calibri" panose="020F0502020204030204" pitchFamily="34" charset="0"/>
                <a:cs typeface="Calibri" panose="020F0502020204030204" pitchFamily="34" charset="0"/>
              </a:rPr>
              <a:t> </a:t>
            </a:r>
            <a:r>
              <a:rPr lang="en-US" altLang="en-US" sz="2400" dirty="0">
                <a:solidFill>
                  <a:srgbClr val="3B3838"/>
                </a:solidFill>
                <a:latin typeface="Calibri" panose="020F0502020204030204" pitchFamily="34" charset="0"/>
                <a:cs typeface="Calibri" panose="020F0502020204030204" pitchFamily="34" charset="0"/>
              </a:rPr>
              <a:t>It does not show any screen. We directly get the result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Error(E) - If there is an error in BDC, it shows the error screen. If there is no error, it does not show any screen, we directly get the result  .</a:t>
            </a:r>
          </a:p>
        </p:txBody>
      </p:sp>
    </p:spTree>
    <p:extLst>
      <p:ext uri="{BB962C8B-B14F-4D97-AF65-F5344CB8AC3E}">
        <p14:creationId xmlns:p14="http://schemas.microsoft.com/office/powerpoint/2010/main" val="242654277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 Update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update modes of call transaction method.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Asynchronous(A)</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Synchronous(S)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Local Update(L)</a:t>
            </a:r>
          </a:p>
        </p:txBody>
      </p:sp>
    </p:spTree>
    <p:extLst>
      <p:ext uri="{BB962C8B-B14F-4D97-AF65-F5344CB8AC3E}">
        <p14:creationId xmlns:p14="http://schemas.microsoft.com/office/powerpoint/2010/main" val="428025580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 Update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Asynchronous(A) - COMMIT WORK. The called transaction does not wait for any updates to be completed. It results in faster execution of the data transfer program.</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Synchronous(S) - COMMIT WORK AND WAIT. The called transaction waits for any updates to be completed. Execution is slower as compared to asynchronous updating because called transactions wait for updating to be completed.</a:t>
            </a:r>
          </a:p>
        </p:txBody>
      </p:sp>
    </p:spTree>
    <p:extLst>
      <p:ext uri="{BB962C8B-B14F-4D97-AF65-F5344CB8AC3E}">
        <p14:creationId xmlns:p14="http://schemas.microsoft.com/office/powerpoint/2010/main" val="27972921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Call Transaction Method - Update Modes(Contd.)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Local Update(L) - If the data is updated locally, the update of the database will not be processed in a separate process. The update functions run in the same dialog process.</a:t>
            </a:r>
          </a:p>
        </p:txBody>
      </p:sp>
    </p:spTree>
    <p:extLst>
      <p:ext uri="{BB962C8B-B14F-4D97-AF65-F5344CB8AC3E}">
        <p14:creationId xmlns:p14="http://schemas.microsoft.com/office/powerpoint/2010/main" val="353190195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Session Method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this method, we need to use the function modules - BDC_OPEN_GROUP, BDC_INSERT, BDC_CLOSE_GROUP.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Run the session with the help of transaction code: SM35.</a:t>
            </a:r>
          </a:p>
        </p:txBody>
      </p:sp>
    </p:spTree>
    <p:extLst>
      <p:ext uri="{BB962C8B-B14F-4D97-AF65-F5344CB8AC3E}">
        <p14:creationId xmlns:p14="http://schemas.microsoft.com/office/powerpoint/2010/main" val="13524806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Session Method - Processing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processing modes of session method.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Foreground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Background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Display errors only</a:t>
            </a:r>
          </a:p>
        </p:txBody>
      </p:sp>
    </p:spTree>
    <p:extLst>
      <p:ext uri="{BB962C8B-B14F-4D97-AF65-F5344CB8AC3E}">
        <p14:creationId xmlns:p14="http://schemas.microsoft.com/office/powerpoint/2010/main" val="7296262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Session Method - Processing Modes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Foreground - It shows screen by screen processing.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Background</a:t>
            </a:r>
            <a:r>
              <a:rPr lang="en-US" altLang="en-US" sz="2400" b="1" dirty="0">
                <a:solidFill>
                  <a:srgbClr val="3B3838"/>
                </a:solidFill>
                <a:latin typeface="Calibri" panose="020F0502020204030204" pitchFamily="34" charset="0"/>
                <a:cs typeface="Calibri" panose="020F0502020204030204" pitchFamily="34" charset="0"/>
              </a:rPr>
              <a:t> </a:t>
            </a:r>
            <a:r>
              <a:rPr lang="en-US" altLang="en-US" sz="2400" dirty="0">
                <a:solidFill>
                  <a:srgbClr val="3B3838"/>
                </a:solidFill>
                <a:latin typeface="Calibri" panose="020F0502020204030204" pitchFamily="34" charset="0"/>
                <a:cs typeface="Calibri" panose="020F0502020204030204" pitchFamily="34" charset="0"/>
              </a:rPr>
              <a:t>- It does not show any screen. We directly get the result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Display errors only - If there is an error in BDC, it shows the error screen. If there is no error, it does not show any screen, we directly get the result  .</a:t>
            </a:r>
          </a:p>
        </p:txBody>
      </p:sp>
    </p:spTree>
    <p:extLst>
      <p:ext uri="{BB962C8B-B14F-4D97-AF65-F5344CB8AC3E}">
        <p14:creationId xmlns:p14="http://schemas.microsoft.com/office/powerpoint/2010/main" val="334155985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0" y="357542"/>
            <a:ext cx="12192000"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Call Transaction Method and Session Method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below table shows the comparison of call transaction method and session method.</a:t>
            </a:r>
          </a:p>
        </p:txBody>
      </p:sp>
      <p:pic>
        <p:nvPicPr>
          <p:cNvPr id="8" name="Picture 7">
            <a:extLst>
              <a:ext uri="{FF2B5EF4-FFF2-40B4-BE49-F238E27FC236}">
                <a16:creationId xmlns:a16="http://schemas.microsoft.com/office/drawing/2014/main" id="{AB1F23C6-39D0-2ABD-3DF4-593F8B8E4E44}"/>
              </a:ext>
            </a:extLst>
          </p:cNvPr>
          <p:cNvPicPr>
            <a:picLocks noChangeAspect="1"/>
          </p:cNvPicPr>
          <p:nvPr/>
        </p:nvPicPr>
        <p:blipFill>
          <a:blip r:embed="rId3"/>
          <a:stretch>
            <a:fillRect/>
          </a:stretch>
        </p:blipFill>
        <p:spPr>
          <a:xfrm>
            <a:off x="0" y="2251615"/>
            <a:ext cx="12192000" cy="4437596"/>
          </a:xfrm>
          <a:prstGeom prst="rect">
            <a:avLst/>
          </a:prstGeom>
        </p:spPr>
      </p:pic>
    </p:spTree>
    <p:extLst>
      <p:ext uri="{BB962C8B-B14F-4D97-AF65-F5344CB8AC3E}">
        <p14:creationId xmlns:p14="http://schemas.microsoft.com/office/powerpoint/2010/main" val="104316131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Direct Input Method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Direct input method are standard SAP programs to post the data in to SAP.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update the database tables directly.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is fast as compared to batch input methods(call transaction method and session method).</a:t>
            </a:r>
          </a:p>
        </p:txBody>
      </p:sp>
    </p:spTree>
    <p:extLst>
      <p:ext uri="{BB962C8B-B14F-4D97-AF65-F5344CB8AC3E}">
        <p14:creationId xmlns:p14="http://schemas.microsoft.com/office/powerpoint/2010/main" val="236025428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Direct Input Method(Contd.)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few examples of direct input programs are as follows :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RFBIBL00 - FI(Finance)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RMDATIND - MM(Material Management)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RVAFSS00 – SD(Sales &amp; Distribution)</a:t>
            </a:r>
          </a:p>
        </p:txBody>
      </p:sp>
    </p:spTree>
    <p:extLst>
      <p:ext uri="{BB962C8B-B14F-4D97-AF65-F5344CB8AC3E}">
        <p14:creationId xmlns:p14="http://schemas.microsoft.com/office/powerpoint/2010/main" val="114930230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LSMW-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LSMW stands for ‘Legacy System Migration Workbench’.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an ABAP workbench tool which is used to transfer data from Non-SAP( legacy) system to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LSMW is LSMW.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LSMW works best for master data as one doesn’t require much coding while using LSMW.</a:t>
            </a:r>
          </a:p>
        </p:txBody>
      </p:sp>
    </p:spTree>
    <p:extLst>
      <p:ext uri="{BB962C8B-B14F-4D97-AF65-F5344CB8AC3E}">
        <p14:creationId xmlns:p14="http://schemas.microsoft.com/office/powerpoint/2010/main" val="371843297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LSMW- Introduction(Contd.)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method is preferred by functional SAP consultants rather than technical consultants for data migration.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export and import a LSMW.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difference between a LSMW and BDC is - LSMW is for functional consultants which does not require much coding whereas BDC is designated for technical consultants which requires coding.</a:t>
            </a:r>
          </a:p>
        </p:txBody>
      </p:sp>
    </p:spTree>
    <p:extLst>
      <p:ext uri="{BB962C8B-B14F-4D97-AF65-F5344CB8AC3E}">
        <p14:creationId xmlns:p14="http://schemas.microsoft.com/office/powerpoint/2010/main" val="301061701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LSMW Creation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creating LSMW we need to provide 3 things: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Project - Specifies the name of the data transfer project. More than one subproject can be assigned to a project.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Subproject -  Specifies the name of the subproject. A subproject can have unlimited number of objects.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  An object corresponds to a business object. Examples- Material Master, Client Master etc. An object is assigned to a subproject.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122677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LSMW Methods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LSMW methods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Direct input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Batch input recording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Business object method(BAPI)</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IDOC(intermediate document)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053749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BAPI -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stands for ‘Business Application Programming Interface’.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technique which is used to conduct large scale data migration from Non-SAP(legacy) system to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BAPI’s in the SAP systems are implemented as functional modules.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is a function module having a business object.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BAPI is always preferable as compared to BDC for data migration.</a:t>
            </a:r>
          </a:p>
        </p:txBody>
      </p:sp>
    </p:spTree>
    <p:extLst>
      <p:ext uri="{BB962C8B-B14F-4D97-AF65-F5344CB8AC3E}">
        <p14:creationId xmlns:p14="http://schemas.microsoft.com/office/powerpoint/2010/main" val="262246316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Advantages of BAPI over BDC</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below table shows the advantages of BAPI over BDC.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5B2C9B93-053D-ABBD-44D3-FA94A97CABE6}"/>
              </a:ext>
            </a:extLst>
          </p:cNvPr>
          <p:cNvPicPr>
            <a:picLocks noChangeAspect="1"/>
          </p:cNvPicPr>
          <p:nvPr/>
        </p:nvPicPr>
        <p:blipFill>
          <a:blip r:embed="rId3"/>
          <a:stretch>
            <a:fillRect/>
          </a:stretch>
        </p:blipFill>
        <p:spPr>
          <a:xfrm>
            <a:off x="14244" y="2464029"/>
            <a:ext cx="12192000" cy="3329390"/>
          </a:xfrm>
          <a:prstGeom prst="rect">
            <a:avLst/>
          </a:prstGeom>
        </p:spPr>
      </p:pic>
    </p:spTree>
    <p:extLst>
      <p:ext uri="{BB962C8B-B14F-4D97-AF65-F5344CB8AC3E}">
        <p14:creationId xmlns:p14="http://schemas.microsoft.com/office/powerpoint/2010/main" val="344967547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Add Custom Fields to BAPI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provided the provision to add custom fields to the standard BAPI.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add custom fields to the standard BAPI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 the custom fields to BAPI extension structures.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 the custom fields to SAP standard tables.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 the parameters EXTENSIONIN/EXTENSIONINX of the standard BAPI to pass the values of the custom fields.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067097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3657</TotalTime>
  <Words>1221</Words>
  <Application>Microsoft Office PowerPoint</Application>
  <PresentationFormat>Widescreen</PresentationFormat>
  <Paragraphs>139</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1837</cp:revision>
  <dcterms:modified xsi:type="dcterms:W3CDTF">2023-03-10T19:38:33Z</dcterms:modified>
</cp:coreProperties>
</file>