
<file path=[Content_Types].xml><?xml version="1.0" encoding="utf-8"?>
<Types xmlns="http://schemas.openxmlformats.org/package/2006/content-types">
  <Default Extension="emf" ContentType="image/x-em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9" r:id="rId2"/>
    <p:sldId id="837" r:id="rId3"/>
    <p:sldId id="929" r:id="rId4"/>
    <p:sldId id="934" r:id="rId5"/>
    <p:sldId id="932" r:id="rId6"/>
    <p:sldId id="935" r:id="rId7"/>
    <p:sldId id="940" r:id="rId8"/>
    <p:sldId id="939" r:id="rId9"/>
    <p:sldId id="937" r:id="rId10"/>
    <p:sldId id="938" r:id="rId11"/>
    <p:sldId id="942" r:id="rId12"/>
    <p:sldId id="950" r:id="rId13"/>
    <p:sldId id="943" r:id="rId14"/>
    <p:sldId id="944" r:id="rId15"/>
    <p:sldId id="945" r:id="rId16"/>
    <p:sldId id="949" r:id="rId17"/>
    <p:sldId id="951" r:id="rId18"/>
    <p:sldId id="952" r:id="rId19"/>
    <p:sldId id="953" r:id="rId20"/>
    <p:sldId id="957" r:id="rId21"/>
    <p:sldId id="956" r:id="rId22"/>
    <p:sldId id="958" r:id="rId23"/>
    <p:sldId id="959" r:id="rId24"/>
    <p:sldId id="960" r:id="rId25"/>
    <p:sldId id="961" r:id="rId26"/>
    <p:sldId id="963" r:id="rId27"/>
    <p:sldId id="919" r:id="rId2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7" autoAdjust="0"/>
    <p:restoredTop sz="83308" autoAdjust="0"/>
  </p:normalViewPr>
  <p:slideViewPr>
    <p:cSldViewPr snapToGrid="0">
      <p:cViewPr varScale="1">
        <p:scale>
          <a:sx n="81" d="100"/>
          <a:sy n="81"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85985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8E7F5-A3DF-FABC-475F-FBEE541D5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DE003-0C6F-199A-5BB9-40C50E1E1DB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76EEA91-24BD-F3DF-7F1C-01E187C99CA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36187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C55BD-388C-7A57-C34B-CF263FB77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A0C6E-4D78-3518-1E7D-140209381B3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D209B6E-47D2-EFF1-4838-A980BA424B0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74872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E85A-700F-0F95-C480-4F0201BA4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4AF1A-B9C5-BE71-3F36-F1DB9FAF46A3}"/>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DC94DB9-6244-B86A-668E-0BC8DB8AFC4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32280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3C06-A7F4-6C9F-D0D6-E5FC8EACA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E9244-2896-8C5F-4144-66F174650E3A}"/>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783E43B-5FDD-02F1-16B0-C4BB86E1008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42488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B70B2-9FDF-8732-FE10-F9D5F1B99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82352-786A-58FE-29F3-710391FA54A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E36E1C0-1991-1186-17B3-296FAB2FBD7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22604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4E6C5-244D-682D-5260-3FAE17086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8677E-B4E8-6A9E-49B7-87A6865F178E}"/>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E5CB589-2032-0633-37C1-557A7F38259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34900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8B29C-1F95-6602-003D-F45DF0061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F49DB-725D-E360-5073-1EB61B7BDF7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547FCB0-A66C-237E-4529-B98089CED7F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92290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A1AD2-CC12-61F4-0872-FFE00930D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4A0AA-DDC6-7A73-E2FA-3A39F962A9A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A377FA8-9ADA-43B8-38FA-4DF2C3274AC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00567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81F4-1170-2BB2-4164-AC8A4C272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5013C-4BD7-B35B-AC51-CAE8A493018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FBA2888-EC44-6E5D-ECFA-B6162DB4D09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21641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BD5A5-CFB3-89D5-72BC-3CD8C1F96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D4052-9EA6-2027-3CE7-4710B4E49D2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486DD6C-CB13-7C4A-60E8-3857E6A335A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29426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8F91-82F6-DEF4-C9F1-8127466262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16B16-540F-6F3D-7203-E0E05F2AB8EA}"/>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DDC2247-1146-4662-ECDC-F96601B8F1E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2609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606DB-1CBB-327A-371F-706F6DE90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6B933-1D64-2323-7EC9-9A6ADCFD1611}"/>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A3D8AA7-D7A7-30D5-E741-1CC7D4A4379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50000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8B9C-E694-F3EA-AC95-A27A572C5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959BC-3F81-CFB3-4A2F-0C3A90B547E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039FFD2-4792-EE2E-B0C1-F3CB4245A6C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48307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9899-E7E3-C21B-F8B5-79DAFDF14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BF3E1-6A1B-F210-2A94-E2E7AEC62EE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CFDA0A2-2112-3A3A-A3B1-2AA7D07B8B8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34026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23359-0DEA-23E8-1CC0-07A6033FA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FE117-AD1E-EADC-6308-3B53AAEE02B8}"/>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0B7D5B8-4A28-4804-0CF4-64E994893D9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12005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F323C-4E4D-D2FD-24CD-D3D164748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6BB38-16EE-BBA8-9A63-CE66F5BB4313}"/>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24137BA-B1EE-6AD0-3D09-DF7ED2935F0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61948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1A78A-98AB-BAE5-A6E0-000BEDAD6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A9C40-0CA9-A987-AF38-BB85B13359B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55AEBFA9-5F93-D257-DAD4-32E90A4728A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028357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5BB8D-3EC8-2F71-28B6-AF8A09849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81334-501C-841C-EC32-8B34E8FF5A21}"/>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35F6BFC-BB59-15DD-56B3-76934DBD68F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97825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3C8D-A102-0DDC-FC08-864A5A798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F02CA-957B-3DBF-C82F-776FE5C99AA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1532EB9-6DB9-E688-94CF-3430BC7AC84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79379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D3EF3-5425-63AE-DCE2-8672850A8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319E5-86BF-6DF0-C286-E2482BD3F8D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A7FA39AC-1842-EB1B-D0EE-905B455220A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67310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10A2A-3CF0-E486-F442-3667296F6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542D0-7903-AD9C-2DBC-57EE16C3D93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5BFC165-B49B-C862-6B7C-EAA38E6C8B1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62954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3DBCD-0022-1101-9268-08A10FFD2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924EB-571E-66FB-415C-99055E88C83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2C69080F-A17E-56C0-3AD5-73A06DBBFC6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508171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02248-9F3E-CFB1-679F-5AF0F30FC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CF673-6DC6-38AA-6B9F-306A4A034C03}"/>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FFD61E2-53E2-F2C2-0C98-03AACF65A4C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13131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ODATA</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ODATA  - 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ODATA stands for Open Data Protocol.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simple terms, protocol is a set of rules.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terms of communication , protocol defines a set of rules which are required for data exchange. Example - for mail transfer, there is an SMTP protocol.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ODATA protocol is to define a set of rules to exchange the data over web(internet).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originally developed by Microsoft but now it is managed by OASIS organization.</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ODATA  - Introduction(Contd.)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ODATA is also called as ODBC for the web. Here, ODBC stands for Open Database Connectivity. </a:t>
            </a:r>
          </a:p>
        </p:txBody>
      </p:sp>
    </p:spTree>
    <p:extLst>
      <p:ext uri="{BB962C8B-B14F-4D97-AF65-F5344CB8AC3E}">
        <p14:creationId xmlns:p14="http://schemas.microsoft.com/office/powerpoint/2010/main" val="161435600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7DA9F-FB74-5435-656C-6449A594D04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00F6982-8E84-C806-D6C3-DE677B00590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a:extLst>
              <a:ext uri="{FF2B5EF4-FFF2-40B4-BE49-F238E27FC236}">
                <a16:creationId xmlns:a16="http://schemas.microsoft.com/office/drawing/2014/main" id="{0D505660-651C-2BD6-8385-EFF50BA95E35}"/>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ODATA Service - Introduction</a:t>
            </a:r>
          </a:p>
        </p:txBody>
      </p:sp>
      <p:sp>
        <p:nvSpPr>
          <p:cNvPr id="208" name="Straight Connector 18">
            <a:extLst>
              <a:ext uri="{FF2B5EF4-FFF2-40B4-BE49-F238E27FC236}">
                <a16:creationId xmlns:a16="http://schemas.microsoft.com/office/drawing/2014/main" id="{DE1F517F-3232-01B3-D124-07587B867BF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D532A8C-94EE-A080-356E-07D1A62413C5}"/>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ODATA service is an implementation of ODATA protocol.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terms of SAP, ODATA service acts as a bridge or interface which is used to exchange the data between SAP backends and external applications.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Those external applications can be web applications, mobile apps and other non-SAP platforms.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In simple terms, ODATA is a protocol whereas ODATA service is an implementation of that protocol.</a:t>
            </a:r>
          </a:p>
        </p:txBody>
      </p:sp>
    </p:spTree>
    <p:extLst>
      <p:ext uri="{BB962C8B-B14F-4D97-AF65-F5344CB8AC3E}">
        <p14:creationId xmlns:p14="http://schemas.microsoft.com/office/powerpoint/2010/main" val="322888559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7F3E-3DDF-71C4-42AC-B7A7DC38841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E8EB180-E7C0-95BD-2C42-703325B446E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a:extLst>
              <a:ext uri="{FF2B5EF4-FFF2-40B4-BE49-F238E27FC236}">
                <a16:creationId xmlns:a16="http://schemas.microsoft.com/office/drawing/2014/main" id="{2F46651B-BA40-FCC8-DB94-EBC6EB8B243E}"/>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ODATA Principle - REST</a:t>
            </a:r>
          </a:p>
        </p:txBody>
      </p:sp>
      <p:sp>
        <p:nvSpPr>
          <p:cNvPr id="208" name="Straight Connector 18">
            <a:extLst>
              <a:ext uri="{FF2B5EF4-FFF2-40B4-BE49-F238E27FC236}">
                <a16:creationId xmlns:a16="http://schemas.microsoft.com/office/drawing/2014/main" id="{1CA10852-069F-843A-3CC6-309057BD005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321D67-F065-1877-0863-FD1AB6E265A2}"/>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ODATA is based upon REST principle.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REST stands for Representational State Transfer. It is also called as stateless communication.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Below is the attached sheet for the detailed difference between stateful and stateless communication.</a:t>
            </a:r>
          </a:p>
        </p:txBody>
      </p:sp>
      <p:graphicFrame>
        <p:nvGraphicFramePr>
          <p:cNvPr id="2" name="Object 1">
            <a:extLst>
              <a:ext uri="{FF2B5EF4-FFF2-40B4-BE49-F238E27FC236}">
                <a16:creationId xmlns:a16="http://schemas.microsoft.com/office/drawing/2014/main" id="{9A31F714-6F34-A978-95AD-3651BCD7545F}"/>
              </a:ext>
            </a:extLst>
          </p:cNvPr>
          <p:cNvGraphicFramePr>
            <a:graphicFrameLocks noChangeAspect="1"/>
          </p:cNvGraphicFramePr>
          <p:nvPr>
            <p:extLst>
              <p:ext uri="{D42A27DB-BD31-4B8C-83A1-F6EECF244321}">
                <p14:modId xmlns:p14="http://schemas.microsoft.com/office/powerpoint/2010/main" val="2637006505"/>
              </p:ext>
            </p:extLst>
          </p:nvPr>
        </p:nvGraphicFramePr>
        <p:xfrm>
          <a:off x="4130511" y="5270861"/>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400" imgH="792685" progId="Excel.Sheet.12">
                  <p:embed/>
                </p:oleObj>
              </mc:Choice>
              <mc:Fallback>
                <p:oleObj name="Worksheet" showAsIcon="1" r:id="rId3" imgW="914400" imgH="792685" progId="Excel.Sheet.12">
                  <p:embed/>
                  <p:pic>
                    <p:nvPicPr>
                      <p:cNvPr id="0" name=""/>
                      <p:cNvPicPr/>
                      <p:nvPr/>
                    </p:nvPicPr>
                    <p:blipFill>
                      <a:blip r:embed="rId4"/>
                      <a:stretch>
                        <a:fillRect/>
                      </a:stretch>
                    </p:blipFill>
                    <p:spPr>
                      <a:xfrm>
                        <a:off x="4130511" y="5270861"/>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367413587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8151E-EB0C-EEED-8EEF-1FAA46B6CB0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0D3AABA-BE4F-57B6-F98A-7A423773729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a:extLst>
              <a:ext uri="{FF2B5EF4-FFF2-40B4-BE49-F238E27FC236}">
                <a16:creationId xmlns:a16="http://schemas.microsoft.com/office/drawing/2014/main" id="{910017EF-F514-EE6E-6F06-1B02411CD989}"/>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ODATA Service</a:t>
            </a:r>
          </a:p>
        </p:txBody>
      </p:sp>
      <p:sp>
        <p:nvSpPr>
          <p:cNvPr id="208" name="Straight Connector 18">
            <a:extLst>
              <a:ext uri="{FF2B5EF4-FFF2-40B4-BE49-F238E27FC236}">
                <a16:creationId xmlns:a16="http://schemas.microsoft.com/office/drawing/2014/main" id="{5432611D-780F-1320-B877-982A054AD86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072CDB0-7881-8606-24DD-A78EE6BE6F69}"/>
              </a:ext>
            </a:extLst>
          </p:cNvPr>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SEGW(Service Gateway Builder) is the transaction code to create a ODATA service.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create a ODATA service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Project creation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Model creation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Generation of runtime artefacts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Implement the service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Register the service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474828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5094-CCAD-3FAA-1D35-5E157027A36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6FAF3B43-F32F-833D-EB91-45EB3C897AD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a:extLst>
              <a:ext uri="{FF2B5EF4-FFF2-40B4-BE49-F238E27FC236}">
                <a16:creationId xmlns:a16="http://schemas.microsoft.com/office/drawing/2014/main" id="{8DD9D854-3797-87C8-CDED-8281C562BA85}"/>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ODATA Service(Contd.)</a:t>
            </a:r>
          </a:p>
        </p:txBody>
      </p:sp>
      <p:sp>
        <p:nvSpPr>
          <p:cNvPr id="208" name="Straight Connector 18">
            <a:extLst>
              <a:ext uri="{FF2B5EF4-FFF2-40B4-BE49-F238E27FC236}">
                <a16:creationId xmlns:a16="http://schemas.microsoft.com/office/drawing/2014/main" id="{BB3233D2-25F8-4CAC-5CC1-30B6A6C03FC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4B9C3DB-493E-E317-0500-417050E4EB19}"/>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Test the service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816352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56E8-FECD-4897-7D78-9E7B1CEBBD3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E2E610B-DF43-2FF4-7613-3681AFF5E9D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a:extLst>
              <a:ext uri="{FF2B5EF4-FFF2-40B4-BE49-F238E27FC236}">
                <a16:creationId xmlns:a16="http://schemas.microsoft.com/office/drawing/2014/main" id="{66BBEC5E-3C6C-C331-9763-4B90513E849A}"/>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Project Creation</a:t>
            </a:r>
          </a:p>
        </p:txBody>
      </p:sp>
      <p:sp>
        <p:nvSpPr>
          <p:cNvPr id="208" name="Straight Connector 18">
            <a:extLst>
              <a:ext uri="{FF2B5EF4-FFF2-40B4-BE49-F238E27FC236}">
                <a16:creationId xmlns:a16="http://schemas.microsoft.com/office/drawing/2014/main" id="{55B05311-EAEC-3B07-4488-77FD506C39A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0478D4E-3874-E20B-6FF6-300A9DBF0328}"/>
              </a:ext>
            </a:extLst>
          </p:cNvPr>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is the first step in service creation.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project is just like a container for single ODATA service.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SEGW project has 4 components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Model</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Service Implementation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Runtime Artifacts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Service Maintenance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45545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6CB6-185D-C36B-18CA-533F9356A63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939D70A-EAB0-B8C7-9193-2C5E9A3B9EE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a:extLst>
              <a:ext uri="{FF2B5EF4-FFF2-40B4-BE49-F238E27FC236}">
                <a16:creationId xmlns:a16="http://schemas.microsoft.com/office/drawing/2014/main" id="{7B7FB3A0-266E-3833-80CD-D10603DB292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Data Model</a:t>
            </a:r>
          </a:p>
        </p:txBody>
      </p:sp>
      <p:sp>
        <p:nvSpPr>
          <p:cNvPr id="208" name="Straight Connector 18">
            <a:extLst>
              <a:ext uri="{FF2B5EF4-FFF2-40B4-BE49-F238E27FC236}">
                <a16:creationId xmlns:a16="http://schemas.microsoft.com/office/drawing/2014/main" id="{EF71699E-7806-FBBB-244C-89F75158510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50866E0-B770-F2CF-4AD9-DBF0A416EDA2}"/>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defines the structure of the data that will be exposed by the service.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parts of data model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Entity Types</a:t>
            </a:r>
            <a:r>
              <a:rPr lang="en-US" altLang="en-US" sz="2400" dirty="0">
                <a:solidFill>
                  <a:srgbClr val="3B3838"/>
                </a:solidFill>
                <a:latin typeface="Calibri" panose="020F0502020204030204" pitchFamily="34" charset="0"/>
                <a:cs typeface="Calibri" panose="020F0502020204030204" pitchFamily="34" charset="0"/>
              </a:rPr>
              <a:t>: It defines the entities and their fields(properties). Example - Employee is an entity and the various fields are id, age , location etc. It is just like a table or structure.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Entity Sets </a:t>
            </a:r>
            <a:r>
              <a:rPr lang="en-US" altLang="en-US" sz="2400" dirty="0">
                <a:solidFill>
                  <a:srgbClr val="3B3838"/>
                </a:solidFill>
                <a:latin typeface="Calibri" panose="020F0502020204030204" pitchFamily="34" charset="0"/>
                <a:cs typeface="Calibri" panose="020F0502020204030204" pitchFamily="34" charset="0"/>
              </a:rPr>
              <a:t>: It is a collection of entity types. It is similar to internal table.</a:t>
            </a:r>
          </a:p>
        </p:txBody>
      </p:sp>
    </p:spTree>
    <p:extLst>
      <p:ext uri="{BB962C8B-B14F-4D97-AF65-F5344CB8AC3E}">
        <p14:creationId xmlns:p14="http://schemas.microsoft.com/office/powerpoint/2010/main" val="82579343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BADA-9138-C7B9-2847-62BDD196EC5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0BBA5DD-CC24-E53F-4599-C3A6AD5F06A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a:extLst>
              <a:ext uri="{FF2B5EF4-FFF2-40B4-BE49-F238E27FC236}">
                <a16:creationId xmlns:a16="http://schemas.microsoft.com/office/drawing/2014/main" id="{27CF7235-F38F-3724-4423-10966E863F61}"/>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Data Model(Contd.)</a:t>
            </a:r>
          </a:p>
        </p:txBody>
      </p:sp>
      <p:sp>
        <p:nvSpPr>
          <p:cNvPr id="208" name="Straight Connector 18">
            <a:extLst>
              <a:ext uri="{FF2B5EF4-FFF2-40B4-BE49-F238E27FC236}">
                <a16:creationId xmlns:a16="http://schemas.microsoft.com/office/drawing/2014/main" id="{CD7F8808-99F9-7CE7-5598-A05ED78355A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86D1F1B-FDF9-3909-0104-7A00C11BAE26}"/>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IN" sz="2400" b="1" dirty="0">
                <a:sym typeface="Trebuchet MS"/>
              </a:rPr>
              <a:t>Associations: </a:t>
            </a:r>
            <a:r>
              <a:rPr lang="en-IN" sz="2400" dirty="0">
                <a:solidFill>
                  <a:srgbClr val="3B3838"/>
                </a:solidFill>
                <a:latin typeface="Calibri" panose="020F0502020204030204" pitchFamily="34" charset="0"/>
                <a:cs typeface="Calibri" panose="020F0502020204030204" pitchFamily="34" charset="0"/>
                <a:sym typeface="Trebuchet MS"/>
              </a:rPr>
              <a:t>It defines the relationship between different entity types. Example - relationship between and employee and it’s department. </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64642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58710-85E2-9541-48BE-1EBEF63B79A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886C8FB-35A7-9801-6FB4-A13B0BFD910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a:extLst>
              <a:ext uri="{FF2B5EF4-FFF2-40B4-BE49-F238E27FC236}">
                <a16:creationId xmlns:a16="http://schemas.microsoft.com/office/drawing/2014/main" id="{6E89E200-1412-ADC7-DAA7-6985D6C8834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Generation of Runtime Artifacts</a:t>
            </a:r>
          </a:p>
        </p:txBody>
      </p:sp>
      <p:sp>
        <p:nvSpPr>
          <p:cNvPr id="208" name="Straight Connector 18">
            <a:extLst>
              <a:ext uri="{FF2B5EF4-FFF2-40B4-BE49-F238E27FC236}">
                <a16:creationId xmlns:a16="http://schemas.microsoft.com/office/drawing/2014/main" id="{04F32232-E3E9-F233-4671-A13DC5F2EFA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094096D-25CB-2ABE-908B-66D7B8965EEE}"/>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Whenever we click on to generate button, system generates the runtime artifacts.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These runtime artifacts holds the ABAP code which makes our service to work.</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runtime artifacts created and generated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Model provider base class(MPC)</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Model provider extension class(MPC_EXT)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provider base class(DPC)</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provider extension class(DPC_EXT)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094728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71295-FFD6-48A7-4A32-1C12D24317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BEADAB-9CBC-CC1B-AB91-E464C719C6C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a:extLst>
              <a:ext uri="{FF2B5EF4-FFF2-40B4-BE49-F238E27FC236}">
                <a16:creationId xmlns:a16="http://schemas.microsoft.com/office/drawing/2014/main" id="{E3AEAE84-97F1-166F-D135-E1507F96CA8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Generation of Runtime Artifacts(Contd.)</a:t>
            </a:r>
          </a:p>
        </p:txBody>
      </p:sp>
      <p:sp>
        <p:nvSpPr>
          <p:cNvPr id="208" name="Straight Connector 18">
            <a:extLst>
              <a:ext uri="{FF2B5EF4-FFF2-40B4-BE49-F238E27FC236}">
                <a16:creationId xmlns:a16="http://schemas.microsoft.com/office/drawing/2014/main" id="{61BC135C-C6D0-8EF6-762C-4AF06A50FDC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290ED59-45D5-842E-56D9-E07A24846694}"/>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Registered model(MDL)</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Registered service(SRV)</a:t>
            </a:r>
          </a:p>
        </p:txBody>
      </p:sp>
    </p:spTree>
    <p:extLst>
      <p:ext uri="{BB962C8B-B14F-4D97-AF65-F5344CB8AC3E}">
        <p14:creationId xmlns:p14="http://schemas.microsoft.com/office/powerpoint/2010/main" val="274169323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9A61F-B315-0D8F-229B-D9B009D0D8B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0D51E27-531B-4D06-0EC4-0647FC08D63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a:extLst>
              <a:ext uri="{FF2B5EF4-FFF2-40B4-BE49-F238E27FC236}">
                <a16:creationId xmlns:a16="http://schemas.microsoft.com/office/drawing/2014/main" id="{53F1921A-21E8-F6E4-C312-64ABE7C35711}"/>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Runtime Artifacts - Model Provider Base Class </a:t>
            </a:r>
          </a:p>
        </p:txBody>
      </p:sp>
      <p:sp>
        <p:nvSpPr>
          <p:cNvPr id="208" name="Straight Connector 18">
            <a:extLst>
              <a:ext uri="{FF2B5EF4-FFF2-40B4-BE49-F238E27FC236}">
                <a16:creationId xmlns:a16="http://schemas.microsoft.com/office/drawing/2014/main" id="{EEC1E246-49F4-BDF4-156F-AE63F11B54C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B87ACC4-8D13-E92E-3AB0-3D678348487D}"/>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class is responsible for metadata(data about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providing details about data model - entity types, entity set and associations.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naming convention for this class is - ZCL_&lt;project name&gt;_MPC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Metadata for employee has the following things.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Table - employee , Columns -  employee id, name, age, location.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types - numc , char, numc and char , Primary key - employee id.</a:t>
            </a:r>
          </a:p>
        </p:txBody>
      </p:sp>
    </p:spTree>
    <p:extLst>
      <p:ext uri="{BB962C8B-B14F-4D97-AF65-F5344CB8AC3E}">
        <p14:creationId xmlns:p14="http://schemas.microsoft.com/office/powerpoint/2010/main" val="153657767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44029-A937-C589-D94C-0B024C0A97A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906C580-1E11-247C-C179-49DFBC46547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a:extLst>
              <a:ext uri="{FF2B5EF4-FFF2-40B4-BE49-F238E27FC236}">
                <a16:creationId xmlns:a16="http://schemas.microsoft.com/office/drawing/2014/main" id="{252D8870-9A43-D135-C194-FC607B3DF239}"/>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Runtime Artifacts - Data Provider Base Class </a:t>
            </a:r>
          </a:p>
        </p:txBody>
      </p:sp>
      <p:sp>
        <p:nvSpPr>
          <p:cNvPr id="208" name="Straight Connector 18">
            <a:extLst>
              <a:ext uri="{FF2B5EF4-FFF2-40B4-BE49-F238E27FC236}">
                <a16:creationId xmlns:a16="http://schemas.microsoft.com/office/drawing/2014/main" id="{DBF2D78F-F4AF-A726-8005-9B2B6C394AF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01CDD89-598D-E460-D5FC-4E3B10D2DD5E}"/>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class is responsible for output.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naming convention for this class is - ZCL_&lt;project name&gt;_DPC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has the methods for CRUD(Create, Read, Update, Delete) operations.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write the logic in these methods depends upon the requirement.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Imp point </a:t>
            </a:r>
            <a:r>
              <a:rPr lang="en-US" altLang="en-US" sz="2400" dirty="0">
                <a:solidFill>
                  <a:srgbClr val="3B3838"/>
                </a:solidFill>
                <a:latin typeface="Calibri" panose="020F0502020204030204" pitchFamily="34" charset="0"/>
                <a:cs typeface="Calibri" panose="020F0502020204030204" pitchFamily="34" charset="0"/>
              </a:rPr>
              <a:t>: MPC is all about the structure of the service and DPC is all about the logic of the service.</a:t>
            </a:r>
          </a:p>
        </p:txBody>
      </p:sp>
    </p:spTree>
    <p:extLst>
      <p:ext uri="{BB962C8B-B14F-4D97-AF65-F5344CB8AC3E}">
        <p14:creationId xmlns:p14="http://schemas.microsoft.com/office/powerpoint/2010/main" val="127805791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66F3-828F-855A-0B98-7A2A8811EF3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6B4BC43-E976-48E2-3DD4-6AFAF971FD5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a:extLst>
              <a:ext uri="{FF2B5EF4-FFF2-40B4-BE49-F238E27FC236}">
                <a16:creationId xmlns:a16="http://schemas.microsoft.com/office/drawing/2014/main" id="{1D40E4F4-E056-19E7-B860-9E4F73F7205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Runtime Artifacts- Extension classes </a:t>
            </a:r>
          </a:p>
        </p:txBody>
      </p:sp>
      <p:sp>
        <p:nvSpPr>
          <p:cNvPr id="208" name="Straight Connector 18">
            <a:extLst>
              <a:ext uri="{FF2B5EF4-FFF2-40B4-BE49-F238E27FC236}">
                <a16:creationId xmlns:a16="http://schemas.microsoft.com/office/drawing/2014/main" id="{CE4BE3DD-823E-BB6B-D951-08FD60D4E18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64979D2-F298-1208-01CE-7036D92E7C1E}"/>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Along with model provider base class and data provider base class, SAP generates 2 extension classes also - one is called as model provider extension class and another is called as data provider extension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Model provider class is the superclass of model provider extension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provider class is the superclass of data provider extension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naming convention for model provider extension class is - ZCL_&lt;project name&gt;_MPC_EXT.</a:t>
            </a:r>
          </a:p>
        </p:txBody>
      </p:sp>
    </p:spTree>
    <p:extLst>
      <p:ext uri="{BB962C8B-B14F-4D97-AF65-F5344CB8AC3E}">
        <p14:creationId xmlns:p14="http://schemas.microsoft.com/office/powerpoint/2010/main" val="378412667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6698-6308-4DE6-340B-6A8065C3704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C51D641-5F57-C00E-B67A-73C891245EF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a:extLst>
              <a:ext uri="{FF2B5EF4-FFF2-40B4-BE49-F238E27FC236}">
                <a16:creationId xmlns:a16="http://schemas.microsoft.com/office/drawing/2014/main" id="{A58594F4-31EE-882E-F0BB-F83FC4EBADD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Runtime Artifacts- Extension classes(Contd.)</a:t>
            </a:r>
          </a:p>
        </p:txBody>
      </p:sp>
      <p:sp>
        <p:nvSpPr>
          <p:cNvPr id="208" name="Straight Connector 18">
            <a:extLst>
              <a:ext uri="{FF2B5EF4-FFF2-40B4-BE49-F238E27FC236}">
                <a16:creationId xmlns:a16="http://schemas.microsoft.com/office/drawing/2014/main" id="{B9A9F074-9AD5-BF15-1267-AB3709A96E1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755A6C1-9BDA-6CF7-B363-2C65E000B99D}"/>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naming convention for data provider extension class is - ZCL_&lt;project name&gt;_DPC_EXT.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always recommended to use these extension classes for customize and extend the service.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In case, we use base classes for customization and regenerate the service. At that time, SAP regenerates the code of base classes as well and it will override our custom logic. So, it is always preferable to use extension classes.</a:t>
            </a:r>
          </a:p>
        </p:txBody>
      </p:sp>
    </p:spTree>
    <p:extLst>
      <p:ext uri="{BB962C8B-B14F-4D97-AF65-F5344CB8AC3E}">
        <p14:creationId xmlns:p14="http://schemas.microsoft.com/office/powerpoint/2010/main" val="155636724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1459-029B-DE33-A289-1F949CFC93A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E12B7C6-CE28-B76D-38BF-075B1F8AE71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a:extLst>
              <a:ext uri="{FF2B5EF4-FFF2-40B4-BE49-F238E27FC236}">
                <a16:creationId xmlns:a16="http://schemas.microsoft.com/office/drawing/2014/main" id="{1E614DC7-1E06-EBFD-5192-04C28BD2F1E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Runtime Artifacts- Registered Model and Registered Service</a:t>
            </a:r>
          </a:p>
        </p:txBody>
      </p:sp>
      <p:sp>
        <p:nvSpPr>
          <p:cNvPr id="208" name="Straight Connector 18">
            <a:extLst>
              <a:ext uri="{FF2B5EF4-FFF2-40B4-BE49-F238E27FC236}">
                <a16:creationId xmlns:a16="http://schemas.microsoft.com/office/drawing/2014/main" id="{844B46A1-39C5-8D26-6789-B94CD97F18F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0A564AA-752F-A5A0-D122-49F3BCA680D1}"/>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Along with 4 classes, SAP automatically generates registered model and registered service.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technical name of registered model is - &lt;project name&gt;_MDL.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technical name of registered service is - &lt;project name&gt;_SRV.</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technical model name and technical service name are used in register the service step. </a:t>
            </a:r>
          </a:p>
        </p:txBody>
      </p:sp>
    </p:spTree>
    <p:extLst>
      <p:ext uri="{BB962C8B-B14F-4D97-AF65-F5344CB8AC3E}">
        <p14:creationId xmlns:p14="http://schemas.microsoft.com/office/powerpoint/2010/main" val="193028748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71511-A74A-28CC-5FB5-2252ECF0AE2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7D3A953-AAB9-D614-5713-6F3F09457D9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a:extLst>
              <a:ext uri="{FF2B5EF4-FFF2-40B4-BE49-F238E27FC236}">
                <a16:creationId xmlns:a16="http://schemas.microsoft.com/office/drawing/2014/main" id="{4BF3A6F2-3C8F-21D4-E00B-F9C18E2A541C}"/>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Runtime Artefacts - Registered Model and Registered Service(Contd.)</a:t>
            </a:r>
          </a:p>
        </p:txBody>
      </p:sp>
      <p:sp>
        <p:nvSpPr>
          <p:cNvPr id="208" name="Straight Connector 18">
            <a:extLst>
              <a:ext uri="{FF2B5EF4-FFF2-40B4-BE49-F238E27FC236}">
                <a16:creationId xmlns:a16="http://schemas.microsoft.com/office/drawing/2014/main" id="{EB94E96D-12B9-5FEE-3453-645612A303F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328472D-D9BF-C28D-F03A-B7F2EABA0FDC}"/>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technical service name becomes the external service name that is used to publish the service on the ‘SAP Gateway Client’. </a:t>
            </a:r>
          </a:p>
        </p:txBody>
      </p:sp>
    </p:spTree>
    <p:extLst>
      <p:ext uri="{BB962C8B-B14F-4D97-AF65-F5344CB8AC3E}">
        <p14:creationId xmlns:p14="http://schemas.microsoft.com/office/powerpoint/2010/main" val="328915873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5EE93-F62E-A5D7-D702-A20764AD9D1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8AA4776-D6B7-AAAE-A541-49854671A1B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a:extLst>
              <a:ext uri="{FF2B5EF4-FFF2-40B4-BE49-F238E27FC236}">
                <a16:creationId xmlns:a16="http://schemas.microsoft.com/office/drawing/2014/main" id="{1C91B281-A392-048C-8DCB-9E10730CF699}"/>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Implement the Service</a:t>
            </a:r>
          </a:p>
        </p:txBody>
      </p:sp>
      <p:sp>
        <p:nvSpPr>
          <p:cNvPr id="208" name="Straight Connector 18">
            <a:extLst>
              <a:ext uri="{FF2B5EF4-FFF2-40B4-BE49-F238E27FC236}">
                <a16:creationId xmlns:a16="http://schemas.microsoft.com/office/drawing/2014/main" id="{4F1CD288-E2FF-21F2-44D2-C4D33D485EC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15E5BD7-9661-B460-FFE6-8358398CDCA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this step, we write the custom logic based upon our requirement.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custom logic needs to be written in the various methods to data provider extension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simply redefine the method and write the custom logic in these methods.</a:t>
            </a:r>
          </a:p>
        </p:txBody>
      </p:sp>
    </p:spTree>
    <p:extLst>
      <p:ext uri="{BB962C8B-B14F-4D97-AF65-F5344CB8AC3E}">
        <p14:creationId xmlns:p14="http://schemas.microsoft.com/office/powerpoint/2010/main" val="239102824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78A26-693A-4C9E-F4FE-CF13F81AF77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67AC3A02-9EBE-AB3D-0D5A-6D2A3DBD31C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a:extLst>
              <a:ext uri="{FF2B5EF4-FFF2-40B4-BE49-F238E27FC236}">
                <a16:creationId xmlns:a16="http://schemas.microsoft.com/office/drawing/2014/main" id="{4B63DAD4-8E0C-06CC-1F20-50A183D6FDB4}"/>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Register the Service</a:t>
            </a:r>
          </a:p>
        </p:txBody>
      </p:sp>
      <p:sp>
        <p:nvSpPr>
          <p:cNvPr id="208" name="Straight Connector 18">
            <a:extLst>
              <a:ext uri="{FF2B5EF4-FFF2-40B4-BE49-F238E27FC236}">
                <a16:creationId xmlns:a16="http://schemas.microsoft.com/office/drawing/2014/main" id="{0A9DF837-84DB-DF0C-51EB-5C074949144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1945016-148A-9113-7BF5-A57A904BA492}"/>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is the final step in ODATA service creation.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register the ODATA service so that it is available for the applications to consume it or for the client to use 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ways to register a service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Through the service maintenance part of the created project.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Through transaction code : /IWFND/MAINT_SERVICE</a:t>
            </a:r>
          </a:p>
        </p:txBody>
      </p:sp>
    </p:spTree>
    <p:extLst>
      <p:ext uri="{BB962C8B-B14F-4D97-AF65-F5344CB8AC3E}">
        <p14:creationId xmlns:p14="http://schemas.microsoft.com/office/powerpoint/2010/main" val="11851494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06779-EBA7-191F-790E-9165B64D423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4B7E952-8545-ABFA-7E8E-9AE0F3B95B3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a:extLst>
              <a:ext uri="{FF2B5EF4-FFF2-40B4-BE49-F238E27FC236}">
                <a16:creationId xmlns:a16="http://schemas.microsoft.com/office/drawing/2014/main" id="{F15E5D40-4697-050E-22AB-9B3E5EFB1601}"/>
              </a:ext>
            </a:extLst>
          </p:cNvPr>
          <p:cNvSpPr txBox="1"/>
          <p:nvPr/>
        </p:nvSpPr>
        <p:spPr>
          <a:xfrm>
            <a:off x="14244" y="357542"/>
            <a:ext cx="120614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Register the Service - Through the Service Maint. of Project</a:t>
            </a:r>
          </a:p>
        </p:txBody>
      </p:sp>
      <p:sp>
        <p:nvSpPr>
          <p:cNvPr id="208" name="Straight Connector 18">
            <a:extLst>
              <a:ext uri="{FF2B5EF4-FFF2-40B4-BE49-F238E27FC236}">
                <a16:creationId xmlns:a16="http://schemas.microsoft.com/office/drawing/2014/main" id="{54F53B3F-52E0-AA04-4CB4-AD5B833B56D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CE14FFF-37B3-626E-15A9-61D14F82D0DC}"/>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register the service through the service maintenance part of the created project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service maintenance part of the created project.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to register button.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One pop-up appears and system provides the technical service name , technical model name automatically which were created during generating runtime artifacts step.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technical service name automatically becomes the external service name.</a:t>
            </a:r>
          </a:p>
        </p:txBody>
      </p:sp>
    </p:spTree>
    <p:extLst>
      <p:ext uri="{BB962C8B-B14F-4D97-AF65-F5344CB8AC3E}">
        <p14:creationId xmlns:p14="http://schemas.microsoft.com/office/powerpoint/2010/main" val="367370545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3C59F-99FD-75C4-18BC-1D428B01042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1B2A9C5-07BC-0E89-5772-C2C149C9084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a:extLst>
              <a:ext uri="{FF2B5EF4-FFF2-40B4-BE49-F238E27FC236}">
                <a16:creationId xmlns:a16="http://schemas.microsoft.com/office/drawing/2014/main" id="{5BE51788-E21C-64A6-7A87-62BEEFEC8A36}"/>
              </a:ext>
            </a:extLst>
          </p:cNvPr>
          <p:cNvSpPr txBox="1"/>
          <p:nvPr/>
        </p:nvSpPr>
        <p:spPr>
          <a:xfrm>
            <a:off x="94268" y="357542"/>
            <a:ext cx="116326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Register the Service - Through the Service Maint. of Project(contd.)</a:t>
            </a:r>
          </a:p>
        </p:txBody>
      </p:sp>
      <p:sp>
        <p:nvSpPr>
          <p:cNvPr id="208" name="Straight Connector 18">
            <a:extLst>
              <a:ext uri="{FF2B5EF4-FFF2-40B4-BE49-F238E27FC236}">
                <a16:creationId xmlns:a16="http://schemas.microsoft.com/office/drawing/2014/main" id="{96803354-F95E-0270-F812-50B04EDE76D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C7D9D39-236B-AB9D-9FED-FCE9F6DD82FC}"/>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the package or save it as a local object.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to ok button.</a:t>
            </a:r>
          </a:p>
        </p:txBody>
      </p:sp>
    </p:spTree>
    <p:extLst>
      <p:ext uri="{BB962C8B-B14F-4D97-AF65-F5344CB8AC3E}">
        <p14:creationId xmlns:p14="http://schemas.microsoft.com/office/powerpoint/2010/main" val="119385489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146A-4F16-CFDE-C65C-6158A0AC796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7F127BC-25E0-9B5A-8874-EA4F182EB38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a:extLst>
              <a:ext uri="{FF2B5EF4-FFF2-40B4-BE49-F238E27FC236}">
                <a16:creationId xmlns:a16="http://schemas.microsoft.com/office/drawing/2014/main" id="{373EE8DF-A81A-1395-09DD-856F971D100C}"/>
              </a:ext>
            </a:extLst>
          </p:cNvPr>
          <p:cNvSpPr txBox="1"/>
          <p:nvPr/>
        </p:nvSpPr>
        <p:spPr>
          <a:xfrm>
            <a:off x="94268" y="357542"/>
            <a:ext cx="116326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Register the Service - Using </a:t>
            </a:r>
            <a:r>
              <a:rPr lang="en-US" altLang="en-US" sz="3200" dirty="0">
                <a:latin typeface="Calibri" panose="020F0502020204030204" pitchFamily="34" charset="0"/>
                <a:cs typeface="Calibri" panose="020F0502020204030204" pitchFamily="34" charset="0"/>
                <a:sym typeface="Calibri"/>
              </a:rPr>
              <a:t>/IWFND/MAINT_SERVICE</a:t>
            </a:r>
            <a:r>
              <a:rPr lang="en-US" sz="3200" dirty="0">
                <a:latin typeface="Calibri" panose="020F0502020204030204" pitchFamily="34" charset="0"/>
                <a:cs typeface="Calibri" panose="020F0502020204030204" pitchFamily="34" charset="0"/>
              </a:rPr>
              <a:t>  </a:t>
            </a:r>
          </a:p>
        </p:txBody>
      </p:sp>
      <p:sp>
        <p:nvSpPr>
          <p:cNvPr id="208" name="Straight Connector 18">
            <a:extLst>
              <a:ext uri="{FF2B5EF4-FFF2-40B4-BE49-F238E27FC236}">
                <a16:creationId xmlns:a16="http://schemas.microsoft.com/office/drawing/2014/main" id="{0B8CD457-51A6-36DD-F901-90C37BAF3F8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240861A-FF23-0298-716E-9E5448DCC027}"/>
              </a:ext>
            </a:extLst>
          </p:cNvPr>
          <p:cNvSpPr txBox="1"/>
          <p:nvPr/>
        </p:nvSpPr>
        <p:spPr>
          <a:xfrm>
            <a:off x="14244" y="1263042"/>
            <a:ext cx="11935565" cy="737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register the service using transaction code     </a:t>
            </a:r>
            <a:r>
              <a:rPr lang="en-US" altLang="en-US" sz="2400" dirty="0">
                <a:latin typeface="Calibri" panose="020F0502020204030204" pitchFamily="34" charset="0"/>
                <a:cs typeface="Calibri" panose="020F0502020204030204" pitchFamily="34" charset="0"/>
              </a:rPr>
              <a:t>/IWFND/MAINT_SERVICE are as follows:</a:t>
            </a:r>
            <a:r>
              <a:rPr lang="en-US" alt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a:t>
            </a:r>
            <a:r>
              <a:rPr lang="en-US" altLang="en-US" sz="2400" dirty="0">
                <a:latin typeface="Calibri" panose="020F0502020204030204" pitchFamily="34" charset="0"/>
                <a:cs typeface="Calibri" panose="020F0502020204030204" pitchFamily="34" charset="0"/>
              </a:rPr>
              <a:t>IWFND/MAINT_SERVICE.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latin typeface="Calibri" panose="020F0502020204030204" pitchFamily="34" charset="0"/>
                <a:cs typeface="Calibri" panose="020F0502020204030204" pitchFamily="34" charset="0"/>
              </a:rPr>
              <a:t>Click on to add service button.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latin typeface="Calibri" panose="020F0502020204030204" pitchFamily="34" charset="0"/>
                <a:cs typeface="Calibri" panose="020F0502020204030204" pitchFamily="34" charset="0"/>
              </a:rPr>
              <a:t>Pass the system alias, technical service name and press enter.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latin typeface="Calibri" panose="020F0502020204030204" pitchFamily="34" charset="0"/>
                <a:cs typeface="Calibri" panose="020F0502020204030204" pitchFamily="34" charset="0"/>
              </a:rPr>
              <a:t>Select the service and click on to add selected services button.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704394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62FD-2C18-E101-E368-BF1260B3431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FCFAD74-3E1C-E4A2-57A3-276F20F84E8B}"/>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a:extLst>
              <a:ext uri="{FF2B5EF4-FFF2-40B4-BE49-F238E27FC236}">
                <a16:creationId xmlns:a16="http://schemas.microsoft.com/office/drawing/2014/main" id="{E721BD25-3672-12B9-F89A-5139E85DE17C}"/>
              </a:ext>
            </a:extLst>
          </p:cNvPr>
          <p:cNvSpPr txBox="1"/>
          <p:nvPr/>
        </p:nvSpPr>
        <p:spPr>
          <a:xfrm>
            <a:off x="94268" y="357542"/>
            <a:ext cx="116326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Register the Service - Using </a:t>
            </a:r>
            <a:r>
              <a:rPr lang="en-US" altLang="en-US" sz="3200" dirty="0">
                <a:latin typeface="Calibri" panose="020F0502020204030204" pitchFamily="34" charset="0"/>
                <a:cs typeface="Calibri" panose="020F0502020204030204" pitchFamily="34" charset="0"/>
                <a:sym typeface="Calibri"/>
              </a:rPr>
              <a:t>/IWFND/MAINT_SERVICE(Contd.)</a:t>
            </a:r>
            <a:r>
              <a:rPr lang="en-US" sz="3200" dirty="0">
                <a:latin typeface="Calibri" panose="020F0502020204030204" pitchFamily="34" charset="0"/>
                <a:cs typeface="Calibri" panose="020F0502020204030204" pitchFamily="34" charset="0"/>
              </a:rPr>
              <a:t>  </a:t>
            </a:r>
          </a:p>
        </p:txBody>
      </p:sp>
      <p:sp>
        <p:nvSpPr>
          <p:cNvPr id="208" name="Straight Connector 18">
            <a:extLst>
              <a:ext uri="{FF2B5EF4-FFF2-40B4-BE49-F238E27FC236}">
                <a16:creationId xmlns:a16="http://schemas.microsoft.com/office/drawing/2014/main" id="{A4FFB628-F3EF-0024-D9DF-898D251ADAB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1AF0C7E-5675-2AB7-2390-CBFB349CD8C3}"/>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One pop-up appears and system provides the technical service name , technical model name automatically which were created during generating runtime artifacts step.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technical service name automatically becomes the external service name.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the package or save it as a local object.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to ok button.</a:t>
            </a:r>
            <a:endParaRPr lang="en-US" alt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261775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EA0D-F68F-4354-59B4-3BDC9C34AB0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7EE8C20-C278-AF97-9893-4BBFC7FE223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a:extLst>
              <a:ext uri="{FF2B5EF4-FFF2-40B4-BE49-F238E27FC236}">
                <a16:creationId xmlns:a16="http://schemas.microsoft.com/office/drawing/2014/main" id="{67387661-D3C1-E1DB-B43F-82ED91F1DEA7}"/>
              </a:ext>
            </a:extLst>
          </p:cNvPr>
          <p:cNvSpPr txBox="1"/>
          <p:nvPr/>
        </p:nvSpPr>
        <p:spPr>
          <a:xfrm>
            <a:off x="94268" y="357542"/>
            <a:ext cx="116326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Register the Service - Importance of System Alias</a:t>
            </a:r>
          </a:p>
        </p:txBody>
      </p:sp>
      <p:sp>
        <p:nvSpPr>
          <p:cNvPr id="208" name="Straight Connector 18">
            <a:extLst>
              <a:ext uri="{FF2B5EF4-FFF2-40B4-BE49-F238E27FC236}">
                <a16:creationId xmlns:a16="http://schemas.microsoft.com/office/drawing/2014/main" id="{78A39E57-3057-E214-3AFE-9EE2D119CA1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9A783BF-109F-7C20-41C6-22620326CEE9}"/>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System alias is a shortcut for the SAP backend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specifies which SAP backend system the ODATA service needs to call.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System alias plays an important role in multi-system landscape.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manage the SAP system aliases is - /UI2/GW_SYS_ALIAS or go to SM30 transaction code and maintain the view /IWFND/V_DFSYAL.</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Please take the help of system administrator to maintain the system alias.</a:t>
            </a:r>
          </a:p>
        </p:txBody>
      </p:sp>
    </p:spTree>
    <p:extLst>
      <p:ext uri="{BB962C8B-B14F-4D97-AF65-F5344CB8AC3E}">
        <p14:creationId xmlns:p14="http://schemas.microsoft.com/office/powerpoint/2010/main" val="421617302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A0ABF-F476-2731-ABB7-7E00DBD92F3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7B473D8-B21E-7024-F929-06316E87A55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a:extLst>
              <a:ext uri="{FF2B5EF4-FFF2-40B4-BE49-F238E27FC236}">
                <a16:creationId xmlns:a16="http://schemas.microsoft.com/office/drawing/2014/main" id="{914AA8FA-758E-771C-B76D-C47566F0D570}"/>
              </a:ext>
            </a:extLst>
          </p:cNvPr>
          <p:cNvSpPr txBox="1"/>
          <p:nvPr/>
        </p:nvSpPr>
        <p:spPr>
          <a:xfrm>
            <a:off x="94268" y="357542"/>
            <a:ext cx="116326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Test the Service - Using SAP Gateway Client</a:t>
            </a:r>
          </a:p>
        </p:txBody>
      </p:sp>
      <p:sp>
        <p:nvSpPr>
          <p:cNvPr id="208" name="Straight Connector 18">
            <a:extLst>
              <a:ext uri="{FF2B5EF4-FFF2-40B4-BE49-F238E27FC236}">
                <a16:creationId xmlns:a16="http://schemas.microsoft.com/office/drawing/2014/main" id="{0EE6979F-F8C8-6165-CD8F-85E205645E7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CE5E418-A90A-CD3D-F6A5-0217222288BD}"/>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Once all service creation steps has been done, at the last, we need to execute or test the service.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provided a tool called as ‘SAP Gateway Client’ which is used to test and debug ODATA services.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gateway client allows developers to simulate service behavior, test HTTP requests and responses, and troubleshoot issues in the back end before the service is used by front-end applications.</a:t>
            </a:r>
          </a:p>
        </p:txBody>
      </p:sp>
    </p:spTree>
    <p:extLst>
      <p:ext uri="{BB962C8B-B14F-4D97-AF65-F5344CB8AC3E}">
        <p14:creationId xmlns:p14="http://schemas.microsoft.com/office/powerpoint/2010/main" val="203732585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10180</TotalTime>
  <Words>1559</Words>
  <Application>Microsoft Office PowerPoint</Application>
  <PresentationFormat>Widescreen</PresentationFormat>
  <Paragraphs>154</Paragraphs>
  <Slides>27</Slides>
  <Notes>27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4" baseType="lpstr">
      <vt:lpstr>Arial</vt:lpstr>
      <vt:lpstr>Calibri</vt:lpstr>
      <vt:lpstr>Calibri Light</vt:lpstr>
      <vt:lpstr>Trebuchet MS</vt:lpstr>
      <vt:lpstr>Wingdings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2249</cp:revision>
  <dcterms:modified xsi:type="dcterms:W3CDTF">2025-11-11T17:32:07Z</dcterms:modified>
</cp:coreProperties>
</file>