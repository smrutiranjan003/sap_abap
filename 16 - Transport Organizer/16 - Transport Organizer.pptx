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9" r:id="rId2"/>
    <p:sldId id="837" r:id="rId3"/>
    <p:sldId id="908" r:id="rId4"/>
    <p:sldId id="920" r:id="rId5"/>
    <p:sldId id="909" r:id="rId6"/>
    <p:sldId id="932" r:id="rId7"/>
    <p:sldId id="922" r:id="rId8"/>
    <p:sldId id="923" r:id="rId9"/>
    <p:sldId id="924" r:id="rId10"/>
    <p:sldId id="925" r:id="rId11"/>
    <p:sldId id="926" r:id="rId12"/>
    <p:sldId id="927" r:id="rId13"/>
    <p:sldId id="929" r:id="rId14"/>
    <p:sldId id="930" r:id="rId15"/>
    <p:sldId id="931" r:id="rId16"/>
    <p:sldId id="935" r:id="rId17"/>
    <p:sldId id="934" r:id="rId18"/>
    <p:sldId id="933" r:id="rId19"/>
    <p:sldId id="936" r:id="rId20"/>
    <p:sldId id="919" r:id="rId2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37" autoAdjust="0"/>
    <p:restoredTop sz="83308" autoAdjust="0"/>
  </p:normalViewPr>
  <p:slideViewPr>
    <p:cSldViewPr snapToGrid="0">
      <p:cViewPr varScale="1">
        <p:scale>
          <a:sx n="82" d="100"/>
          <a:sy n="82" d="100"/>
        </p:scale>
        <p:origin x="55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 name="Shape 92"/>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93" name="Shape 93"/>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96631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31898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9625037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221104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336216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329912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514520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0556395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7504543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75782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752838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2539018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589124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4152125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8280348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299929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2555047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304192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750407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97586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1" name="Title Text"/>
          <p:cNvSpPr txBox="1">
            <a:spLocks noGrp="1"/>
          </p:cNvSpPr>
          <p:nvPr>
            <p:ph type="title"/>
          </p:nvPr>
        </p:nvSpPr>
        <p:spPr>
          <a:prstGeom prst="rect">
            <a:avLst/>
          </a:prstGeom>
        </p:spPr>
        <p:txBody>
          <a:bodyPr/>
          <a:lstStyle/>
          <a:p>
            <a:r>
              <a:t>Title Text</a:t>
            </a:r>
          </a:p>
        </p:txBody>
      </p:sp>
      <p:sp>
        <p:nvSpPr>
          <p:cNvPr id="22"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831852" y="1709738"/>
            <a:ext cx="10515601" cy="2852737"/>
          </a:xfrm>
          <a:prstGeom prst="rect">
            <a:avLst/>
          </a:prstGeom>
        </p:spPr>
        <p:txBody>
          <a:bodyPr anchor="b"/>
          <a:lstStyle>
            <a:lvl1pPr>
              <a:defRPr sz="6000"/>
            </a:lvl1pPr>
          </a:lstStyle>
          <a:p>
            <a:r>
              <a:t>Title Text</a:t>
            </a:r>
          </a:p>
        </p:txBody>
      </p:sp>
      <p:sp>
        <p:nvSpPr>
          <p:cNvPr id="31" name="Body Level One…"/>
          <p:cNvSpPr txBox="1">
            <a:spLocks noGrp="1"/>
          </p:cNvSpPr>
          <p:nvPr>
            <p:ph type="body" sz="quarter" idx="1"/>
          </p:nvPr>
        </p:nvSpPr>
        <p:spPr>
          <a:xfrm>
            <a:off x="831852" y="4589464"/>
            <a:ext cx="10515601" cy="1500188"/>
          </a:xfrm>
          <a:prstGeom prst="rect">
            <a:avLst/>
          </a:prstGeom>
        </p:spPr>
        <p:txBody>
          <a:bodyPr/>
          <a:lstStyle>
            <a:lvl1pPr marL="0" indent="0">
              <a:buSzTx/>
              <a:buFontTx/>
              <a:buNone/>
              <a:defRPr sz="2400">
                <a:solidFill>
                  <a:srgbClr val="888888"/>
                </a:solidFill>
              </a:defRPr>
            </a:lvl1pPr>
            <a:lvl2pPr marL="0" indent="457206">
              <a:buSzTx/>
              <a:buFontTx/>
              <a:buNone/>
              <a:defRPr sz="2400">
                <a:solidFill>
                  <a:srgbClr val="888888"/>
                </a:solidFill>
              </a:defRPr>
            </a:lvl2pPr>
            <a:lvl3pPr marL="0" indent="914411">
              <a:buSzTx/>
              <a:buFontTx/>
              <a:buNone/>
              <a:defRPr sz="2400">
                <a:solidFill>
                  <a:srgbClr val="888888"/>
                </a:solidFill>
              </a:defRPr>
            </a:lvl3pPr>
            <a:lvl4pPr marL="0" indent="1371616">
              <a:buSzTx/>
              <a:buFontTx/>
              <a:buNone/>
              <a:defRPr sz="2400">
                <a:solidFill>
                  <a:srgbClr val="888888"/>
                </a:solidFill>
              </a:defRPr>
            </a:lvl4pPr>
            <a:lvl5pPr marL="0" indent="1828823">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2"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39" name="Title Text"/>
          <p:cNvSpPr txBox="1">
            <a:spLocks noGrp="1"/>
          </p:cNvSpPr>
          <p:nvPr>
            <p:ph type="title"/>
          </p:nvPr>
        </p:nvSpPr>
        <p:spPr>
          <a:prstGeom prst="rect">
            <a:avLst/>
          </a:prstGeom>
        </p:spPr>
        <p:txBody>
          <a:bodyPr/>
          <a:lstStyle/>
          <a:p>
            <a:r>
              <a:t>Title Text</a:t>
            </a:r>
          </a:p>
        </p:txBody>
      </p:sp>
      <p:sp>
        <p:nvSpPr>
          <p:cNvPr id="40" name="Body Level One…"/>
          <p:cNvSpPr txBox="1">
            <a:spLocks noGrp="1"/>
          </p:cNvSpPr>
          <p:nvPr>
            <p:ph type="body" sz="half" idx="1"/>
          </p:nvPr>
        </p:nvSpPr>
        <p:spPr>
          <a:xfrm>
            <a:off x="838200" y="1825625"/>
            <a:ext cx="5181601"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48" name="Title Text"/>
          <p:cNvSpPr txBox="1">
            <a:spLocks noGrp="1"/>
          </p:cNvSpPr>
          <p:nvPr>
            <p:ph type="title"/>
          </p:nvPr>
        </p:nvSpPr>
        <p:spPr>
          <a:xfrm>
            <a:off x="839788" y="365125"/>
            <a:ext cx="10515601" cy="1325563"/>
          </a:xfrm>
          <a:prstGeom prst="rect">
            <a:avLst/>
          </a:prstGeom>
        </p:spPr>
        <p:txBody>
          <a:bodyPr/>
          <a:lstStyle/>
          <a:p>
            <a:r>
              <a:t>Title Text</a:t>
            </a:r>
          </a:p>
        </p:txBody>
      </p:sp>
      <p:sp>
        <p:nvSpPr>
          <p:cNvPr id="49" name="Body Level One…"/>
          <p:cNvSpPr txBox="1">
            <a:spLocks noGrp="1"/>
          </p:cNvSpPr>
          <p:nvPr>
            <p:ph type="body" sz="quarter" idx="1"/>
          </p:nvPr>
        </p:nvSpPr>
        <p:spPr>
          <a:xfrm>
            <a:off x="839788" y="1681163"/>
            <a:ext cx="5157789" cy="823913"/>
          </a:xfrm>
          <a:prstGeom prst="rect">
            <a:avLst/>
          </a:prstGeom>
        </p:spPr>
        <p:txBody>
          <a:bodyPr anchor="b"/>
          <a:lstStyle>
            <a:lvl1pPr marL="0" indent="0">
              <a:buSzTx/>
              <a:buFontTx/>
              <a:buNone/>
              <a:defRPr sz="2400" b="1"/>
            </a:lvl1pPr>
            <a:lvl2pPr marL="0" indent="457206">
              <a:buSzTx/>
              <a:buFontTx/>
              <a:buNone/>
              <a:defRPr sz="2400" b="1"/>
            </a:lvl2pPr>
            <a:lvl3pPr marL="0" indent="914411">
              <a:buSzTx/>
              <a:buFontTx/>
              <a:buNone/>
              <a:defRPr sz="2400" b="1"/>
            </a:lvl3pPr>
            <a:lvl4pPr marL="0" indent="1371616">
              <a:buSzTx/>
              <a:buFontTx/>
              <a:buNone/>
              <a:defRPr sz="2400" b="1"/>
            </a:lvl4pPr>
            <a:lvl5pPr marL="0" indent="1828823">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50" name="Text Placeholder 4"/>
          <p:cNvSpPr>
            <a:spLocks noGrp="1"/>
          </p:cNvSpPr>
          <p:nvPr>
            <p:ph type="body" sz="quarter" idx="21"/>
          </p:nvPr>
        </p:nvSpPr>
        <p:spPr>
          <a:xfrm>
            <a:off x="6172201" y="1681163"/>
            <a:ext cx="5183189" cy="823913"/>
          </a:xfrm>
          <a:prstGeom prst="rect">
            <a:avLst/>
          </a:prstGeom>
        </p:spPr>
        <p:txBody>
          <a:bodyPr anchor="b"/>
          <a:lstStyle/>
          <a:p>
            <a:pPr marL="0" indent="0">
              <a:buSzTx/>
              <a:buFontTx/>
              <a:buNone/>
              <a:defRPr sz="2400" b="1"/>
            </a:pPr>
            <a:endParaRP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58" name="Title Text"/>
          <p:cNvSpPr txBox="1">
            <a:spLocks noGrp="1"/>
          </p:cNvSpPr>
          <p:nvPr>
            <p:ph type="title"/>
          </p:nvPr>
        </p:nvSpPr>
        <p:spPr>
          <a:prstGeom prst="rect">
            <a:avLst/>
          </a:prstGeom>
        </p:spPr>
        <p:txBody>
          <a:bodyPr/>
          <a:lstStyle/>
          <a:p>
            <a:r>
              <a:t>Title Text</a:t>
            </a:r>
          </a:p>
        </p:txBody>
      </p:sp>
      <p:sp>
        <p:nvSpPr>
          <p:cNvPr id="59"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7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74" name="Body Level One…"/>
          <p:cNvSpPr txBox="1">
            <a:spLocks noGrp="1"/>
          </p:cNvSpPr>
          <p:nvPr>
            <p:ph type="body" sz="half" idx="1"/>
          </p:nvPr>
        </p:nvSpPr>
        <p:spPr>
          <a:xfrm>
            <a:off x="5183187" y="987425"/>
            <a:ext cx="6172203" cy="4873625"/>
          </a:xfrm>
          <a:prstGeom prst="rect">
            <a:avLst/>
          </a:prstGeom>
        </p:spPr>
        <p:txBody>
          <a:bodyPr/>
          <a:lstStyle>
            <a:lvl1pPr>
              <a:defRPr sz="3200"/>
            </a:lvl1pPr>
            <a:lvl2pPr marL="718466" indent="-261261">
              <a:defRPr sz="3200"/>
            </a:lvl2pPr>
            <a:lvl3pPr marL="1219216" indent="-304805">
              <a:defRPr sz="3200"/>
            </a:lvl3pPr>
            <a:lvl4pPr marL="1737383" indent="-365766">
              <a:defRPr sz="3200"/>
            </a:lvl4pPr>
            <a:lvl5pPr marL="2194589" indent="-365766">
              <a:defRPr sz="3200"/>
            </a:lvl5pPr>
          </a:lstStyle>
          <a:p>
            <a:r>
              <a:t>Body Level One</a:t>
            </a:r>
          </a:p>
          <a:p>
            <a:pPr lvl="1"/>
            <a:r>
              <a:t>Body Level Two</a:t>
            </a:r>
          </a:p>
          <a:p>
            <a:pPr lvl="2"/>
            <a:r>
              <a:t>Body Level Three</a:t>
            </a:r>
          </a:p>
          <a:p>
            <a:pPr lvl="3"/>
            <a:r>
              <a:t>Body Level Four</a:t>
            </a:r>
          </a:p>
          <a:p>
            <a:pPr lvl="4"/>
            <a:r>
              <a:t>Body Level Five</a:t>
            </a:r>
          </a:p>
        </p:txBody>
      </p:sp>
      <p:sp>
        <p:nvSpPr>
          <p:cNvPr id="75" name="Text Placeholder 3"/>
          <p:cNvSpPr>
            <a:spLocks noGrp="1"/>
          </p:cNvSpPr>
          <p:nvPr>
            <p:ph type="body" sz="quarter" idx="21"/>
          </p:nvPr>
        </p:nvSpPr>
        <p:spPr>
          <a:xfrm>
            <a:off x="839790" y="2057400"/>
            <a:ext cx="3932236" cy="3811588"/>
          </a:xfrm>
          <a:prstGeom prst="rect">
            <a:avLst/>
          </a:prstGeom>
        </p:spPr>
        <p:txBody>
          <a:bodyPr/>
          <a:lstStyle/>
          <a:p>
            <a:pPr marL="0" indent="0">
              <a:buSzTx/>
              <a:buFontTx/>
              <a:buNone/>
              <a:defRPr sz="1600"/>
            </a:pPr>
            <a:endParaRP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8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84" name="Picture Placeholder 2"/>
          <p:cNvSpPr>
            <a:spLocks noGrp="1"/>
          </p:cNvSpPr>
          <p:nvPr>
            <p:ph type="pic" sz="half" idx="21"/>
          </p:nvPr>
        </p:nvSpPr>
        <p:spPr>
          <a:xfrm>
            <a:off x="5183187" y="987425"/>
            <a:ext cx="6172203" cy="4873625"/>
          </a:xfrm>
          <a:prstGeom prst="rect">
            <a:avLst/>
          </a:prstGeom>
        </p:spPr>
        <p:txBody>
          <a:bodyPr lIns="91439" rIns="91439">
            <a:noAutofit/>
          </a:bodyPr>
          <a:lstStyle/>
          <a:p>
            <a:endParaRPr dirty="0"/>
          </a:p>
        </p:txBody>
      </p:sp>
      <p:sp>
        <p:nvSpPr>
          <p:cNvPr id="85" name="Body Level One…"/>
          <p:cNvSpPr txBox="1">
            <a:spLocks noGrp="1"/>
          </p:cNvSpPr>
          <p:nvPr>
            <p:ph type="body" sz="quarter" idx="1"/>
          </p:nvPr>
        </p:nvSpPr>
        <p:spPr>
          <a:xfrm>
            <a:off x="839790" y="2057400"/>
            <a:ext cx="3932236" cy="3811588"/>
          </a:xfrm>
          <a:prstGeom prst="rect">
            <a:avLst/>
          </a:prstGeom>
        </p:spPr>
        <p:txBody>
          <a:bodyPr/>
          <a:lstStyle>
            <a:lvl1pPr marL="0" indent="0">
              <a:buSzTx/>
              <a:buFontTx/>
              <a:buNone/>
              <a:defRPr sz="1600"/>
            </a:lvl1pPr>
            <a:lvl2pPr marL="0" indent="457206">
              <a:buSzTx/>
              <a:buFontTx/>
              <a:buNone/>
              <a:defRPr sz="1600"/>
            </a:lvl2pPr>
            <a:lvl3pPr marL="0" indent="914411">
              <a:buSzTx/>
              <a:buFontTx/>
              <a:buNone/>
              <a:defRPr sz="1600"/>
            </a:lvl3pPr>
            <a:lvl4pPr marL="0" indent="1371616">
              <a:buSzTx/>
              <a:buFontTx/>
              <a:buNone/>
              <a:defRPr sz="1600"/>
            </a:lvl4pPr>
            <a:lvl5pPr marL="0" indent="1828823">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2" y="365125"/>
            <a:ext cx="10515601"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2" y="1825625"/>
            <a:ext cx="10515601" cy="43513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traight Connector 6"/>
          <p:cNvSpPr/>
          <p:nvPr/>
        </p:nvSpPr>
        <p:spPr>
          <a:xfrm flipH="1" flipV="1">
            <a:off x="11366378" y="6459014"/>
            <a:ext cx="3" cy="159415"/>
          </a:xfrm>
          <a:prstGeom prst="line">
            <a:avLst/>
          </a:prstGeom>
          <a:ln w="19050" cap="rnd">
            <a:solidFill>
              <a:srgbClr val="8ED656"/>
            </a:solidFill>
            <a:miter/>
          </a:ln>
        </p:spPr>
        <p:txBody>
          <a:bodyPr lIns="45719" rIns="45719"/>
          <a:lstStyle/>
          <a:p>
            <a:endParaRPr dirty="0"/>
          </a:p>
        </p:txBody>
      </p:sp>
      <p:sp>
        <p:nvSpPr>
          <p:cNvPr id="5" name="Slide Number"/>
          <p:cNvSpPr txBox="1">
            <a:spLocks noGrp="1"/>
          </p:cNvSpPr>
          <p:nvPr>
            <p:ph type="sldNum" sz="quarter" idx="2"/>
          </p:nvPr>
        </p:nvSpPr>
        <p:spPr>
          <a:xfrm>
            <a:off x="11095177" y="6414761"/>
            <a:ext cx="258624" cy="248306"/>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dirty="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6" r:id="rId6"/>
    <p:sldLayoutId id="2147483657" r:id="rId7"/>
  </p:sldLayoutIdLst>
  <p:transition spd="med"/>
  <p:txStyles>
    <p:titleStyle>
      <a:lvl1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3" marR="0" indent="-228603"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1pPr>
      <a:lvl2pPr marL="723909" marR="0" indent="-266704"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2pPr>
      <a:lvl3pPr marL="1234456" marR="0" indent="-320045"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3pPr>
      <a:lvl4pPr marL="1727223"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4pPr>
      <a:lvl5pPr marL="2184429"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5pPr>
      <a:lvl6pPr marL="2641634"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840"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6046"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251"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a:t>
            </a:fld>
            <a:endParaRPr dirty="0"/>
          </a:p>
        </p:txBody>
      </p:sp>
      <p:sp>
        <p:nvSpPr>
          <p:cNvPr id="207" name="TextBox 17"/>
          <p:cNvSpPr txBox="1"/>
          <p:nvPr/>
        </p:nvSpPr>
        <p:spPr>
          <a:xfrm>
            <a:off x="2020186" y="2460208"/>
            <a:ext cx="6847367"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t>
            </a:r>
            <a:r>
              <a:rPr lang="en-IN" sz="4000" dirty="0">
                <a:latin typeface="Calibri" panose="020F0502020204030204" pitchFamily="34" charset="0"/>
                <a:cs typeface="Calibri" panose="020F0502020204030204" pitchFamily="34" charset="0"/>
              </a:rPr>
              <a:t>Transport Organizer</a:t>
            </a:r>
            <a:endParaRPr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Transport Organizer</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It is a tool for creating, documenting and releasing transports requests.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transaction code for transport organizer is SE09/SE10.</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Transport request is a mechanism to send the objects from one system to other system.</a:t>
            </a:r>
          </a:p>
        </p:txBody>
      </p:sp>
    </p:spTree>
    <p:extLst>
      <p:ext uri="{BB962C8B-B14F-4D97-AF65-F5344CB8AC3E}">
        <p14:creationId xmlns:p14="http://schemas.microsoft.com/office/powerpoint/2010/main" val="2424410632"/>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SAP System Landscape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3 types of systems in SAP system landscape.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Development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Quality</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Production</a:t>
            </a:r>
          </a:p>
        </p:txBody>
      </p:sp>
      <p:pic>
        <p:nvPicPr>
          <p:cNvPr id="2" name="Picture 1">
            <a:extLst>
              <a:ext uri="{FF2B5EF4-FFF2-40B4-BE49-F238E27FC236}">
                <a16:creationId xmlns:a16="http://schemas.microsoft.com/office/drawing/2014/main" id="{8FA667CC-C5DF-D742-7000-49FC8C33DCA1}"/>
              </a:ext>
            </a:extLst>
          </p:cNvPr>
          <p:cNvPicPr>
            <a:picLocks noChangeAspect="1"/>
          </p:cNvPicPr>
          <p:nvPr/>
        </p:nvPicPr>
        <p:blipFill>
          <a:blip r:embed="rId3"/>
          <a:stretch>
            <a:fillRect/>
          </a:stretch>
        </p:blipFill>
        <p:spPr>
          <a:xfrm>
            <a:off x="6647660" y="2562611"/>
            <a:ext cx="5302149" cy="2857500"/>
          </a:xfrm>
          <a:prstGeom prst="rect">
            <a:avLst/>
          </a:prstGeom>
          <a:ln>
            <a:solidFill>
              <a:schemeClr val="accent1"/>
            </a:solidFill>
          </a:ln>
        </p:spPr>
      </p:pic>
      <p:sp>
        <p:nvSpPr>
          <p:cNvPr id="3" name="TextBox 2">
            <a:extLst>
              <a:ext uri="{FF2B5EF4-FFF2-40B4-BE49-F238E27FC236}">
                <a16:creationId xmlns:a16="http://schemas.microsoft.com/office/drawing/2014/main" id="{4E32DC0F-EFF2-6509-258E-8F9DCDBD783E}"/>
              </a:ext>
            </a:extLst>
          </p:cNvPr>
          <p:cNvSpPr txBox="1"/>
          <p:nvPr/>
        </p:nvSpPr>
        <p:spPr>
          <a:xfrm flipH="1">
            <a:off x="7527850" y="2091367"/>
            <a:ext cx="3147237"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Calibri" panose="020F0502020204030204" pitchFamily="34" charset="0"/>
                <a:cs typeface="Calibri" panose="020F0502020204030204" pitchFamily="34" charset="0"/>
                <a:sym typeface="Calibri"/>
              </a:rPr>
              <a:t>    </a:t>
            </a:r>
            <a:r>
              <a:rPr lang="en-US" dirty="0">
                <a:latin typeface="Calibri" panose="020F0502020204030204" pitchFamily="34" charset="0"/>
                <a:cs typeface="Calibri" panose="020F0502020204030204" pitchFamily="34" charset="0"/>
              </a:rPr>
              <a:t>SAP System Landscape</a:t>
            </a:r>
            <a:endParaRPr kumimoji="0" lang="en-IN" sz="1800" b="0" i="0" u="none" strike="noStrike" cap="none" spc="0" normalizeH="0" baseline="0" dirty="0">
              <a:ln>
                <a:noFill/>
              </a:ln>
              <a:solidFill>
                <a:srgbClr val="000000"/>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3150095477"/>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Development System</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abbreviation DEV/CUST is used for the development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is used for all developments and configurations.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developments and configurations move from development system to quality system through a mechanism called as transport request.</a:t>
            </a:r>
          </a:p>
        </p:txBody>
      </p:sp>
    </p:spTree>
    <p:extLst>
      <p:ext uri="{BB962C8B-B14F-4D97-AF65-F5344CB8AC3E}">
        <p14:creationId xmlns:p14="http://schemas.microsoft.com/office/powerpoint/2010/main" val="307859700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a:t>
            </a:fld>
            <a:endParaRPr dirty="0"/>
          </a:p>
        </p:txBody>
      </p:sp>
      <p:sp>
        <p:nvSpPr>
          <p:cNvPr id="207" name="TextBox 17"/>
          <p:cNvSpPr txBox="1"/>
          <p:nvPr/>
        </p:nvSpPr>
        <p:spPr>
          <a:xfrm>
            <a:off x="467104" y="336277"/>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Quality System</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abbreviation QAS/QTST is used for quality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testing of all the developments and customizations needs be done in the quality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developments and configurations move from quality system to production system through transport request. </a:t>
            </a:r>
          </a:p>
        </p:txBody>
      </p:sp>
    </p:spTree>
    <p:extLst>
      <p:ext uri="{BB962C8B-B14F-4D97-AF65-F5344CB8AC3E}">
        <p14:creationId xmlns:p14="http://schemas.microsoft.com/office/powerpoint/2010/main" val="145832834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a:t>
            </a:fld>
            <a:endParaRPr dirty="0"/>
          </a:p>
        </p:txBody>
      </p:sp>
      <p:sp>
        <p:nvSpPr>
          <p:cNvPr id="207" name="TextBox 17"/>
          <p:cNvSpPr txBox="1"/>
          <p:nvPr/>
        </p:nvSpPr>
        <p:spPr>
          <a:xfrm>
            <a:off x="467104" y="336277"/>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Production System</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abbreviation PRD/PROD is used for production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is also called as live system or customer based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Customer runs his business through production system.</a:t>
            </a:r>
          </a:p>
        </p:txBody>
      </p:sp>
    </p:spTree>
    <p:extLst>
      <p:ext uri="{BB962C8B-B14F-4D97-AF65-F5344CB8AC3E}">
        <p14:creationId xmlns:p14="http://schemas.microsoft.com/office/powerpoint/2010/main" val="180425532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a:t>
            </a:fld>
            <a:endParaRPr dirty="0"/>
          </a:p>
        </p:txBody>
      </p:sp>
      <p:sp>
        <p:nvSpPr>
          <p:cNvPr id="207" name="TextBox 17"/>
          <p:cNvSpPr txBox="1"/>
          <p:nvPr/>
        </p:nvSpPr>
        <p:spPr>
          <a:xfrm>
            <a:off x="467104" y="336277"/>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Types of Transport Request</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4 types of transport request.</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Workbench request</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Customizing request</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Transport of copies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Relocation</a:t>
            </a:r>
          </a:p>
        </p:txBody>
      </p:sp>
    </p:spTree>
    <p:extLst>
      <p:ext uri="{BB962C8B-B14F-4D97-AF65-F5344CB8AC3E}">
        <p14:creationId xmlns:p14="http://schemas.microsoft.com/office/powerpoint/2010/main" val="66320406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8</a:t>
            </a:fld>
            <a:endParaRPr dirty="0"/>
          </a:p>
        </p:txBody>
      </p:sp>
      <p:sp>
        <p:nvSpPr>
          <p:cNvPr id="207" name="TextBox 17"/>
          <p:cNvSpPr txBox="1"/>
          <p:nvPr/>
        </p:nvSpPr>
        <p:spPr>
          <a:xfrm>
            <a:off x="467104" y="336277"/>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Types of Transport Request</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Workbench Request : A workbench request is for carrying out development work in the ABAP workbench. This is primarily code or custom objects. </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Customizing Request: The customizing request is for configuration changes in SPRO and customizing table contents.</a:t>
            </a:r>
          </a:p>
        </p:txBody>
      </p:sp>
    </p:spTree>
    <p:extLst>
      <p:ext uri="{BB962C8B-B14F-4D97-AF65-F5344CB8AC3E}">
        <p14:creationId xmlns:p14="http://schemas.microsoft.com/office/powerpoint/2010/main" val="116699804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9</a:t>
            </a:fld>
            <a:endParaRPr dirty="0"/>
          </a:p>
        </p:txBody>
      </p:sp>
      <p:sp>
        <p:nvSpPr>
          <p:cNvPr id="207" name="TextBox 17"/>
          <p:cNvSpPr txBox="1"/>
          <p:nvPr/>
        </p:nvSpPr>
        <p:spPr>
          <a:xfrm>
            <a:off x="467104" y="336277"/>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Types of Transport Request(Contd.)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mj-lt"/>
              <a:buAutoNum type="arabicPeriod" startAt="3"/>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Transport of Copies(TOC) : It is used to transfer the changes to the other system without releasing the main transport request. After successful testing, we can release our main transport request. So, at the end we will have a single transport request for all our changes.</a:t>
            </a:r>
          </a:p>
          <a:p>
            <a:pPr marL="914400" lvl="1" indent="-457200">
              <a:lnSpc>
                <a:spcPct val="200000"/>
              </a:lnSpc>
              <a:buClr>
                <a:srgbClr val="73C96C"/>
              </a:buClr>
              <a:buSzPct val="100000"/>
              <a:buFont typeface="+mj-lt"/>
              <a:buAutoNum type="arabicPeriod" startAt="3"/>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Relocation: We can use this request type when we want to change the development system of individual objects on a permanent basis.</a:t>
            </a:r>
          </a:p>
        </p:txBody>
      </p:sp>
    </p:spTree>
    <p:extLst>
      <p:ext uri="{BB962C8B-B14F-4D97-AF65-F5344CB8AC3E}">
        <p14:creationId xmlns:p14="http://schemas.microsoft.com/office/powerpoint/2010/main" val="301259819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10</a:t>
            </a:fld>
            <a:endParaRPr dirty="0"/>
          </a:p>
        </p:txBody>
      </p:sp>
      <p:sp>
        <p:nvSpPr>
          <p:cNvPr id="207" name="TextBox 17"/>
          <p:cNvSpPr txBox="1"/>
          <p:nvPr/>
        </p:nvSpPr>
        <p:spPr>
          <a:xfrm>
            <a:off x="467104" y="336277"/>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Status of Transport Request</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2 status of transport request.</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Modifiable</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Released</a:t>
            </a:r>
          </a:p>
        </p:txBody>
      </p:sp>
    </p:spTree>
    <p:extLst>
      <p:ext uri="{BB962C8B-B14F-4D97-AF65-F5344CB8AC3E}">
        <p14:creationId xmlns:p14="http://schemas.microsoft.com/office/powerpoint/2010/main" val="227963355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11</a:t>
            </a:fld>
            <a:endParaRPr dirty="0"/>
          </a:p>
        </p:txBody>
      </p:sp>
      <p:sp>
        <p:nvSpPr>
          <p:cNvPr id="207" name="TextBox 17"/>
          <p:cNvSpPr txBox="1"/>
          <p:nvPr/>
        </p:nvSpPr>
        <p:spPr>
          <a:xfrm>
            <a:off x="467104" y="336277"/>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Status of Transport Request</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Modifiable - Changes still can be added or removed from the transport request. If the status is modifiable, it can not be import to another system. </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Released - No more changes can be done to the transport request. The request is ready to be import to another system.</a:t>
            </a:r>
          </a:p>
        </p:txBody>
      </p:sp>
    </p:spTree>
    <p:extLst>
      <p:ext uri="{BB962C8B-B14F-4D97-AF65-F5344CB8AC3E}">
        <p14:creationId xmlns:p14="http://schemas.microsoft.com/office/powerpoint/2010/main" val="216374690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12</a:t>
            </a:fld>
            <a:endParaRPr dirty="0"/>
          </a:p>
        </p:txBody>
      </p:sp>
      <p:sp>
        <p:nvSpPr>
          <p:cNvPr id="207" name="TextBox 17"/>
          <p:cNvSpPr txBox="1"/>
          <p:nvPr/>
        </p:nvSpPr>
        <p:spPr>
          <a:xfrm>
            <a:off x="14244" y="336277"/>
            <a:ext cx="1130425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Operations on TR through Transport Organizer</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operations on transport request through transport organizer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Creation of transport request.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Changing the description of a transport request.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Adding users to a transport request.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Simulate Release a transport request.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Release a transport request.</a:t>
            </a:r>
          </a:p>
        </p:txBody>
      </p:sp>
    </p:spTree>
    <p:extLst>
      <p:ext uri="{BB962C8B-B14F-4D97-AF65-F5344CB8AC3E}">
        <p14:creationId xmlns:p14="http://schemas.microsoft.com/office/powerpoint/2010/main" val="1812763603"/>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13</a:t>
            </a:fld>
            <a:endParaRPr dirty="0"/>
          </a:p>
        </p:txBody>
      </p:sp>
      <p:sp>
        <p:nvSpPr>
          <p:cNvPr id="207" name="TextBox 17"/>
          <p:cNvSpPr txBox="1"/>
          <p:nvPr/>
        </p:nvSpPr>
        <p:spPr>
          <a:xfrm>
            <a:off x="14244" y="336277"/>
            <a:ext cx="12163512" cy="9787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Operations on TR through Transport Organizer(Contd.)</a:t>
            </a:r>
          </a:p>
          <a:p>
            <a:endParaRPr lang="en-US" sz="3200" dirty="0">
              <a:latin typeface="Calibri" panose="020F0502020204030204" pitchFamily="34" charset="0"/>
              <a:cs typeface="Calibri" panose="020F0502020204030204" pitchFamily="34" charset="0"/>
            </a:endParaRP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Transport logs of transport request.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IN" altLang="en-US" sz="2400" dirty="0">
                <a:solidFill>
                  <a:srgbClr val="3B3838"/>
                </a:solidFill>
                <a:latin typeface="Calibri" panose="020F0502020204030204" pitchFamily="34" charset="0"/>
                <a:cs typeface="Calibri" panose="020F0502020204030204" pitchFamily="34" charset="0"/>
              </a:rPr>
              <a:t>Display a transport request</a:t>
            </a:r>
            <a:endParaRPr lang="en-US" alt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Adding objects to  a transport request.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Deleting the objects from a transport request.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Deleting a transport request.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Moving objects from one transport request to another </a:t>
            </a:r>
            <a:r>
              <a:rPr lang="en-US" altLang="en-US" sz="2400">
                <a:solidFill>
                  <a:srgbClr val="3B3838"/>
                </a:solidFill>
                <a:latin typeface="Calibri" panose="020F0502020204030204" pitchFamily="34" charset="0"/>
                <a:cs typeface="Calibri" panose="020F0502020204030204" pitchFamily="34" charset="0"/>
              </a:rPr>
              <a:t>transport request.</a:t>
            </a: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20295690"/>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14</a:t>
            </a:fld>
            <a:endParaRPr dirty="0"/>
          </a:p>
        </p:txBody>
      </p:sp>
      <p:sp>
        <p:nvSpPr>
          <p:cNvPr id="207" name="TextBox 17"/>
          <p:cNvSpPr txBox="1"/>
          <p:nvPr/>
        </p:nvSpPr>
        <p:spPr>
          <a:xfrm>
            <a:off x="256434" y="336277"/>
            <a:ext cx="11935566"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Moving a Local Object into Customized Package and TR</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steps to move a local object into own customized package and transport request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Go to the particular object and choose object directory entry.</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(Goto-Object directory entry)</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Change the package name from $TMP to customized package.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Pass the respective transport request.</a:t>
            </a:r>
          </a:p>
        </p:txBody>
      </p:sp>
    </p:spTree>
    <p:extLst>
      <p:ext uri="{BB962C8B-B14F-4D97-AF65-F5344CB8AC3E}">
        <p14:creationId xmlns:p14="http://schemas.microsoft.com/office/powerpoint/2010/main" val="79869625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15</a:t>
            </a:fld>
            <a:endParaRPr dirty="0"/>
          </a:p>
        </p:txBody>
      </p:sp>
      <p:sp>
        <p:nvSpPr>
          <p:cNvPr id="207" name="TextBox 17"/>
          <p:cNvSpPr txBox="1"/>
          <p:nvPr/>
        </p:nvSpPr>
        <p:spPr>
          <a:xfrm>
            <a:off x="369418" y="336277"/>
            <a:ext cx="11822581"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Changing the Status of a TR from Released to Modifiable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steps to change the status of a TR(transport request) from released to modifiable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Execute the program - RDDIT076.</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Pass the released request number.</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Select the request/tasks and change the status from R(Released) to D(Modifiable).</a:t>
            </a:r>
          </a:p>
        </p:txBody>
      </p:sp>
    </p:spTree>
    <p:extLst>
      <p:ext uri="{BB962C8B-B14F-4D97-AF65-F5344CB8AC3E}">
        <p14:creationId xmlns:p14="http://schemas.microsoft.com/office/powerpoint/2010/main" val="168732220"/>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16</a:t>
            </a:fld>
            <a:endParaRPr dirty="0"/>
          </a:p>
        </p:txBody>
      </p:sp>
      <p:sp>
        <p:nvSpPr>
          <p:cNvPr id="207" name="TextBox 17"/>
          <p:cNvSpPr txBox="1"/>
          <p:nvPr/>
        </p:nvSpPr>
        <p:spPr>
          <a:xfrm>
            <a:off x="369418" y="336277"/>
            <a:ext cx="11822581"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Transport Layer</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Transport layer is used to establish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the path to move the objects.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SAP is a standard transport layer used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to move SAP standard objects.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Z&lt;SID&gt; is custom transport layer to move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the customized objects, where SID = system id.</a:t>
            </a:r>
          </a:p>
        </p:txBody>
      </p:sp>
      <p:pic>
        <p:nvPicPr>
          <p:cNvPr id="5" name="Picture 4">
            <a:extLst>
              <a:ext uri="{FF2B5EF4-FFF2-40B4-BE49-F238E27FC236}">
                <a16:creationId xmlns:a16="http://schemas.microsoft.com/office/drawing/2014/main" id="{277160E4-E79D-38AC-7651-A350A36FB7F9}"/>
              </a:ext>
            </a:extLst>
          </p:cNvPr>
          <p:cNvPicPr>
            <a:picLocks noChangeAspect="1"/>
          </p:cNvPicPr>
          <p:nvPr/>
        </p:nvPicPr>
        <p:blipFill>
          <a:blip r:embed="rId3"/>
          <a:stretch>
            <a:fillRect/>
          </a:stretch>
        </p:blipFill>
        <p:spPr>
          <a:xfrm>
            <a:off x="6814568" y="2406686"/>
            <a:ext cx="4714875" cy="1580523"/>
          </a:xfrm>
          <a:prstGeom prst="rect">
            <a:avLst/>
          </a:prstGeom>
          <a:ln>
            <a:solidFill>
              <a:schemeClr val="accent1"/>
            </a:solidFill>
          </a:ln>
        </p:spPr>
      </p:pic>
      <p:sp>
        <p:nvSpPr>
          <p:cNvPr id="6" name="TextBox 5">
            <a:extLst>
              <a:ext uri="{FF2B5EF4-FFF2-40B4-BE49-F238E27FC236}">
                <a16:creationId xmlns:a16="http://schemas.microsoft.com/office/drawing/2014/main" id="{BD2E94CC-2909-0E5E-5F8E-0603BF97A749}"/>
              </a:ext>
            </a:extLst>
          </p:cNvPr>
          <p:cNvSpPr txBox="1"/>
          <p:nvPr/>
        </p:nvSpPr>
        <p:spPr>
          <a:xfrm flipH="1">
            <a:off x="6814567" y="1722909"/>
            <a:ext cx="4714875"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Calibri" panose="020F0502020204030204" pitchFamily="34" charset="0"/>
                <a:cs typeface="Calibri" panose="020F0502020204030204" pitchFamily="34" charset="0"/>
                <a:sym typeface="Calibri"/>
              </a:rPr>
              <a:t>    Transport Layer in STMS( Z&lt;SID&gt; and SAP)</a:t>
            </a:r>
            <a:endParaRPr kumimoji="0" lang="en-IN" sz="1800" b="0" i="0" u="none" strike="noStrike" cap="none" spc="0" normalizeH="0" baseline="0" dirty="0">
              <a:ln>
                <a:noFill/>
              </a:ln>
              <a:solidFill>
                <a:srgbClr val="000000"/>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3235452774"/>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17</a:t>
            </a:fld>
            <a:endParaRPr dirty="0"/>
          </a:p>
        </p:txBody>
      </p:sp>
      <p:sp>
        <p:nvSpPr>
          <p:cNvPr id="207" name="TextBox 17"/>
          <p:cNvSpPr txBox="1"/>
          <p:nvPr/>
        </p:nvSpPr>
        <p:spPr>
          <a:xfrm>
            <a:off x="369418" y="336277"/>
            <a:ext cx="11822581"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Transport Layer(Contd.)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 transport layer is assigned to each development class/package and thus to all the objects in that class.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transaction code to define the transport layer and transport route is STMS(SAP Transport Management System).</a:t>
            </a:r>
          </a:p>
        </p:txBody>
      </p:sp>
    </p:spTree>
    <p:extLst>
      <p:ext uri="{BB962C8B-B14F-4D97-AF65-F5344CB8AC3E}">
        <p14:creationId xmlns:p14="http://schemas.microsoft.com/office/powerpoint/2010/main" val="3781345004"/>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18</a:t>
            </a:fld>
            <a:endParaRPr dirty="0"/>
          </a:p>
        </p:txBody>
      </p:sp>
      <p:sp>
        <p:nvSpPr>
          <p:cNvPr id="207" name="TextBox 17"/>
          <p:cNvSpPr txBox="1"/>
          <p:nvPr/>
        </p:nvSpPr>
        <p:spPr>
          <a:xfrm>
            <a:off x="369418" y="336277"/>
            <a:ext cx="11822581"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Transport Strategies(Procedures)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transaction code STMS_IMPORT is used to import the transport requests.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2 procedures/strategies to use import queue to import the transports.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Mass Transport - To import all the requests. </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Single Transport - To import a single request.</a:t>
            </a:r>
          </a:p>
        </p:txBody>
      </p:sp>
    </p:spTree>
    <p:extLst>
      <p:ext uri="{BB962C8B-B14F-4D97-AF65-F5344CB8AC3E}">
        <p14:creationId xmlns:p14="http://schemas.microsoft.com/office/powerpoint/2010/main" val="48975909"/>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19</a:t>
            </a:fld>
            <a:endParaRPr dirty="0"/>
          </a:p>
        </p:txBody>
      </p:sp>
      <p:sp>
        <p:nvSpPr>
          <p:cNvPr id="207" name="TextBox 17"/>
          <p:cNvSpPr txBox="1"/>
          <p:nvPr/>
        </p:nvSpPr>
        <p:spPr>
          <a:xfrm>
            <a:off x="369418" y="336277"/>
            <a:ext cx="11822581"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Important Transaction Codes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SE09/SE10 - Transport Organizer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SE03 - Transport Organizer Tools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STMS - To define the transport layer and transport route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STMS_IMPORT - To import the transports</a:t>
            </a:r>
          </a:p>
        </p:txBody>
      </p:sp>
    </p:spTree>
    <p:extLst>
      <p:ext uri="{BB962C8B-B14F-4D97-AF65-F5344CB8AC3E}">
        <p14:creationId xmlns:p14="http://schemas.microsoft.com/office/powerpoint/2010/main" val="3542449156"/>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20</a:t>
            </a:fld>
            <a:endParaRPr dirty="0"/>
          </a:p>
        </p:txBody>
      </p:sp>
      <p:sp>
        <p:nvSpPr>
          <p:cNvPr id="207" name="TextBox 17"/>
          <p:cNvSpPr txBox="1"/>
          <p:nvPr/>
        </p:nvSpPr>
        <p:spPr>
          <a:xfrm>
            <a:off x="2020186" y="2460208"/>
            <a:ext cx="6847367"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t>
            </a:r>
            <a:r>
              <a:rPr lang="en-IN" sz="4000" dirty="0">
                <a:latin typeface="Calibri" panose="020F0502020204030204" pitchFamily="34" charset="0"/>
                <a:cs typeface="Calibri" panose="020F0502020204030204" pitchFamily="34" charset="0"/>
              </a:rPr>
              <a:t>Thank You</a:t>
            </a:r>
            <a:endParaRPr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extLst>
      <p:ext uri="{BB962C8B-B14F-4D97-AF65-F5344CB8AC3E}">
        <p14:creationId xmlns:p14="http://schemas.microsoft.com/office/powerpoint/2010/main" val="883752571"/>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3682</TotalTime>
  <Words>848</Words>
  <Application>Microsoft Office PowerPoint</Application>
  <PresentationFormat>Widescreen</PresentationFormat>
  <Paragraphs>109</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 Mehta</dc:creator>
  <cp:lastModifiedBy>Rahul Mehta</cp:lastModifiedBy>
  <cp:revision>1832</cp:revision>
  <dcterms:modified xsi:type="dcterms:W3CDTF">2024-07-16T13:11:46Z</dcterms:modified>
</cp:coreProperties>
</file>